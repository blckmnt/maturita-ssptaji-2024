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fntdata" ContentType="application/x-fontdata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64" r:id="rId2"/>
    <p:sldId id="289" r:id="rId3"/>
    <p:sldId id="290" r:id="rId4"/>
    <p:sldId id="258" r:id="rId5"/>
    <p:sldId id="291" r:id="rId6"/>
    <p:sldId id="273" r:id="rId7"/>
    <p:sldId id="288" r:id="rId8"/>
    <p:sldId id="260" r:id="rId9"/>
    <p:sldId id="266" r:id="rId10"/>
    <p:sldId id="267" r:id="rId11"/>
    <p:sldId id="268" r:id="rId12"/>
    <p:sldId id="275" r:id="rId13"/>
    <p:sldId id="270" r:id="rId14"/>
    <p:sldId id="271" r:id="rId15"/>
    <p:sldId id="272" r:id="rId16"/>
    <p:sldId id="276" r:id="rId17"/>
    <p:sldId id="277" r:id="rId18"/>
    <p:sldId id="286" r:id="rId19"/>
    <p:sldId id="285" r:id="rId20"/>
    <p:sldId id="284" r:id="rId21"/>
    <p:sldId id="263" r:id="rId22"/>
    <p:sldId id="265" r:id="rId23"/>
    <p:sldId id="283" r:id="rId24"/>
    <p:sldId id="279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10" r:id="rId33"/>
    <p:sldId id="311" r:id="rId34"/>
    <p:sldId id="312" r:id="rId35"/>
  </p:sldIdLst>
  <p:sldSz cx="9144000" cy="6858000" type="screen4x3"/>
  <p:notesSz cx="6746875" cy="9913938"/>
  <p:embeddedFontLst>
    <p:embeddedFont>
      <p:font typeface="AmerType Md BT" panose="02090504030505020304" pitchFamily="18" charset="0"/>
      <p:regular r:id="rId38"/>
      <p:bold r:id="rId39"/>
    </p:embeddedFont>
    <p:embeddedFont>
      <p:font typeface="Bookman Old Style" panose="02050604050505020204" pitchFamily="18" charset="0"/>
      <p:regular r:id="rId40"/>
      <p:bold r:id="rId41"/>
      <p:italic r:id="rId42"/>
      <p:boldItalic r:id="rId43"/>
    </p:embeddedFont>
    <p:embeddedFont>
      <p:font typeface="Comic Sans MS" panose="030F0702030302020204" pitchFamily="66" charset="0"/>
      <p:regular r:id="rId44"/>
      <p:bold r:id="rId45"/>
      <p:italic r:id="rId46"/>
      <p:boldItalic r:id="rId47"/>
    </p:embeddedFont>
    <p:embeddedFont>
      <p:font typeface="CommercialScript BT" panose="03030803040807090C04" pitchFamily="66" charset="0"/>
      <p:regular r:id="rId48"/>
    </p:embeddedFont>
    <p:embeddedFont>
      <p:font typeface="Courier New CE" panose="02070309020205020404" pitchFamily="49" charset="0"/>
      <p:regular r:id="rId49"/>
      <p:bold r:id="rId50"/>
      <p:italic r:id="rId51"/>
      <p:boldItalic r:id="rId52"/>
    </p:embeddedFont>
    <p:embeddedFont>
      <p:font typeface="TechnicBold" panose="05000000000000000000" pitchFamily="2" charset="2"/>
      <p:regular r:id="rId53"/>
    </p:embeddedFont>
    <p:embeddedFont>
      <p:font typeface="TechnicLite" panose="05000000000000000000" pitchFamily="2" charset="2"/>
      <p:regular r:id="rId54"/>
    </p:embeddedFont>
    <p:embeddedFont>
      <p:font typeface="Times New Roman CE" panose="02020603050405020304" pitchFamily="18" charset="0"/>
      <p:regular r:id="rId55"/>
      <p:bold r:id="rId56"/>
      <p:italic r:id="rId57"/>
      <p:boldItalic r:id="rId58"/>
    </p:embeddedFont>
    <p:embeddedFont>
      <p:font typeface="Verdana" panose="020B0604030504040204" pitchFamily="34" charset="0"/>
      <p:regular r:id="rId59"/>
      <p:bold r:id="rId60"/>
      <p:italic r:id="rId61"/>
      <p:boldItalic r:id="rId62"/>
    </p:embeddedFont>
    <p:embeddedFont>
      <p:font typeface="Zurich Ex BT" panose="020B0505020202020204" pitchFamily="34" charset="0"/>
      <p:regular r:id="rId63"/>
    </p:embeddedFont>
  </p:embeddedFontLst>
  <p:custShowLst>
    <p:custShow name="první přednáška" id="0">
      <p:sldLst>
        <p:sld r:id="rId2"/>
        <p:sld r:id="rId5"/>
        <p:sld r:id="rId7"/>
        <p:sld r:id="rId8"/>
        <p:sld r:id="rId9"/>
        <p:sld r:id="rId10"/>
        <p:sld r:id="rId11"/>
        <p:sld r:id="rId12"/>
        <p:sld r:id="rId13"/>
        <p:sld r:id="rId14"/>
        <p:sld r:id="rId15"/>
        <p:sld r:id="rId16"/>
        <p:sld r:id="rId17"/>
        <p:sld r:id="rId18"/>
        <p:sld r:id="rId19"/>
        <p:sld r:id="rId20"/>
        <p:sld r:id="rId21"/>
        <p:sld r:id="rId22"/>
        <p:sld r:id="rId23"/>
        <p:sld r:id="rId24"/>
        <p:sld r:id="rId25"/>
      </p:sldLst>
    </p:custShow>
    <p:custShow name="Vlastní prezentace 1" id="1">
      <p:sldLst>
        <p:sld r:id="rId18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84">
          <p15:clr>
            <a:srgbClr val="A4A3A4"/>
          </p15:clr>
        </p15:guide>
        <p15:guide id="2" pos="2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3">
          <p15:clr>
            <a:srgbClr val="A4A3A4"/>
          </p15:clr>
        </p15:guide>
        <p15:guide id="2" pos="212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DDDDD"/>
    <a:srgbClr val="ECCD9A"/>
    <a:srgbClr val="006600"/>
    <a:srgbClr val="FFCC99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28" autoAdjust="0"/>
  </p:normalViewPr>
  <p:slideViewPr>
    <p:cSldViewPr snapToObjects="1">
      <p:cViewPr varScale="1">
        <p:scale>
          <a:sx n="51" d="100"/>
          <a:sy n="51" d="100"/>
        </p:scale>
        <p:origin x="1387" y="38"/>
      </p:cViewPr>
      <p:guideLst>
        <p:guide orient="horz" pos="3984"/>
        <p:guide pos="2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888"/>
    </p:cViewPr>
  </p:sorterViewPr>
  <p:notesViewPr>
    <p:cSldViewPr snapToObjects="1">
      <p:cViewPr varScale="1">
        <p:scale>
          <a:sx n="28" d="100"/>
          <a:sy n="28" d="100"/>
        </p:scale>
        <p:origin x="-1266" y="-66"/>
      </p:cViewPr>
      <p:guideLst>
        <p:guide orient="horz" pos="3123"/>
        <p:guide pos="21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63" Type="http://schemas.openxmlformats.org/officeDocument/2006/relationships/font" Target="fonts/font26.fntdata"/><Relationship Id="rId68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font" Target="fonts/font16.fntdata"/><Relationship Id="rId58" Type="http://schemas.openxmlformats.org/officeDocument/2006/relationships/font" Target="fonts/font21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2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font" Target="fonts/font19.fntdata"/><Relationship Id="rId64" Type="http://schemas.openxmlformats.org/officeDocument/2006/relationships/presProps" Target="presProps.xml"/><Relationship Id="rId69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59" Type="http://schemas.openxmlformats.org/officeDocument/2006/relationships/font" Target="fonts/font22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font" Target="fonts/font17.fntdata"/><Relationship Id="rId62" Type="http://schemas.openxmlformats.org/officeDocument/2006/relationships/font" Target="fonts/font25.fntdata"/><Relationship Id="rId7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2.fntdata"/><Relationship Id="rId57" Type="http://schemas.openxmlformats.org/officeDocument/2006/relationships/font" Target="fonts/font2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Relationship Id="rId60" Type="http://schemas.openxmlformats.org/officeDocument/2006/relationships/font" Target="fonts/font23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2.fntdata"/><Relationship Id="rId34" Type="http://schemas.openxmlformats.org/officeDocument/2006/relationships/slide" Target="slides/slide33.xml"/><Relationship Id="rId50" Type="http://schemas.openxmlformats.org/officeDocument/2006/relationships/font" Target="fonts/font13.fntdata"/><Relationship Id="rId55" Type="http://schemas.openxmlformats.org/officeDocument/2006/relationships/font" Target="fonts/font18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2AD40ABD-6CB1-4D42-A1A0-F3132BD7D72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525463" y="9583738"/>
            <a:ext cx="5621337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194" tIns="47597" rIns="95194" bIns="47597" numCol="1" anchor="b" anchorCtr="0" compatLnSpc="1">
            <a:prstTxWarp prst="textNoShape">
              <a:avLst/>
            </a:prstTxWarp>
          </a:bodyPr>
          <a:lstStyle>
            <a:lvl1pPr defTabSz="952500">
              <a:defRPr sz="1300"/>
            </a:lvl1pPr>
          </a:lstStyle>
          <a:p>
            <a:r>
              <a:rPr lang="cs-CZ" altLang="cs-CZ"/>
              <a:t>Zpracování textů na počítači, Helena Novotná, listopad 1999,</a:t>
            </a:r>
            <a:fld id="{FAB80D93-C412-4867-8396-9459566AB1EB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7ACBB5EC-17E5-4142-9A23-EF6B435F35F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altLang="cs-CZ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1451E7D1-0AF2-4926-BB60-468F69D1486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10000" y="0"/>
            <a:ext cx="2971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cs-CZ" altLang="cs-CZ"/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6AD6A7F9-824C-434B-81D6-D0CFFDB0E115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01700" y="762000"/>
            <a:ext cx="4978400" cy="3733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AF7C1425-8158-46CA-AD24-D9AB9DF22EE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A8F31262-DC48-4BC3-B745-1D70C689C78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8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altLang="cs-CZ"/>
          </a:p>
        </p:txBody>
      </p:sp>
      <p:sp>
        <p:nvSpPr>
          <p:cNvPr id="54279" name="Rectangle 7">
            <a:extLst>
              <a:ext uri="{FF2B5EF4-FFF2-40B4-BE49-F238E27FC236}">
                <a16:creationId xmlns:a16="http://schemas.microsoft.com/office/drawing/2014/main" id="{003CE210-E342-4037-8134-95FDF130B3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0000" y="9448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42C2D46-17D9-46DB-8E05-AB53232C83BF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1D22550-5913-4163-B281-89FA810FD9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122A81-74D9-4F81-9EE4-1BBEFA99191F}" type="slidenum">
              <a:rPr lang="cs-CZ" altLang="cs-CZ"/>
              <a:pPr/>
              <a:t>2</a:t>
            </a:fld>
            <a:endParaRPr lang="cs-CZ" altLang="cs-CZ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5E896820-F455-4C7D-9E64-B9517EF1F98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82554A85-40A8-4790-BA2E-B2CF0D1236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alt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160AE8-D3D6-4AEB-AE33-B52232D63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B9979E9-487A-4A5A-BC56-109E01EB9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</p:spTree>
    <p:extLst>
      <p:ext uri="{BB962C8B-B14F-4D97-AF65-F5344CB8AC3E}">
        <p14:creationId xmlns:p14="http://schemas.microsoft.com/office/powerpoint/2010/main" val="2432780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0ED52D-7461-4824-BDA2-F98EDA68D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63F381F-03C4-4535-9B62-C9C6DD137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87881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9AE4E8-6FBF-4E77-9DC2-D3E31AF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7E4A533-D790-498E-B8D0-8046D30A8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678523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6ACF78-BD92-4AE6-BA11-AAD86100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02065-9237-462B-963B-B4C1627D72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52900" cy="51816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A9D4E1B-B9F4-4D55-B3D5-28FF63A9A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4152900" cy="51816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172355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BC86D2-5B58-42EA-85CA-59D2EC21D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43EDF5B-409C-4946-AF5A-34D92B502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537204D-5A58-4553-B4F2-90C83DDCA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35DF620-A6C5-45EA-941D-E9BC79AF73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FD4903A3-852D-47ED-B45B-8CCBFEE711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646112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47F2B4-4F17-4C1B-BCA4-AE512A3F2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2185264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4751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2D7B4C-DC28-4E7A-AAD8-6AC476FD9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01BBFBE-F456-4CE1-803D-20A793F64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AD285AB-2FAA-4C23-B60E-307EF4E41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414334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E32CFA-5AA7-4848-A40D-7A0CF1098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0AE361F-35B5-447D-A495-2A5DCDA97E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7BE2AF1-C8ED-4B13-AF42-25848C257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276697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E1339C-8BA7-46C3-A6FD-3A884F18B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892D8BC-BD4A-4B62-9929-AF89CD403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498994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9094BEC3-4E36-42A6-8CE7-2DC25E8F4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5600" y="228600"/>
            <a:ext cx="2133600" cy="6096000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22B03BF-3A85-43AE-9090-90AFB39E4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4800" y="228600"/>
            <a:ext cx="6248400" cy="609600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1880968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Nadpis, text a g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908AFA-7622-4BEF-A7FB-5B99DC66A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64135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FB65507-3B09-4262-99F7-FACAAB9C862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81000" y="1143000"/>
            <a:ext cx="4152900" cy="51816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jekt grafu 3">
            <a:extLst>
              <a:ext uri="{FF2B5EF4-FFF2-40B4-BE49-F238E27FC236}">
                <a16:creationId xmlns:a16="http://schemas.microsoft.com/office/drawing/2014/main" id="{CB69F105-06D1-4320-8E68-D80AD1E6EF8D}"/>
              </a:ext>
            </a:extLst>
          </p:cNvPr>
          <p:cNvSpPr>
            <a:spLocks noGrp="1"/>
          </p:cNvSpPr>
          <p:nvPr>
            <p:ph type="chart" sz="half" idx="2"/>
          </p:nvPr>
        </p:nvSpPr>
        <p:spPr>
          <a:xfrm>
            <a:off x="4686300" y="1143000"/>
            <a:ext cx="4152900" cy="5181600"/>
          </a:xfrm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317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Nadpis, text a kli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281CE4-77E5-44B7-963D-411B04DE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64135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2DB2421-5578-426B-B13F-6EF983158B8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81000" y="1143000"/>
            <a:ext cx="4152900" cy="51816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nline obrázek 3">
            <a:extLst>
              <a:ext uri="{FF2B5EF4-FFF2-40B4-BE49-F238E27FC236}">
                <a16:creationId xmlns:a16="http://schemas.microsoft.com/office/drawing/2014/main" id="{110BA13D-56D6-4660-BFE4-30B164EC6806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6300" y="1143000"/>
            <a:ext cx="4152900" cy="5181600"/>
          </a:xfrm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0098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FB892D7-866B-4130-9E54-CBD5F79723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228600"/>
            <a:ext cx="853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CA" altLang="cs-CZ"/>
              <a:t>Klepnutím upravíte styl předlohy nadpisu.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272B3F5-97A2-40F2-B297-BF5AAA4A41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45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altLang="cs-CZ"/>
              <a:t>Klepnutím upravíte styly předlohy textu.</a:t>
            </a:r>
          </a:p>
          <a:p>
            <a:pPr lvl="1"/>
            <a:r>
              <a:rPr lang="en-CA" altLang="cs-CZ"/>
              <a:t>Druhá úroveň</a:t>
            </a:r>
          </a:p>
          <a:p>
            <a:pPr lvl="2"/>
            <a:r>
              <a:rPr lang="en-CA" altLang="cs-CZ"/>
              <a:t>Třetí úroveň</a:t>
            </a:r>
          </a:p>
          <a:p>
            <a:pPr lvl="3"/>
            <a:r>
              <a:rPr lang="en-CA" altLang="cs-CZ"/>
              <a:t>Čtvrtá úroveň</a:t>
            </a:r>
          </a:p>
          <a:p>
            <a:pPr lvl="4"/>
            <a:r>
              <a:rPr lang="en-CA" altLang="cs-CZ"/>
              <a:t>Pátá úroveň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10000"/>
        </a:spcBef>
        <a:spcAft>
          <a:spcPct val="0"/>
        </a:spcAft>
        <a:buClr>
          <a:schemeClr val="tx1"/>
        </a:buClr>
        <a:buSzPct val="80000"/>
        <a:buFont typeface="Symbol" panose="05050102010706020507" pitchFamily="18" charset="2"/>
        <a:buChar char="·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10000"/>
        </a:spcBef>
        <a:spcAft>
          <a:spcPct val="0"/>
        </a:spcAft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10000"/>
        </a:spcBef>
        <a:spcAft>
          <a:spcPct val="0"/>
        </a:spcAft>
        <a:buChar char="–"/>
        <a:defRPr sz="2000" b="1" i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10000"/>
        </a:spcBef>
        <a:spcAft>
          <a:spcPct val="0"/>
        </a:spcAft>
        <a:buChar char="–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10000"/>
        </a:spcBef>
        <a:spcAft>
          <a:spcPct val="0"/>
        </a:spcAft>
        <a:buChar char="»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11" Type="http://schemas.openxmlformats.org/officeDocument/2006/relationships/image" Target="../media/image2.wmf"/><Relationship Id="rId5" Type="http://schemas.openxmlformats.org/officeDocument/2006/relationships/image" Target="../media/image5.png"/><Relationship Id="rId10" Type="http://schemas.openxmlformats.org/officeDocument/2006/relationships/oleObject" Target="../embeddings/oleObject1.bin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>
            <a:extLst>
              <a:ext uri="{FF2B5EF4-FFF2-40B4-BE49-F238E27FC236}">
                <a16:creationId xmlns:a16="http://schemas.microsoft.com/office/drawing/2014/main" id="{D388E0CA-F0CD-48DB-8AED-1C993C24B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43200"/>
            <a:ext cx="9144000" cy="1189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cs-CZ" altLang="cs-CZ" sz="72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Základy typografie</a:t>
            </a:r>
            <a:endParaRPr lang="cs-CZ" altLang="cs-CZ" sz="7200" b="1">
              <a:solidFill>
                <a:srgbClr val="BF414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slow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403F5423-DD32-49A5-9729-C0AAD03D5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8534400" cy="641350"/>
          </a:xfrm>
        </p:spPr>
        <p:txBody>
          <a:bodyPr/>
          <a:lstStyle/>
          <a:p>
            <a:r>
              <a:rPr lang="cs-CZ" altLang="cs-CZ"/>
              <a:t>Typografie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0FA6C448-A54C-4937-B76E-76A29AC850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752600"/>
            <a:ext cx="7010400" cy="1981200"/>
          </a:xfrm>
        </p:spPr>
        <p:txBody>
          <a:bodyPr/>
          <a:lstStyle/>
          <a:p>
            <a:pPr marL="381000" indent="-381000">
              <a:buFont typeface="Symbol" panose="05050102010706020507" pitchFamily="18" charset="2"/>
              <a:buNone/>
            </a:pPr>
            <a:r>
              <a:rPr lang="cs-CZ" altLang="cs-CZ"/>
              <a:t>Tiskovina má vypadat tak, aby</a:t>
            </a:r>
          </a:p>
          <a:p>
            <a:pPr marL="381000" indent="-381000"/>
            <a:r>
              <a:rPr lang="cs-CZ" altLang="cs-CZ"/>
              <a:t>byla dobře čitelná</a:t>
            </a:r>
          </a:p>
          <a:p>
            <a:pPr marL="381000" indent="-381000"/>
            <a:r>
              <a:rPr lang="cs-CZ" altLang="cs-CZ"/>
              <a:t>snadno se v ní orientovalo</a:t>
            </a:r>
          </a:p>
          <a:p>
            <a:pPr marL="381000" indent="-381000"/>
            <a:r>
              <a:rPr lang="cs-CZ" altLang="cs-CZ"/>
              <a:t>působila esteticky</a:t>
            </a:r>
          </a:p>
        </p:txBody>
      </p:sp>
      <p:sp>
        <p:nvSpPr>
          <p:cNvPr id="51205" name="Text Box 5">
            <a:extLst>
              <a:ext uri="{FF2B5EF4-FFF2-40B4-BE49-F238E27FC236}">
                <a16:creationId xmlns:a16="http://schemas.microsoft.com/office/drawing/2014/main" id="{8E352871-ED07-430B-85A5-CE7824993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114800"/>
            <a:ext cx="7010400" cy="137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cs-CZ" altLang="cs-CZ" b="1"/>
              <a:t>Typografie jako řemeslo</a:t>
            </a:r>
          </a:p>
          <a:p>
            <a:pPr>
              <a:spcBef>
                <a:spcPct val="50000"/>
              </a:spcBef>
            </a:pPr>
            <a:r>
              <a:rPr lang="cs-CZ" altLang="cs-CZ" b="1"/>
              <a:t>	poklidný vývoj od vynálezu knihtisku až do 	doby všeobecného rozšíření počítačů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autoUpdateAnimBg="0"/>
      <p:bldP spid="5120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>
            <a:extLst>
              <a:ext uri="{FF2B5EF4-FFF2-40B4-BE49-F238E27FC236}">
                <a16:creationId xmlns:a16="http://schemas.microsoft.com/office/drawing/2014/main" id="{32855657-299F-40E0-AC58-9777490ED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382000" cy="277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cs-CZ" altLang="cs-CZ" sz="3200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Motto:</a:t>
            </a:r>
          </a:p>
          <a:p>
            <a:pPr lvl="1">
              <a:spcBef>
                <a:spcPct val="50000"/>
              </a:spcBef>
            </a:pPr>
            <a:r>
              <a:rPr lang="cs-CZ" altLang="cs-CZ" sz="3200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Podobně jako je morálně nepřípustné veřejně publikovat texty s pravopisnými chybami, je stejně nepřípustné publikovat texty s vážnými typografickými chybami.</a:t>
            </a:r>
          </a:p>
        </p:txBody>
      </p:sp>
    </p:spTree>
  </p:cSld>
  <p:clrMapOvr>
    <a:masterClrMapping/>
  </p:clrMapOvr>
  <p:transition>
    <p:split orient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C7FAA8C-EEBE-456D-B930-4FCCC97823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Vývoj písma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08A3E69-D65A-4865-BA6F-9515BD943E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69950"/>
            <a:ext cx="8458200" cy="958850"/>
          </a:xfrm>
        </p:spPr>
        <p:txBody>
          <a:bodyPr/>
          <a:lstStyle/>
          <a:p>
            <a:r>
              <a:rPr lang="cs-CZ" altLang="cs-CZ"/>
              <a:t>důsledek vývoje civilizace (potřeby zaznamenávat)</a:t>
            </a:r>
          </a:p>
          <a:p>
            <a:r>
              <a:rPr lang="cs-CZ" altLang="cs-CZ"/>
              <a:t>předchůdce písma – piktogramy (nezávislé na jazyce)</a:t>
            </a:r>
            <a:endParaRPr lang="cs-CZ" altLang="cs-CZ" sz="1800"/>
          </a:p>
        </p:txBody>
      </p:sp>
      <p:grpSp>
        <p:nvGrpSpPr>
          <p:cNvPr id="8253" name="Group 61">
            <a:extLst>
              <a:ext uri="{FF2B5EF4-FFF2-40B4-BE49-F238E27FC236}">
                <a16:creationId xmlns:a16="http://schemas.microsoft.com/office/drawing/2014/main" id="{22F4CA6D-1E89-49F7-89C1-6C0242F490BD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4933950"/>
            <a:ext cx="8566150" cy="1390650"/>
            <a:chOff x="288" y="3108"/>
            <a:chExt cx="5396" cy="876"/>
          </a:xfrm>
        </p:grpSpPr>
        <p:grpSp>
          <p:nvGrpSpPr>
            <p:cNvPr id="8251" name="Group 59">
              <a:extLst>
                <a:ext uri="{FF2B5EF4-FFF2-40B4-BE49-F238E27FC236}">
                  <a16:creationId xmlns:a16="http://schemas.microsoft.com/office/drawing/2014/main" id="{B2C6B551-1AEC-4441-A4BB-FFB313DBC0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3108"/>
              <a:ext cx="5396" cy="513"/>
              <a:chOff x="288" y="3000"/>
              <a:chExt cx="5396" cy="513"/>
            </a:xfrm>
          </p:grpSpPr>
          <p:sp>
            <p:nvSpPr>
              <p:cNvPr id="8250" name="Rectangle 58">
                <a:extLst>
                  <a:ext uri="{FF2B5EF4-FFF2-40B4-BE49-F238E27FC236}">
                    <a16:creationId xmlns:a16="http://schemas.microsoft.com/office/drawing/2014/main" id="{917BBA8A-1F51-4926-8C42-DA01FB2C99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3000"/>
                <a:ext cx="5396" cy="51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cs-CZ"/>
              </a:p>
            </p:txBody>
          </p:sp>
          <p:pic>
            <p:nvPicPr>
              <p:cNvPr id="8244" name="Picture 52">
                <a:extLst>
                  <a:ext uri="{FF2B5EF4-FFF2-40B4-BE49-F238E27FC236}">
                    <a16:creationId xmlns:a16="http://schemas.microsoft.com/office/drawing/2014/main" id="{67EC8A08-51EB-493A-B32A-92D8C9B768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81" y="3000"/>
                <a:ext cx="937" cy="4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8249" name="Group 57">
                <a:extLst>
                  <a:ext uri="{FF2B5EF4-FFF2-40B4-BE49-F238E27FC236}">
                    <a16:creationId xmlns:a16="http://schemas.microsoft.com/office/drawing/2014/main" id="{8DE6129F-4556-4365-876A-12FBD3A997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3031"/>
                <a:ext cx="5396" cy="482"/>
                <a:chOff x="288" y="2947"/>
                <a:chExt cx="5396" cy="482"/>
              </a:xfrm>
            </p:grpSpPr>
            <p:pic>
              <p:nvPicPr>
                <p:cNvPr id="8241" name="Picture 49">
                  <a:extLst>
                    <a:ext uri="{FF2B5EF4-FFF2-40B4-BE49-F238E27FC236}">
                      <a16:creationId xmlns:a16="http://schemas.microsoft.com/office/drawing/2014/main" id="{2FFF90ED-D03D-4EEA-B668-F29D3CAFA7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19" y="3031"/>
                  <a:ext cx="933" cy="3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8242" name="Picture 50">
                  <a:extLst>
                    <a:ext uri="{FF2B5EF4-FFF2-40B4-BE49-F238E27FC236}">
                      <a16:creationId xmlns:a16="http://schemas.microsoft.com/office/drawing/2014/main" id="{56FD6CBD-EF9D-4676-A1B8-401C3818417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752" y="2974"/>
                  <a:ext cx="932" cy="45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8243" name="Picture 51">
                  <a:extLst>
                    <a:ext uri="{FF2B5EF4-FFF2-40B4-BE49-F238E27FC236}">
                      <a16:creationId xmlns:a16="http://schemas.microsoft.com/office/drawing/2014/main" id="{76ED3C15-FE8C-4142-9E94-443F917869B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018" y="3024"/>
                  <a:ext cx="968" cy="37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8245" name="Picture 53">
                  <a:extLst>
                    <a:ext uri="{FF2B5EF4-FFF2-40B4-BE49-F238E27FC236}">
                      <a16:creationId xmlns:a16="http://schemas.microsoft.com/office/drawing/2014/main" id="{36F12135-6D0C-4FDB-A342-17B3559C270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151" y="2947"/>
                  <a:ext cx="937" cy="46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8246" name="Picture 54">
                  <a:extLst>
                    <a:ext uri="{FF2B5EF4-FFF2-40B4-BE49-F238E27FC236}">
                      <a16:creationId xmlns:a16="http://schemas.microsoft.com/office/drawing/2014/main" id="{1E049C14-7BBA-4DE5-9862-8DA2330665E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" y="3031"/>
                  <a:ext cx="974" cy="3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8247" name="Text Box 55">
              <a:extLst>
                <a:ext uri="{FF2B5EF4-FFF2-40B4-BE49-F238E27FC236}">
                  <a16:creationId xmlns:a16="http://schemas.microsoft.com/office/drawing/2014/main" id="{010C9A0E-4466-4448-A603-B4BD3182B6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8" y="3696"/>
              <a:ext cx="9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/>
                <a:t>král</a:t>
              </a:r>
            </a:p>
          </p:txBody>
        </p:sp>
      </p:grpSp>
      <p:grpSp>
        <p:nvGrpSpPr>
          <p:cNvPr id="8252" name="Group 60">
            <a:extLst>
              <a:ext uri="{FF2B5EF4-FFF2-40B4-BE49-F238E27FC236}">
                <a16:creationId xmlns:a16="http://schemas.microsoft.com/office/drawing/2014/main" id="{9A94D738-AB3A-4835-8689-DEA7DAC18617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902075"/>
            <a:ext cx="6324600" cy="819150"/>
            <a:chOff x="288" y="2458"/>
            <a:chExt cx="3984" cy="516"/>
          </a:xfrm>
        </p:grpSpPr>
        <p:sp>
          <p:nvSpPr>
            <p:cNvPr id="8217" name="Text Box 25">
              <a:extLst>
                <a:ext uri="{FF2B5EF4-FFF2-40B4-BE49-F238E27FC236}">
                  <a16:creationId xmlns:a16="http://schemas.microsoft.com/office/drawing/2014/main" id="{3F00723C-7534-49E7-96EF-3722CAF6D5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613"/>
              <a:ext cx="9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/>
                <a:t>vůl</a:t>
              </a:r>
            </a:p>
          </p:txBody>
        </p:sp>
        <p:pic>
          <p:nvPicPr>
            <p:cNvPr id="8248" name="Picture 56">
              <a:extLst>
                <a:ext uri="{FF2B5EF4-FFF2-40B4-BE49-F238E27FC236}">
                  <a16:creationId xmlns:a16="http://schemas.microsoft.com/office/drawing/2014/main" id="{015BDFFB-D6C6-496C-B2DB-20E6D4C35E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" y="2458"/>
              <a:ext cx="2793" cy="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8254" name="Object 62">
            <a:extLst>
              <a:ext uri="{FF2B5EF4-FFF2-40B4-BE49-F238E27FC236}">
                <a16:creationId xmlns:a16="http://schemas.microsoft.com/office/drawing/2014/main" id="{208640B2-42D8-4504-841C-D70FF4BE1B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15275" y="531813"/>
          <a:ext cx="895350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6" name="Clip" r:id="rId10" imgW="2235960" imgH="2287440" progId="MS_ClipArt_Gallery.2">
                  <p:embed/>
                </p:oleObj>
              </mc:Choice>
              <mc:Fallback>
                <p:oleObj name="Clip" r:id="rId10" imgW="2235960" imgH="2287440" progId="MS_ClipArt_Gallery.2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5275" y="531813"/>
                        <a:ext cx="895350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55" name="Rectangle 63">
            <a:extLst>
              <a:ext uri="{FF2B5EF4-FFF2-40B4-BE49-F238E27FC236}">
                <a16:creationId xmlns:a16="http://schemas.microsoft.com/office/drawing/2014/main" id="{E590AADE-9B0D-45C3-969C-1A2860ADC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3" y="1722438"/>
            <a:ext cx="8458200" cy="200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09550">
              <a:spcBef>
                <a:spcPct val="10000"/>
              </a:spcBef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2050" indent="-228600">
              <a:spcBef>
                <a:spcPct val="10000"/>
              </a:spcBef>
              <a:buChar char="–"/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10000"/>
              </a:spcBef>
              <a:buChar char="–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10000"/>
              </a:spcBef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cs-CZ" altLang="cs-CZ"/>
              <a:t>ideogramy – </a:t>
            </a:r>
            <a:r>
              <a:rPr lang="cs-CZ" altLang="cs-CZ" sz="2000"/>
              <a:t>obrazový znak splynul se slovním významem, znaky pro abstraktní pojmy a jména</a:t>
            </a:r>
            <a:endParaRPr lang="cs-CZ" altLang="cs-CZ"/>
          </a:p>
          <a:p>
            <a:r>
              <a:rPr lang="cs-CZ" altLang="cs-CZ"/>
              <a:t>obrázkové písmo – </a:t>
            </a:r>
            <a:r>
              <a:rPr lang="cs-CZ" altLang="cs-CZ" sz="2000"/>
              <a:t>stovky až tisíce znaků</a:t>
            </a:r>
            <a:endParaRPr lang="cs-CZ" altLang="cs-CZ"/>
          </a:p>
          <a:p>
            <a:r>
              <a:rPr lang="cs-CZ" altLang="cs-CZ"/>
              <a:t>znaky zachycují zvuky – revoluce ve vývoji písma</a:t>
            </a:r>
            <a:br>
              <a:rPr lang="cs-CZ" altLang="cs-CZ"/>
            </a:br>
            <a:r>
              <a:rPr lang="cs-CZ" altLang="cs-CZ"/>
              <a:t>fonogramy – znaky pro hlásky </a:t>
            </a:r>
            <a:r>
              <a:rPr lang="cs-CZ" altLang="cs-CZ" sz="1800"/>
              <a:t>(dlouho jen souhlásky)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8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82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8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autoUpdateAnimBg="0" advAuto="0"/>
      <p:bldP spid="825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CE5E2C3A-1137-4018-A69B-2BC032801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8458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10000"/>
              </a:spcBef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10000"/>
              </a:spcBef>
              <a:buChar char="–"/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10000"/>
              </a:spcBef>
              <a:buChar char="–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10000"/>
              </a:spcBef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Symbol" panose="05050102010706020507" pitchFamily="18" charset="2"/>
              <a:buNone/>
            </a:pPr>
            <a:r>
              <a:rPr lang="cs-CZ" altLang="cs-CZ" sz="3200">
                <a:solidFill>
                  <a:schemeClr val="accent2"/>
                </a:solidFill>
              </a:rPr>
              <a:t>Nejstarší písma</a:t>
            </a:r>
            <a:endParaRPr lang="cs-CZ" altLang="cs-CZ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96725E6B-4974-422C-A90E-BF774FAAE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6463" y="2743200"/>
            <a:ext cx="3767137" cy="152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10000"/>
              </a:spcBef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10000"/>
              </a:spcBef>
              <a:buChar char="–"/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10000"/>
              </a:spcBef>
              <a:buChar char="–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10000"/>
              </a:spcBef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cs-CZ" altLang="cs-CZ" sz="2800"/>
              <a:t>Egyptské písmo </a:t>
            </a:r>
            <a:br>
              <a:rPr lang="cs-CZ" altLang="cs-CZ" sz="2800"/>
            </a:br>
            <a:r>
              <a:rPr lang="cs-CZ" altLang="cs-CZ" sz="2000"/>
              <a:t>hieroglyfy </a:t>
            </a:r>
            <a:br>
              <a:rPr lang="cs-CZ" altLang="cs-CZ" sz="2000"/>
            </a:br>
            <a:r>
              <a:rPr lang="cs-CZ" altLang="cs-CZ" sz="2000"/>
              <a:t>hieratické písmo </a:t>
            </a:r>
            <a:br>
              <a:rPr lang="cs-CZ" altLang="cs-CZ" sz="2000"/>
            </a:br>
            <a:r>
              <a:rPr lang="cs-CZ" altLang="cs-CZ" sz="2000"/>
              <a:t>démonické písmo hláskové</a:t>
            </a:r>
            <a:endParaRPr lang="cs-CZ" altLang="cs-CZ" sz="2800"/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646B2177-FD25-4ACC-8037-4BDF843F1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19200"/>
            <a:ext cx="84582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10000"/>
              </a:spcBef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10000"/>
              </a:spcBef>
              <a:buChar char="–"/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10000"/>
              </a:spcBef>
              <a:buChar char="–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10000"/>
              </a:spcBef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cs-CZ" altLang="cs-CZ" sz="2800"/>
              <a:t>Klínové písmo v Mezopotámii</a:t>
            </a:r>
            <a:br>
              <a:rPr lang="cs-CZ" altLang="cs-CZ" sz="2800"/>
            </a:br>
            <a:r>
              <a:rPr lang="cs-CZ" altLang="cs-CZ" sz="2000"/>
              <a:t>vývoj od obrázkového písma </a:t>
            </a:r>
            <a:br>
              <a:rPr lang="cs-CZ" altLang="cs-CZ" sz="2000"/>
            </a:br>
            <a:r>
              <a:rPr lang="cs-CZ" altLang="cs-CZ" sz="2000"/>
              <a:t>přes slovní až po slabikové</a:t>
            </a:r>
            <a:endParaRPr lang="cs-CZ" altLang="cs-CZ" sz="2800"/>
          </a:p>
        </p:txBody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0D9BAB2E-BEF9-4564-AFB1-994281797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800600"/>
            <a:ext cx="2971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10000"/>
              </a:spcBef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10000"/>
              </a:spcBef>
              <a:buChar char="–"/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10000"/>
              </a:spcBef>
              <a:buChar char="–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10000"/>
              </a:spcBef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cs-CZ" altLang="cs-CZ" sz="2800"/>
              <a:t>Čínské písmo </a:t>
            </a:r>
            <a:br>
              <a:rPr lang="cs-CZ" altLang="cs-CZ" sz="2800"/>
            </a:br>
            <a:r>
              <a:rPr lang="cs-CZ" altLang="cs-CZ" sz="2000"/>
              <a:t>(slovní písmo dodnes)</a:t>
            </a:r>
            <a:endParaRPr lang="cs-CZ" altLang="cs-CZ" sz="2800"/>
          </a:p>
        </p:txBody>
      </p:sp>
      <p:pic>
        <p:nvPicPr>
          <p:cNvPr id="53255" name="Picture 7">
            <a:extLst>
              <a:ext uri="{FF2B5EF4-FFF2-40B4-BE49-F238E27FC236}">
                <a16:creationId xmlns:a16="http://schemas.microsoft.com/office/drawing/2014/main" id="{DA4E4BC4-DD37-43E9-B97F-89F0A7B6F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2" t="68123" r="26154"/>
          <a:stretch>
            <a:fillRect/>
          </a:stretch>
        </p:blipFill>
        <p:spPr bwMode="auto">
          <a:xfrm>
            <a:off x="5638800" y="838200"/>
            <a:ext cx="3276600" cy="167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8" name="Picture 10">
            <a:extLst>
              <a:ext uri="{FF2B5EF4-FFF2-40B4-BE49-F238E27FC236}">
                <a16:creationId xmlns:a16="http://schemas.microsoft.com/office/drawing/2014/main" id="{78F8F4FA-B77A-4ED2-B0A3-2BE2C17CA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511425"/>
            <a:ext cx="1719263" cy="223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3270" name="Group 22">
            <a:extLst>
              <a:ext uri="{FF2B5EF4-FFF2-40B4-BE49-F238E27FC236}">
                <a16:creationId xmlns:a16="http://schemas.microsoft.com/office/drawing/2014/main" id="{CA12ACCF-2412-4168-997B-6EE0D71BEC42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2743200"/>
            <a:ext cx="2667000" cy="3584575"/>
            <a:chOff x="4080" y="1728"/>
            <a:chExt cx="1680" cy="2258"/>
          </a:xfrm>
        </p:grpSpPr>
        <p:pic>
          <p:nvPicPr>
            <p:cNvPr id="53262" name="Picture 14">
              <a:extLst>
                <a:ext uri="{FF2B5EF4-FFF2-40B4-BE49-F238E27FC236}">
                  <a16:creationId xmlns:a16="http://schemas.microsoft.com/office/drawing/2014/main" id="{AF7D7BC9-C120-412F-987B-5255750D8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0" y="1728"/>
              <a:ext cx="781" cy="2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3263" name="Text Box 15">
              <a:extLst>
                <a:ext uri="{FF2B5EF4-FFF2-40B4-BE49-F238E27FC236}">
                  <a16:creationId xmlns:a16="http://schemas.microsoft.com/office/drawing/2014/main" id="{37ED963D-43C1-4AC4-B940-54CCF16480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1" y="1728"/>
              <a:ext cx="7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cs-CZ" altLang="cs-CZ"/>
                <a:t>slunce</a:t>
              </a:r>
            </a:p>
          </p:txBody>
        </p:sp>
        <p:sp>
          <p:nvSpPr>
            <p:cNvPr id="53264" name="Text Box 16">
              <a:extLst>
                <a:ext uri="{FF2B5EF4-FFF2-40B4-BE49-F238E27FC236}">
                  <a16:creationId xmlns:a16="http://schemas.microsoft.com/office/drawing/2014/main" id="{79C5F611-DCEE-4C55-B38E-A5F99FE83E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1" y="2016"/>
              <a:ext cx="7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cs-CZ" altLang="cs-CZ"/>
                <a:t>hora</a:t>
              </a:r>
            </a:p>
          </p:txBody>
        </p:sp>
        <p:sp>
          <p:nvSpPr>
            <p:cNvPr id="53265" name="Text Box 17">
              <a:extLst>
                <a:ext uri="{FF2B5EF4-FFF2-40B4-BE49-F238E27FC236}">
                  <a16:creationId xmlns:a16="http://schemas.microsoft.com/office/drawing/2014/main" id="{A77233BC-7999-4789-AE76-6D6BC0185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1" y="2304"/>
              <a:ext cx="7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cs-CZ" altLang="cs-CZ"/>
                <a:t>strom</a:t>
              </a:r>
            </a:p>
          </p:txBody>
        </p:sp>
        <p:sp>
          <p:nvSpPr>
            <p:cNvPr id="53266" name="Text Box 18">
              <a:extLst>
                <a:ext uri="{FF2B5EF4-FFF2-40B4-BE49-F238E27FC236}">
                  <a16:creationId xmlns:a16="http://schemas.microsoft.com/office/drawing/2014/main" id="{9B7E4A56-FFDC-496C-AD64-10AD1709BE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1" y="2613"/>
              <a:ext cx="7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cs-CZ" altLang="cs-CZ"/>
                <a:t>střed</a:t>
              </a:r>
            </a:p>
          </p:txBody>
        </p:sp>
        <p:sp>
          <p:nvSpPr>
            <p:cNvPr id="53267" name="Text Box 19">
              <a:extLst>
                <a:ext uri="{FF2B5EF4-FFF2-40B4-BE49-F238E27FC236}">
                  <a16:creationId xmlns:a16="http://schemas.microsoft.com/office/drawing/2014/main" id="{7A43101A-7D41-4425-B750-192FD972AB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1" y="2954"/>
              <a:ext cx="61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cs-CZ" altLang="cs-CZ"/>
                <a:t>pole</a:t>
              </a:r>
            </a:p>
          </p:txBody>
        </p:sp>
        <p:sp>
          <p:nvSpPr>
            <p:cNvPr id="53268" name="Text Box 20">
              <a:extLst>
                <a:ext uri="{FF2B5EF4-FFF2-40B4-BE49-F238E27FC236}">
                  <a16:creationId xmlns:a16="http://schemas.microsoft.com/office/drawing/2014/main" id="{E9D4DAC6-D16E-401E-B79E-E881AEC25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3242"/>
              <a:ext cx="8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cs-CZ" altLang="cs-CZ"/>
                <a:t>hranice</a:t>
              </a:r>
            </a:p>
          </p:txBody>
        </p:sp>
        <p:sp>
          <p:nvSpPr>
            <p:cNvPr id="53269" name="Text Box 21">
              <a:extLst>
                <a:ext uri="{FF2B5EF4-FFF2-40B4-BE49-F238E27FC236}">
                  <a16:creationId xmlns:a16="http://schemas.microsoft.com/office/drawing/2014/main" id="{18731580-5EDB-4AE8-9002-8A4EC3561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3600"/>
              <a:ext cx="7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cs-CZ" altLang="cs-CZ"/>
                <a:t>dveře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autoUpdateAnimBg="0"/>
      <p:bldP spid="53252" grpId="0" autoUpdateAnimBg="0"/>
      <p:bldP spid="5325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977ED18-EDEE-4FA8-B0A2-369DFDA530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Historie písma v Evropě 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F974AF12-955D-4704-AA81-A7EC64A804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458200" cy="1143000"/>
          </a:xfrm>
        </p:spPr>
        <p:txBody>
          <a:bodyPr/>
          <a:lstStyle/>
          <a:p>
            <a:r>
              <a:rPr lang="cs-CZ" altLang="cs-CZ"/>
              <a:t>Fénické písmo </a:t>
            </a:r>
          </a:p>
          <a:p>
            <a:pPr lvl="1">
              <a:buFontTx/>
              <a:buNone/>
            </a:pPr>
            <a:r>
              <a:rPr lang="cs-CZ" altLang="cs-CZ"/>
              <a:t>22–24 geom. znaků pro souhlásky</a:t>
            </a:r>
          </a:p>
        </p:txBody>
      </p:sp>
      <p:grpSp>
        <p:nvGrpSpPr>
          <p:cNvPr id="30730" name="Group 10">
            <a:extLst>
              <a:ext uri="{FF2B5EF4-FFF2-40B4-BE49-F238E27FC236}">
                <a16:creationId xmlns:a16="http://schemas.microsoft.com/office/drawing/2014/main" id="{C8B57BEA-63A4-4702-A09E-E63605C5731A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869950"/>
            <a:ext cx="2895600" cy="1905000"/>
            <a:chOff x="3744" y="548"/>
            <a:chExt cx="1861" cy="1443"/>
          </a:xfrm>
        </p:grpSpPr>
        <p:pic>
          <p:nvPicPr>
            <p:cNvPr id="30724" name="Picture 4">
              <a:extLst>
                <a:ext uri="{FF2B5EF4-FFF2-40B4-BE49-F238E27FC236}">
                  <a16:creationId xmlns:a16="http://schemas.microsoft.com/office/drawing/2014/main" id="{42333474-7E0A-4FD4-BFD5-6A9BA7F09F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4" y="548"/>
              <a:ext cx="1824" cy="11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727" name="Text Box 7">
              <a:extLst>
                <a:ext uri="{FF2B5EF4-FFF2-40B4-BE49-F238E27FC236}">
                  <a16:creationId xmlns:a16="http://schemas.microsoft.com/office/drawing/2014/main" id="{54674263-91FB-4095-A1A3-46DF5F2E8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691"/>
              <a:ext cx="186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2000" i="1"/>
                <a:t>fénický nápis</a:t>
              </a:r>
            </a:p>
          </p:txBody>
        </p:sp>
      </p:grpSp>
      <p:sp>
        <p:nvSpPr>
          <p:cNvPr id="30728" name="Rectangle 8">
            <a:extLst>
              <a:ext uri="{FF2B5EF4-FFF2-40B4-BE49-F238E27FC236}">
                <a16:creationId xmlns:a16="http://schemas.microsoft.com/office/drawing/2014/main" id="{5140AEEB-2E3B-4A19-B555-970C80F4D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86000"/>
            <a:ext cx="8458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10000"/>
              </a:spcBef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10000"/>
              </a:spcBef>
              <a:buChar char="–"/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10000"/>
              </a:spcBef>
              <a:buChar char="–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10000"/>
              </a:spcBef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cs-CZ" altLang="cs-CZ"/>
              <a:t>Řekové </a:t>
            </a:r>
          </a:p>
          <a:p>
            <a:pPr lvl="1"/>
            <a:r>
              <a:rPr lang="cs-CZ" altLang="cs-CZ"/>
              <a:t>znaky pro samohlásky, psaní zleva doprava</a:t>
            </a:r>
          </a:p>
          <a:p>
            <a:pPr lvl="1"/>
            <a:r>
              <a:rPr lang="cs-CZ" altLang="cs-CZ"/>
              <a:t>základ latinky, současného řeckého písma i azbuky</a:t>
            </a:r>
          </a:p>
        </p:txBody>
      </p:sp>
      <p:sp>
        <p:nvSpPr>
          <p:cNvPr id="30731" name="Rectangle 11">
            <a:extLst>
              <a:ext uri="{FF2B5EF4-FFF2-40B4-BE49-F238E27FC236}">
                <a16:creationId xmlns:a16="http://schemas.microsoft.com/office/drawing/2014/main" id="{B45589A0-322F-4538-901D-2EE8AC0AB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4419600"/>
            <a:ext cx="84582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10000"/>
              </a:spcBef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10000"/>
              </a:spcBef>
              <a:buChar char="–"/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10000"/>
              </a:spcBef>
              <a:buChar char="–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10000"/>
              </a:spcBef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cs-CZ" altLang="cs-CZ"/>
              <a:t>Naše dnešní písmo</a:t>
            </a:r>
          </a:p>
          <a:p>
            <a:pPr lvl="1"/>
            <a:r>
              <a:rPr lang="cs-CZ" altLang="cs-CZ"/>
              <a:t>velká z období Říma (stará přes 2000 let)</a:t>
            </a:r>
          </a:p>
          <a:p>
            <a:pPr lvl="1"/>
            <a:r>
              <a:rPr lang="cs-CZ" altLang="cs-CZ"/>
              <a:t>malá z doby Karla Velikého (800)</a:t>
            </a:r>
          </a:p>
          <a:p>
            <a:pPr lvl="1"/>
            <a:r>
              <a:rPr lang="cs-CZ" altLang="cs-CZ"/>
              <a:t>nabodeníčka (česká diakritika, Jan Hus)</a:t>
            </a:r>
          </a:p>
          <a:p>
            <a:pPr lvl="1"/>
            <a:r>
              <a:rPr lang="cs-CZ" altLang="cs-CZ"/>
              <a:t>zlom ve vývoji vynález knihtisku (</a:t>
            </a:r>
            <a:r>
              <a:rPr lang="cs-CZ" altLang="cs-CZ" sz="1900"/>
              <a:t>asi 1450</a:t>
            </a:r>
            <a:r>
              <a:rPr lang="cs-CZ" altLang="cs-CZ"/>
              <a:t>)</a:t>
            </a:r>
          </a:p>
        </p:txBody>
      </p:sp>
      <p:pic>
        <p:nvPicPr>
          <p:cNvPr id="30732" name="Picture 12">
            <a:extLst>
              <a:ext uri="{FF2B5EF4-FFF2-40B4-BE49-F238E27FC236}">
                <a16:creationId xmlns:a16="http://schemas.microsoft.com/office/drawing/2014/main" id="{22164A83-93B8-4C66-ADBA-99E49B49D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431"/>
          <a:stretch>
            <a:fillRect/>
          </a:stretch>
        </p:blipFill>
        <p:spPr bwMode="auto">
          <a:xfrm>
            <a:off x="3998913" y="3581400"/>
            <a:ext cx="2249487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3" name="Picture 13">
            <a:extLst>
              <a:ext uri="{FF2B5EF4-FFF2-40B4-BE49-F238E27FC236}">
                <a16:creationId xmlns:a16="http://schemas.microsoft.com/office/drawing/2014/main" id="{430893F8-E11C-4E00-A47C-9D1045CD4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375" y="3429000"/>
            <a:ext cx="2225675" cy="300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A5002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autoUpdateAnimBg="0" advAuto="0"/>
      <p:bldP spid="30728" grpId="0" autoUpdateAnimBg="0"/>
      <p:bldP spid="3073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175EDCFF-43E8-43F1-BD40-CAA2B47573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692150"/>
            <a:ext cx="8534400" cy="641350"/>
          </a:xfrm>
        </p:spPr>
        <p:txBody>
          <a:bodyPr/>
          <a:lstStyle/>
          <a:p>
            <a:r>
              <a:rPr lang="cs-CZ" altLang="cs-CZ"/>
              <a:t>Vývoj číslic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12850AEF-12A7-453D-AFEB-F2A471F56E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95438"/>
            <a:ext cx="8458200" cy="728662"/>
          </a:xfrm>
        </p:spPr>
        <p:txBody>
          <a:bodyPr/>
          <a:lstStyle/>
          <a:p>
            <a:r>
              <a:rPr lang="cs-CZ" altLang="cs-CZ"/>
              <a:t>římské číslice</a:t>
            </a:r>
          </a:p>
          <a:p>
            <a:pPr lvl="1">
              <a:buFontTx/>
              <a:buNone/>
            </a:pPr>
            <a:r>
              <a:rPr lang="cs-CZ" altLang="cs-CZ"/>
              <a:t>vydržely do 15 století</a:t>
            </a:r>
          </a:p>
        </p:txBody>
      </p:sp>
      <p:grpSp>
        <p:nvGrpSpPr>
          <p:cNvPr id="50193" name="Group 17">
            <a:extLst>
              <a:ext uri="{FF2B5EF4-FFF2-40B4-BE49-F238E27FC236}">
                <a16:creationId xmlns:a16="http://schemas.microsoft.com/office/drawing/2014/main" id="{041C5EB2-4508-4D86-A573-7D5FF0F25DF9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995738"/>
            <a:ext cx="2833688" cy="1422400"/>
            <a:chOff x="288" y="2880"/>
            <a:chExt cx="1785" cy="896"/>
          </a:xfrm>
        </p:grpSpPr>
        <p:pic>
          <p:nvPicPr>
            <p:cNvPr id="50181" name="Picture 5">
              <a:extLst>
                <a:ext uri="{FF2B5EF4-FFF2-40B4-BE49-F238E27FC236}">
                  <a16:creationId xmlns:a16="http://schemas.microsoft.com/office/drawing/2014/main" id="{3AEC5CC3-D351-4748-8014-8EFA442BAA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BF2D3"/>
                </a:clrFrom>
                <a:clrTo>
                  <a:srgbClr val="FBF2D3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" y="2880"/>
              <a:ext cx="1770" cy="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182" name="Picture 6">
              <a:extLst>
                <a:ext uri="{FF2B5EF4-FFF2-40B4-BE49-F238E27FC236}">
                  <a16:creationId xmlns:a16="http://schemas.microsoft.com/office/drawing/2014/main" id="{FDA0873D-9273-449E-B4F9-3E60FC4E93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BF2D3"/>
                </a:clrFrom>
                <a:clrTo>
                  <a:srgbClr val="FBF2D3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759"/>
            <a:stretch>
              <a:fillRect/>
            </a:stretch>
          </p:blipFill>
          <p:spPr bwMode="auto">
            <a:xfrm>
              <a:off x="288" y="3412"/>
              <a:ext cx="1785" cy="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0194" name="Text Box 18">
            <a:extLst>
              <a:ext uri="{FF2B5EF4-FFF2-40B4-BE49-F238E27FC236}">
                <a16:creationId xmlns:a16="http://schemas.microsoft.com/office/drawing/2014/main" id="{554079B8-270B-4975-BD1A-2CA0F9C1A52A}"/>
              </a:ext>
            </a:extLst>
          </p:cNvPr>
          <p:cNvSpPr txBox="1">
            <a:spLocks noChangeArrowheads="1"/>
          </p:cNvSpPr>
          <p:nvPr/>
        </p:nvSpPr>
        <p:spPr bwMode="auto">
          <a:xfrm rot="5440">
            <a:off x="4876800" y="1857375"/>
            <a:ext cx="2209800" cy="4667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cs-CZ" altLang="cs-CZ" b="1">
                <a:effectLst>
                  <a:outerShdw blurRad="38100" dist="38100" dir="2700000" algn="tl">
                    <a:srgbClr val="FFFFFF"/>
                  </a:outerShdw>
                </a:effectLst>
              </a:rPr>
              <a:t>MDCCLXVII</a:t>
            </a:r>
            <a:endParaRPr lang="cs-CZ" altLang="cs-CZ"/>
          </a:p>
        </p:txBody>
      </p:sp>
      <p:sp>
        <p:nvSpPr>
          <p:cNvPr id="50195" name="Text Box 19">
            <a:extLst>
              <a:ext uri="{FF2B5EF4-FFF2-40B4-BE49-F238E27FC236}">
                <a16:creationId xmlns:a16="http://schemas.microsoft.com/office/drawing/2014/main" id="{AF8D5813-1418-4236-A0DC-91DD5AB73A1A}"/>
              </a:ext>
            </a:extLst>
          </p:cNvPr>
          <p:cNvSpPr txBox="1">
            <a:spLocks noChangeArrowheads="1"/>
          </p:cNvSpPr>
          <p:nvPr/>
        </p:nvSpPr>
        <p:spPr bwMode="auto">
          <a:xfrm rot="21597425" flipH="1">
            <a:off x="4876800" y="2886075"/>
            <a:ext cx="2209800" cy="4667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cs-CZ" altLang="cs-CZ" b="1">
                <a:effectLst>
                  <a:outerShdw blurRad="38100" dist="38100" dir="2700000" algn="tl">
                    <a:srgbClr val="FFFFFF"/>
                  </a:outerShdw>
                </a:effectLst>
              </a:rPr>
              <a:t>1767</a:t>
            </a:r>
            <a:endParaRPr lang="cs-CZ" altLang="cs-CZ"/>
          </a:p>
        </p:txBody>
      </p:sp>
      <p:sp>
        <p:nvSpPr>
          <p:cNvPr id="50196" name="Rectangle 20">
            <a:extLst>
              <a:ext uri="{FF2B5EF4-FFF2-40B4-BE49-F238E27FC236}">
                <a16:creationId xmlns:a16="http://schemas.microsoft.com/office/drawing/2014/main" id="{307BF512-43D0-4DA3-B99B-C64FF2E62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2624138"/>
            <a:ext cx="8458200" cy="728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10000"/>
              </a:spcBef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10000"/>
              </a:spcBef>
              <a:buChar char="–"/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10000"/>
              </a:spcBef>
              <a:buChar char="–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10000"/>
              </a:spcBef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cs-CZ" altLang="cs-CZ"/>
              <a:t>arabské číslice</a:t>
            </a:r>
          </a:p>
          <a:p>
            <a:pPr lvl="1">
              <a:buFontTx/>
              <a:buNone/>
            </a:pPr>
            <a:r>
              <a:rPr lang="cs-CZ" altLang="cs-CZ"/>
              <a:t>původ v Indii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0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94" grpId="0" animBg="1" autoUpdateAnimBg="0"/>
      <p:bldP spid="50195" grpId="0" animBg="1" autoUpdateAnimBg="0"/>
      <p:bldP spid="5019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5">
            <a:extLst>
              <a:ext uri="{FF2B5EF4-FFF2-40B4-BE49-F238E27FC236}">
                <a16:creationId xmlns:a16="http://schemas.microsoft.com/office/drawing/2014/main" id="{C457F2FB-1023-4D98-B9E4-162A38D026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534400" cy="641350"/>
          </a:xfrm>
        </p:spPr>
        <p:txBody>
          <a:bodyPr/>
          <a:lstStyle/>
          <a:p>
            <a:r>
              <a:rPr lang="cs-CZ" altLang="cs-CZ"/>
              <a:t>Vlastnosti písma – soubor znaků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9F1A9E2C-1C29-4230-8D0A-2C1FCFDDA4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458200" cy="4191000"/>
          </a:xfrm>
        </p:spPr>
        <p:txBody>
          <a:bodyPr/>
          <a:lstStyle/>
          <a:p>
            <a:pPr>
              <a:buFont typeface="Symbol" panose="05050102010706020507" pitchFamily="18" charset="2"/>
              <a:buNone/>
            </a:pPr>
            <a:r>
              <a:rPr lang="cs-CZ" altLang="cs-CZ" b="0">
                <a:solidFill>
                  <a:schemeClr val="accent2"/>
                </a:solidFill>
              </a:rPr>
              <a:t>a, b, c, </a:t>
            </a:r>
            <a:r>
              <a:rPr lang="cs-CZ" altLang="cs-CZ" b="0">
                <a:solidFill>
                  <a:schemeClr val="accent2"/>
                </a:solidFill>
                <a:sym typeface="Symbol" panose="05050102010706020507" pitchFamily="18" charset="2"/>
              </a:rPr>
              <a:t></a:t>
            </a:r>
            <a:r>
              <a:rPr lang="cs-CZ" altLang="cs-CZ">
                <a:sym typeface="Symbol" panose="05050102010706020507" pitchFamily="18" charset="2"/>
              </a:rPr>
              <a:t>	malá písmena – minusky (minuskule)</a:t>
            </a:r>
          </a:p>
          <a:p>
            <a:pPr>
              <a:buFont typeface="Symbol" panose="05050102010706020507" pitchFamily="18" charset="2"/>
              <a:buNone/>
            </a:pPr>
            <a:r>
              <a:rPr lang="cs-CZ" altLang="cs-CZ" b="0">
                <a:solidFill>
                  <a:schemeClr val="accent2"/>
                </a:solidFill>
                <a:sym typeface="Symbol" panose="05050102010706020507" pitchFamily="18" charset="2"/>
              </a:rPr>
              <a:t>A, B, C, </a:t>
            </a:r>
            <a:r>
              <a:rPr lang="cs-CZ" altLang="cs-CZ">
                <a:sym typeface="Symbol" panose="05050102010706020507" pitchFamily="18" charset="2"/>
              </a:rPr>
              <a:t>	velká písmena – verzálky (majuskule)</a:t>
            </a:r>
          </a:p>
          <a:p>
            <a:pPr>
              <a:buFont typeface="Symbol" panose="05050102010706020507" pitchFamily="18" charset="2"/>
              <a:buNone/>
            </a:pPr>
            <a:r>
              <a:rPr lang="cs-CZ" altLang="cs-CZ" b="0">
                <a:solidFill>
                  <a:schemeClr val="accent2"/>
                </a:solidFill>
                <a:sym typeface="Symbol" panose="05050102010706020507" pitchFamily="18" charset="2"/>
              </a:rPr>
              <a:t>1, 2, </a:t>
            </a:r>
            <a:r>
              <a:rPr lang="cs-CZ" altLang="cs-CZ">
                <a:sym typeface="Symbol" panose="05050102010706020507" pitchFamily="18" charset="2"/>
              </a:rPr>
              <a:t>	číslice</a:t>
            </a:r>
          </a:p>
          <a:p>
            <a:pPr>
              <a:buFont typeface="Symbol" panose="05050102010706020507" pitchFamily="18" charset="2"/>
              <a:buNone/>
            </a:pPr>
            <a:r>
              <a:rPr lang="cs-CZ" altLang="cs-CZ" b="0">
                <a:solidFill>
                  <a:schemeClr val="accent2"/>
                </a:solidFill>
                <a:sym typeface="Symbol" panose="05050102010706020507" pitchFamily="18" charset="2"/>
              </a:rPr>
              <a:t>ˇ ´ ¨</a:t>
            </a:r>
            <a:r>
              <a:rPr lang="cs-CZ" altLang="cs-CZ" b="0">
                <a:solidFill>
                  <a:srgbClr val="A50021"/>
                </a:solidFill>
                <a:sym typeface="Symbol" panose="05050102010706020507" pitchFamily="18" charset="2"/>
              </a:rPr>
              <a:t> 	</a:t>
            </a:r>
            <a:r>
              <a:rPr lang="cs-CZ" altLang="cs-CZ">
                <a:sym typeface="Symbol" panose="05050102010706020507" pitchFamily="18" charset="2"/>
              </a:rPr>
              <a:t>	diakritická znaménka – akcenty</a:t>
            </a:r>
            <a:br>
              <a:rPr lang="cs-CZ" altLang="cs-CZ">
                <a:sym typeface="Symbol" panose="05050102010706020507" pitchFamily="18" charset="2"/>
              </a:rPr>
            </a:br>
            <a:r>
              <a:rPr lang="cs-CZ" altLang="cs-CZ">
                <a:sym typeface="Symbol" panose="05050102010706020507" pitchFamily="18" charset="2"/>
              </a:rPr>
              <a:t>		</a:t>
            </a:r>
            <a:r>
              <a:rPr lang="cs-CZ" altLang="cs-CZ" sz="2000">
                <a:sym typeface="Symbol" panose="05050102010706020507" pitchFamily="18" charset="2"/>
              </a:rPr>
              <a:t>(ř, š, ů, ú,  akcentované znaky)</a:t>
            </a:r>
            <a:endParaRPr lang="cs-CZ" altLang="cs-CZ">
              <a:sym typeface="Symbol" panose="05050102010706020507" pitchFamily="18" charset="2"/>
            </a:endParaRPr>
          </a:p>
          <a:p>
            <a:pPr>
              <a:buFont typeface="Symbol" panose="05050102010706020507" pitchFamily="18" charset="2"/>
              <a:buNone/>
            </a:pPr>
            <a:r>
              <a:rPr lang="cs-CZ" altLang="cs-CZ" b="0">
                <a:solidFill>
                  <a:schemeClr val="accent2"/>
                </a:solidFill>
                <a:sym typeface="Symbol" panose="05050102010706020507" pitchFamily="18" charset="2"/>
              </a:rPr>
              <a:t>. , ! ? </a:t>
            </a:r>
            <a:r>
              <a:rPr lang="en-US" altLang="cs-CZ" b="0">
                <a:solidFill>
                  <a:schemeClr val="accent2"/>
                </a:solidFill>
                <a:sym typeface="Symbol" panose="05050102010706020507" pitchFamily="18" charset="2"/>
              </a:rPr>
              <a:t>; :</a:t>
            </a:r>
            <a:r>
              <a:rPr lang="cs-CZ" altLang="cs-CZ">
                <a:sym typeface="Symbol" panose="05050102010706020507" pitchFamily="18" charset="2"/>
              </a:rPr>
              <a:t>	interpunkční znaménka</a:t>
            </a:r>
          </a:p>
          <a:p>
            <a:pPr>
              <a:buFont typeface="Symbol" panose="05050102010706020507" pitchFamily="18" charset="2"/>
              <a:buNone/>
            </a:pPr>
            <a:r>
              <a:rPr lang="cs-CZ" altLang="cs-CZ" b="0">
                <a:solidFill>
                  <a:schemeClr val="accent2"/>
                </a:solidFill>
                <a:sym typeface="Symbol" panose="05050102010706020507" pitchFamily="18" charset="2"/>
              </a:rPr>
              <a:t>( ) </a:t>
            </a:r>
            <a:r>
              <a:rPr lang="en-US" altLang="cs-CZ" b="0">
                <a:solidFill>
                  <a:schemeClr val="accent2"/>
                </a:solidFill>
                <a:sym typeface="Symbol" panose="05050102010706020507" pitchFamily="18" charset="2"/>
              </a:rPr>
              <a:t>[ ]  { }</a:t>
            </a:r>
            <a:r>
              <a:rPr lang="en-US" altLang="cs-CZ">
                <a:sym typeface="Symbol" panose="05050102010706020507" pitchFamily="18" charset="2"/>
              </a:rPr>
              <a:t>	</a:t>
            </a:r>
            <a:r>
              <a:rPr lang="cs-CZ" altLang="cs-CZ">
                <a:sym typeface="Symbol" panose="05050102010706020507" pitchFamily="18" charset="2"/>
              </a:rPr>
              <a:t>závorky</a:t>
            </a:r>
          </a:p>
          <a:p>
            <a:pPr>
              <a:buFont typeface="Symbol" panose="05050102010706020507" pitchFamily="18" charset="2"/>
              <a:buNone/>
            </a:pPr>
            <a:r>
              <a:rPr lang="cs-CZ" altLang="cs-CZ" b="0">
                <a:solidFill>
                  <a:schemeClr val="accent2"/>
                </a:solidFill>
                <a:sym typeface="Symbol" panose="05050102010706020507" pitchFamily="18" charset="2"/>
              </a:rPr>
              <a:t>„ “</a:t>
            </a:r>
            <a:r>
              <a:rPr lang="cs-CZ" altLang="cs-CZ">
                <a:solidFill>
                  <a:schemeClr val="accent2"/>
                </a:solidFill>
                <a:sym typeface="Symbol" panose="05050102010706020507" pitchFamily="18" charset="2"/>
              </a:rPr>
              <a:t>  	</a:t>
            </a:r>
            <a:r>
              <a:rPr lang="cs-CZ" altLang="cs-CZ">
                <a:sym typeface="Symbol" panose="05050102010706020507" pitchFamily="18" charset="2"/>
              </a:rPr>
              <a:t>	uvozovky</a:t>
            </a:r>
          </a:p>
          <a:p>
            <a:pPr>
              <a:buFont typeface="Symbol" panose="05050102010706020507" pitchFamily="18" charset="2"/>
              <a:buNone/>
            </a:pPr>
            <a:r>
              <a:rPr lang="cs-CZ" altLang="cs-CZ" b="0">
                <a:solidFill>
                  <a:schemeClr val="accent2"/>
                </a:solidFill>
                <a:sym typeface="Symbol" panose="05050102010706020507" pitchFamily="18" charset="2"/>
              </a:rPr>
              <a:t>+    =</a:t>
            </a:r>
            <a:r>
              <a:rPr lang="cs-CZ" altLang="cs-CZ" b="0">
                <a:solidFill>
                  <a:srgbClr val="A50021"/>
                </a:solidFill>
                <a:sym typeface="Symbol" panose="05050102010706020507" pitchFamily="18" charset="2"/>
              </a:rPr>
              <a:t>	</a:t>
            </a:r>
            <a:r>
              <a:rPr lang="cs-CZ" altLang="cs-CZ">
                <a:sym typeface="Symbol" panose="05050102010706020507" pitchFamily="18" charset="2"/>
              </a:rPr>
              <a:t>matematická znaménka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cs-CZ" b="0">
                <a:solidFill>
                  <a:schemeClr val="accent2"/>
                </a:solidFill>
                <a:sym typeface="Symbol" panose="05050102010706020507" pitchFamily="18" charset="2"/>
              </a:rPr>
              <a:t>% </a:t>
            </a:r>
            <a:r>
              <a:rPr lang="cs-CZ" altLang="cs-CZ" b="0">
                <a:solidFill>
                  <a:schemeClr val="accent2"/>
                </a:solidFill>
                <a:sym typeface="Symbol" panose="05050102010706020507" pitchFamily="18" charset="2"/>
              </a:rPr>
              <a:t>§ &amp;	</a:t>
            </a:r>
            <a:r>
              <a:rPr lang="cs-CZ" altLang="cs-CZ">
                <a:sym typeface="Symbol" panose="05050102010706020507" pitchFamily="18" charset="2"/>
              </a:rPr>
              <a:t>	různé další znaky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1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12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12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12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12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12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>
            <a:extLst>
              <a:ext uri="{FF2B5EF4-FFF2-40B4-BE49-F238E27FC236}">
                <a16:creationId xmlns:a16="http://schemas.microsoft.com/office/drawing/2014/main" id="{644FB8B1-0ED6-454A-821A-36468BF923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055688"/>
            <a:ext cx="8534400" cy="641350"/>
          </a:xfrm>
        </p:spPr>
        <p:txBody>
          <a:bodyPr/>
          <a:lstStyle/>
          <a:p>
            <a:r>
              <a:rPr lang="cs-CZ" altLang="cs-CZ"/>
              <a:t>Vlastnosti písma – písmová osnova</a:t>
            </a:r>
          </a:p>
        </p:txBody>
      </p:sp>
      <p:sp>
        <p:nvSpPr>
          <p:cNvPr id="22533" name="Text Box 1029">
            <a:extLst>
              <a:ext uri="{FF2B5EF4-FFF2-40B4-BE49-F238E27FC236}">
                <a16:creationId xmlns:a16="http://schemas.microsoft.com/office/drawing/2014/main" id="{B82308F4-457A-45B4-BEB7-E3FA22ED7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97038"/>
            <a:ext cx="8382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47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647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647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647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647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cs-CZ" altLang="cs-CZ" b="1" i="1"/>
              <a:t>Písmová osnova</a:t>
            </a:r>
            <a:r>
              <a:rPr lang="cs-CZ" altLang="cs-CZ" b="1"/>
              <a:t>  –	soustava vodorovných přímek určující 					výškové proporce písma.</a:t>
            </a:r>
          </a:p>
        </p:txBody>
      </p:sp>
      <p:pic>
        <p:nvPicPr>
          <p:cNvPr id="22549" name="Picture 1045">
            <a:extLst>
              <a:ext uri="{FF2B5EF4-FFF2-40B4-BE49-F238E27FC236}">
                <a16:creationId xmlns:a16="http://schemas.microsoft.com/office/drawing/2014/main" id="{0C82BCF6-37E8-47C9-9405-6FE5698DF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16250"/>
            <a:ext cx="5364163" cy="258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50" name="Rectangle 1046">
            <a:extLst>
              <a:ext uri="{FF2B5EF4-FFF2-40B4-BE49-F238E27FC236}">
                <a16:creationId xmlns:a16="http://schemas.microsoft.com/office/drawing/2014/main" id="{F8A58F93-E6FB-495C-82D5-017463A81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5" y="3543300"/>
            <a:ext cx="259080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10000"/>
              </a:spcBef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10000"/>
              </a:spcBef>
              <a:buChar char="–"/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10000"/>
              </a:spcBef>
              <a:buChar char="–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10000"/>
              </a:spcBef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Symbol" panose="05050102010706020507" pitchFamily="18" charset="2"/>
              <a:buNone/>
            </a:pPr>
            <a:r>
              <a:rPr lang="cs-CZ" altLang="cs-CZ"/>
              <a:t>verzálková dotažnice</a:t>
            </a:r>
          </a:p>
        </p:txBody>
      </p:sp>
      <p:sp>
        <p:nvSpPr>
          <p:cNvPr id="22552" name="Rectangle 1048">
            <a:extLst>
              <a:ext uri="{FF2B5EF4-FFF2-40B4-BE49-F238E27FC236}">
                <a16:creationId xmlns:a16="http://schemas.microsoft.com/office/drawing/2014/main" id="{CD862816-A571-4E38-9DB5-067516FF3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3290888"/>
            <a:ext cx="2590800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10000"/>
              </a:spcBef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10000"/>
              </a:spcBef>
              <a:buChar char="–"/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10000"/>
              </a:spcBef>
              <a:buChar char="–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10000"/>
              </a:spcBef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Symbol" panose="05050102010706020507" pitchFamily="18" charset="2"/>
              <a:buNone/>
            </a:pPr>
            <a:r>
              <a:rPr lang="cs-CZ" altLang="cs-CZ"/>
              <a:t>horní dotažnice</a:t>
            </a:r>
          </a:p>
        </p:txBody>
      </p:sp>
      <p:sp>
        <p:nvSpPr>
          <p:cNvPr id="22553" name="Rectangle 1049">
            <a:extLst>
              <a:ext uri="{FF2B5EF4-FFF2-40B4-BE49-F238E27FC236}">
                <a16:creationId xmlns:a16="http://schemas.microsoft.com/office/drawing/2014/main" id="{4181DDCB-15DA-4D9F-AE7F-7236B2C9C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088" y="2879725"/>
            <a:ext cx="259080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10000"/>
              </a:spcBef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10000"/>
              </a:spcBef>
              <a:buChar char="–"/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10000"/>
              </a:spcBef>
              <a:buChar char="–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10000"/>
              </a:spcBef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Symbol" panose="05050102010706020507" pitchFamily="18" charset="2"/>
              <a:buNone/>
            </a:pPr>
            <a:r>
              <a:rPr lang="cs-CZ" altLang="cs-CZ"/>
              <a:t>akcentová dotažnice</a:t>
            </a:r>
          </a:p>
        </p:txBody>
      </p:sp>
      <p:sp>
        <p:nvSpPr>
          <p:cNvPr id="22554" name="Rectangle 1050">
            <a:extLst>
              <a:ext uri="{FF2B5EF4-FFF2-40B4-BE49-F238E27FC236}">
                <a16:creationId xmlns:a16="http://schemas.microsoft.com/office/drawing/2014/main" id="{84533D8C-0600-4BEA-8170-7AF7137E2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9963" y="3908425"/>
            <a:ext cx="259080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10000"/>
              </a:spcBef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10000"/>
              </a:spcBef>
              <a:buChar char="–"/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10000"/>
              </a:spcBef>
              <a:buChar char="–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10000"/>
              </a:spcBef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Symbol" panose="05050102010706020507" pitchFamily="18" charset="2"/>
              <a:buNone/>
            </a:pPr>
            <a:r>
              <a:rPr lang="cs-CZ" altLang="cs-CZ"/>
              <a:t>střední dotažnice</a:t>
            </a:r>
          </a:p>
        </p:txBody>
      </p:sp>
      <p:sp>
        <p:nvSpPr>
          <p:cNvPr id="22555" name="Rectangle 1051">
            <a:extLst>
              <a:ext uri="{FF2B5EF4-FFF2-40B4-BE49-F238E27FC236}">
                <a16:creationId xmlns:a16="http://schemas.microsoft.com/office/drawing/2014/main" id="{653511AB-1D84-4460-8193-4D5549508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118100"/>
            <a:ext cx="259080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10000"/>
              </a:spcBef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10000"/>
              </a:spcBef>
              <a:buChar char="–"/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10000"/>
              </a:spcBef>
              <a:buChar char="–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10000"/>
              </a:spcBef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Symbol" panose="05050102010706020507" pitchFamily="18" charset="2"/>
              <a:buNone/>
            </a:pPr>
            <a:r>
              <a:rPr lang="cs-CZ" altLang="cs-CZ"/>
              <a:t>dolní dotažnice</a:t>
            </a:r>
          </a:p>
        </p:txBody>
      </p:sp>
      <p:sp>
        <p:nvSpPr>
          <p:cNvPr id="22558" name="Rectangle 1054">
            <a:extLst>
              <a:ext uri="{FF2B5EF4-FFF2-40B4-BE49-F238E27FC236}">
                <a16:creationId xmlns:a16="http://schemas.microsoft.com/office/drawing/2014/main" id="{917565F7-B39D-4CEE-A2E6-814EAA9AF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9963" y="4637088"/>
            <a:ext cx="3094037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10000"/>
              </a:spcBef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10000"/>
              </a:spcBef>
              <a:buChar char="–"/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10000"/>
              </a:spcBef>
              <a:buChar char="–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10000"/>
              </a:spcBef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Symbol" panose="05050102010706020507" pitchFamily="18" charset="2"/>
              <a:buNone/>
            </a:pPr>
            <a:r>
              <a:rPr lang="cs-CZ" altLang="cs-CZ"/>
              <a:t>základní dotažnice (účaří)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 autoUpdateAnimBg="0"/>
      <p:bldP spid="22550" grpId="0" build="p" autoUpdateAnimBg="0"/>
      <p:bldP spid="22552" grpId="0" build="p" autoUpdateAnimBg="0"/>
      <p:bldP spid="22553" grpId="0" build="p" autoUpdateAnimBg="0"/>
      <p:bldP spid="22554" grpId="0" build="p" autoUpdateAnimBg="0"/>
      <p:bldP spid="22555" grpId="0" build="p" autoUpdateAnimBg="0"/>
      <p:bldP spid="22558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19D5EB04-51CB-4D77-BB38-EA8DA018BD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641350"/>
          </a:xfrm>
        </p:spPr>
        <p:txBody>
          <a:bodyPr/>
          <a:lstStyle/>
          <a:p>
            <a:r>
              <a:rPr lang="cs-CZ" altLang="cs-CZ"/>
              <a:t>Vlastnosti písma – kresba písmového znaku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1DD90D63-076E-4CEA-816B-05082CF33E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93838"/>
            <a:ext cx="8458200" cy="1676400"/>
          </a:xfrm>
        </p:spPr>
        <p:txBody>
          <a:bodyPr/>
          <a:lstStyle/>
          <a:p>
            <a:r>
              <a:rPr lang="cs-CZ" altLang="cs-CZ"/>
              <a:t>dřík </a:t>
            </a:r>
            <a:r>
              <a:rPr lang="cs-CZ" altLang="cs-CZ" b="0"/>
              <a:t>–</a:t>
            </a:r>
            <a:r>
              <a:rPr lang="cs-CZ" altLang="cs-CZ"/>
              <a:t> hlavní tah </a:t>
            </a:r>
          </a:p>
          <a:p>
            <a:r>
              <a:rPr lang="cs-CZ" altLang="cs-CZ"/>
              <a:t>serif (patka) </a:t>
            </a:r>
            <a:r>
              <a:rPr lang="cs-CZ" altLang="cs-CZ" b="0"/>
              <a:t>–</a:t>
            </a:r>
            <a:r>
              <a:rPr lang="cs-CZ" altLang="cs-CZ"/>
              <a:t> příčné ukončení tahu</a:t>
            </a:r>
          </a:p>
          <a:p>
            <a:r>
              <a:rPr lang="cs-CZ" altLang="cs-CZ"/>
              <a:t>stínování tahů</a:t>
            </a:r>
          </a:p>
          <a:p>
            <a:r>
              <a:rPr lang="cs-CZ" altLang="cs-CZ"/>
              <a:t>duktus </a:t>
            </a:r>
            <a:r>
              <a:rPr lang="cs-CZ" altLang="cs-CZ" b="0"/>
              <a:t>–</a:t>
            </a:r>
            <a:r>
              <a:rPr lang="cs-CZ" altLang="cs-CZ"/>
              <a:t> síla tahu</a:t>
            </a:r>
          </a:p>
        </p:txBody>
      </p:sp>
      <p:grpSp>
        <p:nvGrpSpPr>
          <p:cNvPr id="23572" name="Group 20">
            <a:extLst>
              <a:ext uri="{FF2B5EF4-FFF2-40B4-BE49-F238E27FC236}">
                <a16:creationId xmlns:a16="http://schemas.microsoft.com/office/drawing/2014/main" id="{8B4EB1AA-19E2-4421-873B-2477D7D09A9D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237038"/>
            <a:ext cx="4724400" cy="1979612"/>
            <a:chOff x="240" y="2765"/>
            <a:chExt cx="2976" cy="1247"/>
          </a:xfrm>
        </p:grpSpPr>
        <p:pic>
          <p:nvPicPr>
            <p:cNvPr id="23559" name="Picture 7">
              <a:extLst>
                <a:ext uri="{FF2B5EF4-FFF2-40B4-BE49-F238E27FC236}">
                  <a16:creationId xmlns:a16="http://schemas.microsoft.com/office/drawing/2014/main" id="{8178B72A-D4FA-44ED-8C46-48E280929A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3024"/>
              <a:ext cx="2242" cy="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561" name="Line 9">
              <a:extLst>
                <a:ext uri="{FF2B5EF4-FFF2-40B4-BE49-F238E27FC236}">
                  <a16:creationId xmlns:a16="http://schemas.microsoft.com/office/drawing/2014/main" id="{C212E439-8BFA-4438-A0AF-50EF2EBDD5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3168"/>
              <a:ext cx="22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23562" name="Line 10">
              <a:extLst>
                <a:ext uri="{FF2B5EF4-FFF2-40B4-BE49-F238E27FC236}">
                  <a16:creationId xmlns:a16="http://schemas.microsoft.com/office/drawing/2014/main" id="{33920A6E-F543-42D4-9110-871823C1B8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" y="3496"/>
              <a:ext cx="22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23563" name="Text Box 11">
              <a:extLst>
                <a:ext uri="{FF2B5EF4-FFF2-40B4-BE49-F238E27FC236}">
                  <a16:creationId xmlns:a16="http://schemas.microsoft.com/office/drawing/2014/main" id="{173E263F-C45E-4C9B-9C48-9BA2DD1982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765"/>
              <a:ext cx="12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cs-CZ" altLang="cs-CZ" sz="2000" b="1"/>
                <a:t>nestínovaný tah</a:t>
              </a:r>
            </a:p>
          </p:txBody>
        </p:sp>
        <p:sp>
          <p:nvSpPr>
            <p:cNvPr id="23564" name="Text Box 12">
              <a:extLst>
                <a:ext uri="{FF2B5EF4-FFF2-40B4-BE49-F238E27FC236}">
                  <a16:creationId xmlns:a16="http://schemas.microsoft.com/office/drawing/2014/main" id="{AC02F09A-C873-41FD-AFAA-8976625D0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" y="3566"/>
              <a:ext cx="120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2000" b="1"/>
                <a:t>stínovaný tah</a:t>
              </a:r>
              <a:br>
                <a:rPr lang="cs-CZ" altLang="cs-CZ" sz="2000" b="1"/>
              </a:br>
              <a:r>
                <a:rPr lang="cs-CZ" altLang="cs-CZ" sz="2000" b="1"/>
                <a:t>osa stínu šikmá</a:t>
              </a:r>
            </a:p>
          </p:txBody>
        </p:sp>
        <p:sp>
          <p:nvSpPr>
            <p:cNvPr id="23565" name="Text Box 13">
              <a:extLst>
                <a:ext uri="{FF2B5EF4-FFF2-40B4-BE49-F238E27FC236}">
                  <a16:creationId xmlns:a16="http://schemas.microsoft.com/office/drawing/2014/main" id="{718C43DB-3BC0-4E8A-864E-61FF4296F1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3570"/>
              <a:ext cx="120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2000" b="1"/>
                <a:t>stínovaný tah</a:t>
              </a:r>
              <a:br>
                <a:rPr lang="cs-CZ" altLang="cs-CZ" sz="2000" b="1"/>
              </a:br>
              <a:r>
                <a:rPr lang="cs-CZ" altLang="cs-CZ" sz="2000" b="1"/>
                <a:t>osa stínu kolmá</a:t>
              </a:r>
            </a:p>
          </p:txBody>
        </p:sp>
      </p:grpSp>
      <p:grpSp>
        <p:nvGrpSpPr>
          <p:cNvPr id="23571" name="Group 19">
            <a:extLst>
              <a:ext uri="{FF2B5EF4-FFF2-40B4-BE49-F238E27FC236}">
                <a16:creationId xmlns:a16="http://schemas.microsoft.com/office/drawing/2014/main" id="{DDBDB468-FB1E-4E1A-A969-94C5B9C34990}"/>
              </a:ext>
            </a:extLst>
          </p:cNvPr>
          <p:cNvGrpSpPr>
            <a:grpSpLocks/>
          </p:cNvGrpSpPr>
          <p:nvPr/>
        </p:nvGrpSpPr>
        <p:grpSpPr bwMode="auto">
          <a:xfrm>
            <a:off x="3641725" y="2560638"/>
            <a:ext cx="5426075" cy="2073275"/>
            <a:chOff x="2294" y="1613"/>
            <a:chExt cx="3418" cy="1306"/>
          </a:xfrm>
        </p:grpSpPr>
        <p:pic>
          <p:nvPicPr>
            <p:cNvPr id="23560" name="Picture 8">
              <a:extLst>
                <a:ext uri="{FF2B5EF4-FFF2-40B4-BE49-F238E27FC236}">
                  <a16:creationId xmlns:a16="http://schemas.microsoft.com/office/drawing/2014/main" id="{062E9D22-496F-4F27-9D46-979794030A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4" y="1613"/>
              <a:ext cx="3159" cy="1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566" name="Text Box 14">
              <a:extLst>
                <a:ext uri="{FF2B5EF4-FFF2-40B4-BE49-F238E27FC236}">
                  <a16:creationId xmlns:a16="http://schemas.microsoft.com/office/drawing/2014/main" id="{F216263D-5D4B-40F6-87A2-3A002D1E6E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2" y="2669"/>
              <a:ext cx="12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2000" b="1"/>
                <a:t>patka</a:t>
              </a:r>
            </a:p>
          </p:txBody>
        </p:sp>
        <p:sp>
          <p:nvSpPr>
            <p:cNvPr id="23567" name="Text Box 15">
              <a:extLst>
                <a:ext uri="{FF2B5EF4-FFF2-40B4-BE49-F238E27FC236}">
                  <a16:creationId xmlns:a16="http://schemas.microsoft.com/office/drawing/2014/main" id="{E049C86E-7012-4E64-B3B1-4D0FC7C19B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1747"/>
              <a:ext cx="12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2000" b="1"/>
                <a:t>přetah</a:t>
              </a:r>
            </a:p>
          </p:txBody>
        </p:sp>
        <p:sp>
          <p:nvSpPr>
            <p:cNvPr id="23568" name="Text Box 16">
              <a:extLst>
                <a:ext uri="{FF2B5EF4-FFF2-40B4-BE49-F238E27FC236}">
                  <a16:creationId xmlns:a16="http://schemas.microsoft.com/office/drawing/2014/main" id="{2E977210-0600-4631-91E7-EB3FA7D02A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9" y="2017"/>
              <a:ext cx="120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2000" b="1"/>
                <a:t>hlavní tah</a:t>
              </a:r>
              <a:br>
                <a:rPr lang="cs-CZ" altLang="cs-CZ" sz="2000" b="1"/>
              </a:br>
              <a:r>
                <a:rPr lang="cs-CZ" altLang="cs-CZ" sz="2000" b="1"/>
                <a:t>dřík</a:t>
              </a:r>
            </a:p>
          </p:txBody>
        </p:sp>
        <p:sp>
          <p:nvSpPr>
            <p:cNvPr id="23569" name="Line 17">
              <a:extLst>
                <a:ext uri="{FF2B5EF4-FFF2-40B4-BE49-F238E27FC236}">
                  <a16:creationId xmlns:a16="http://schemas.microsoft.com/office/drawing/2014/main" id="{918E4266-E63D-475F-9DE0-010E86BDF9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256"/>
              <a:ext cx="2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23570" name="Line 18">
              <a:extLst>
                <a:ext uri="{FF2B5EF4-FFF2-40B4-BE49-F238E27FC236}">
                  <a16:creationId xmlns:a16="http://schemas.microsoft.com/office/drawing/2014/main" id="{E9FB8231-2A54-4DB8-B123-0FD3BE5B4B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1" y="2256"/>
              <a:ext cx="2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9409264-AA25-4D40-B6FF-4580513E7A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484188"/>
            <a:ext cx="8534400" cy="641350"/>
          </a:xfrm>
        </p:spPr>
        <p:txBody>
          <a:bodyPr/>
          <a:lstStyle/>
          <a:p>
            <a:r>
              <a:rPr lang="cs-CZ" altLang="cs-CZ"/>
              <a:t>Typy písma I.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D5F102A-F53B-4721-88DB-3874257F32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534400" cy="771525"/>
          </a:xfrm>
        </p:spPr>
        <p:txBody>
          <a:bodyPr/>
          <a:lstStyle/>
          <a:p>
            <a:pPr marL="0" indent="0">
              <a:spcAft>
                <a:spcPct val="50000"/>
              </a:spcAft>
              <a:buFont typeface="Symbol" panose="05050102010706020507" pitchFamily="18" charset="2"/>
              <a:buNone/>
            </a:pPr>
            <a:r>
              <a:rPr lang="cs-CZ" altLang="cs-CZ" sz="2000"/>
              <a:t>Typy písma rozlišujeme podle kresby znaku. </a:t>
            </a:r>
            <a:br>
              <a:rPr lang="cs-CZ" altLang="cs-CZ" sz="2000"/>
            </a:br>
            <a:r>
              <a:rPr lang="cs-CZ" altLang="cs-CZ" sz="2000"/>
              <a:t>Každý typ písma má svoje jméno.</a:t>
            </a:r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85674BD2-F4F3-4874-884B-7B70B2189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1150" y="1819275"/>
            <a:ext cx="1428750" cy="601663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/>
          <a:lstStyle/>
          <a:p>
            <a:pPr algn="ctr">
              <a:spcBef>
                <a:spcPct val="50000"/>
              </a:spcBef>
            </a:pPr>
            <a:r>
              <a:rPr lang="cs-CZ" altLang="cs-CZ" sz="3600" b="1">
                <a:latin typeface="Courier New CE" panose="02070309020205020404" pitchFamily="49" charset="0"/>
              </a:rPr>
              <a:t>A</a:t>
            </a:r>
            <a:r>
              <a:rPr lang="cs-CZ" altLang="cs-CZ" sz="3600"/>
              <a:t> </a:t>
            </a:r>
            <a:r>
              <a:rPr lang="cs-CZ" altLang="cs-CZ" sz="3600">
                <a:solidFill>
                  <a:srgbClr val="006600"/>
                </a:solidFill>
                <a:sym typeface="Symbol" panose="05050102010706020507" pitchFamily="18" charset="2"/>
              </a:rPr>
              <a:t></a:t>
            </a:r>
            <a:r>
              <a:rPr lang="cs-CZ" altLang="cs-CZ" sz="3600">
                <a:sym typeface="Symbol" panose="05050102010706020507" pitchFamily="18" charset="2"/>
              </a:rPr>
              <a:t> </a:t>
            </a:r>
            <a:r>
              <a:rPr lang="cs-CZ" altLang="cs-CZ" sz="3600">
                <a:latin typeface="Zurich Ex BT" pitchFamily="34" charset="0"/>
                <a:sym typeface="Symbol" panose="05050102010706020507" pitchFamily="18" charset="2"/>
              </a:rPr>
              <a:t>A</a:t>
            </a:r>
            <a:endParaRPr lang="cs-CZ" altLang="cs-CZ" sz="3600"/>
          </a:p>
        </p:txBody>
      </p:sp>
      <p:sp>
        <p:nvSpPr>
          <p:cNvPr id="25605" name="Text Box 5">
            <a:extLst>
              <a:ext uri="{FF2B5EF4-FFF2-40B4-BE49-F238E27FC236}">
                <a16:creationId xmlns:a16="http://schemas.microsoft.com/office/drawing/2014/main" id="{01EA3552-CDA9-46B0-A7CC-095AB1985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667000"/>
            <a:ext cx="1428750" cy="601663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/>
          <a:lstStyle/>
          <a:p>
            <a:pPr algn="ctr">
              <a:spcBef>
                <a:spcPct val="50000"/>
              </a:spcBef>
            </a:pPr>
            <a:r>
              <a:rPr lang="cs-CZ" altLang="cs-CZ" sz="3600"/>
              <a:t>A </a:t>
            </a:r>
            <a:r>
              <a:rPr lang="cs-CZ" altLang="cs-CZ" sz="3600">
                <a:solidFill>
                  <a:srgbClr val="006600"/>
                </a:solidFill>
                <a:sym typeface="Symbol" panose="05050102010706020507" pitchFamily="18" charset="2"/>
              </a:rPr>
              <a:t></a:t>
            </a:r>
            <a:r>
              <a:rPr lang="cs-CZ" altLang="cs-CZ" sz="3600">
                <a:sym typeface="Symbol" panose="05050102010706020507" pitchFamily="18" charset="2"/>
              </a:rPr>
              <a:t> </a:t>
            </a:r>
            <a:r>
              <a:rPr lang="cs-CZ" altLang="cs-CZ" sz="3600">
                <a:latin typeface="AmerType Md BT" pitchFamily="18" charset="0"/>
                <a:sym typeface="Symbol" panose="05050102010706020507" pitchFamily="18" charset="2"/>
              </a:rPr>
              <a:t>A</a:t>
            </a:r>
            <a:endParaRPr lang="cs-CZ" altLang="cs-CZ" sz="3600"/>
          </a:p>
        </p:txBody>
      </p:sp>
      <p:sp>
        <p:nvSpPr>
          <p:cNvPr id="25606" name="Text Box 6">
            <a:extLst>
              <a:ext uri="{FF2B5EF4-FFF2-40B4-BE49-F238E27FC236}">
                <a16:creationId xmlns:a16="http://schemas.microsoft.com/office/drawing/2014/main" id="{ACF7CB34-140D-4264-9F95-B8A87A041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238500"/>
            <a:ext cx="1428750" cy="601663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/>
          <a:lstStyle/>
          <a:p>
            <a:pPr algn="ctr">
              <a:spcBef>
                <a:spcPct val="50000"/>
              </a:spcBef>
            </a:pPr>
            <a:r>
              <a:rPr lang="cs-CZ" altLang="cs-CZ" sz="3600">
                <a:latin typeface="Times New Roman CE" panose="02020603050405020304" pitchFamily="18" charset="0"/>
                <a:sym typeface="Symbol" panose="05050102010706020507" pitchFamily="18" charset="2"/>
              </a:rPr>
              <a:t>A</a:t>
            </a:r>
            <a:r>
              <a:rPr lang="cs-CZ" altLang="cs-CZ" sz="3600">
                <a:latin typeface="Verdana" panose="020B0604030504040204" pitchFamily="34" charset="0"/>
              </a:rPr>
              <a:t> </a:t>
            </a:r>
            <a:r>
              <a:rPr lang="cs-CZ" altLang="cs-CZ" sz="3600">
                <a:solidFill>
                  <a:srgbClr val="006600"/>
                </a:solidFill>
                <a:sym typeface="Symbol" panose="05050102010706020507" pitchFamily="18" charset="2"/>
              </a:rPr>
              <a:t> </a:t>
            </a:r>
            <a:r>
              <a:rPr lang="cs-CZ" altLang="cs-CZ" sz="3600">
                <a:latin typeface="Verdana" panose="020B0604030504040204" pitchFamily="34" charset="0"/>
              </a:rPr>
              <a:t>A</a:t>
            </a:r>
          </a:p>
        </p:txBody>
      </p:sp>
      <p:sp>
        <p:nvSpPr>
          <p:cNvPr id="25607" name="Text Box 7">
            <a:extLst>
              <a:ext uri="{FF2B5EF4-FFF2-40B4-BE49-F238E27FC236}">
                <a16:creationId xmlns:a16="http://schemas.microsoft.com/office/drawing/2014/main" id="{E47CDAE6-B6EC-4023-B1BD-A32C14299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684588"/>
            <a:ext cx="1428750" cy="601662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/>
          <a:lstStyle/>
          <a:p>
            <a:pPr algn="ctr">
              <a:spcBef>
                <a:spcPct val="50000"/>
              </a:spcBef>
            </a:pPr>
            <a:r>
              <a:rPr lang="cs-CZ" altLang="cs-CZ" sz="3600">
                <a:latin typeface="TechnicLite" pitchFamily="2" charset="2"/>
              </a:rPr>
              <a:t>A</a:t>
            </a:r>
            <a:r>
              <a:rPr lang="cs-CZ" altLang="cs-CZ" sz="3600"/>
              <a:t> </a:t>
            </a:r>
            <a:r>
              <a:rPr lang="cs-CZ" altLang="cs-CZ" sz="3600">
                <a:solidFill>
                  <a:srgbClr val="006600"/>
                </a:solidFill>
                <a:sym typeface="Symbol" panose="05050102010706020507" pitchFamily="18" charset="2"/>
              </a:rPr>
              <a:t></a:t>
            </a:r>
            <a:r>
              <a:rPr lang="cs-CZ" altLang="cs-CZ" sz="3600">
                <a:sym typeface="Symbol" panose="05050102010706020507" pitchFamily="18" charset="2"/>
              </a:rPr>
              <a:t> </a:t>
            </a:r>
            <a:r>
              <a:rPr lang="cs-CZ" altLang="cs-CZ" sz="3600" b="1">
                <a:latin typeface="TechnicBold" pitchFamily="2" charset="2"/>
                <a:sym typeface="Symbol" panose="05050102010706020507" pitchFamily="18" charset="2"/>
              </a:rPr>
              <a:t>A</a:t>
            </a:r>
            <a:endParaRPr lang="cs-CZ" altLang="cs-CZ" sz="3600"/>
          </a:p>
        </p:txBody>
      </p:sp>
      <p:sp>
        <p:nvSpPr>
          <p:cNvPr id="25608" name="Text Box 8">
            <a:extLst>
              <a:ext uri="{FF2B5EF4-FFF2-40B4-BE49-F238E27FC236}">
                <a16:creationId xmlns:a16="http://schemas.microsoft.com/office/drawing/2014/main" id="{FE07B720-8A64-484F-ADDD-269EBE7F7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760913"/>
            <a:ext cx="2971800" cy="156368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cs-CZ" altLang="cs-CZ" sz="3200"/>
              <a:t>proporční </a:t>
            </a:r>
          </a:p>
          <a:p>
            <a:r>
              <a:rPr lang="cs-CZ" altLang="cs-CZ" sz="3200" b="1">
                <a:latin typeface="Courier New CE" panose="02070309020205020404" pitchFamily="49" charset="0"/>
                <a:sym typeface="Symbol" panose="05050102010706020507" pitchFamily="18" charset="2"/>
              </a:rPr>
              <a:t>neproporční</a:t>
            </a:r>
            <a:endParaRPr lang="cs-CZ" altLang="cs-CZ" sz="3200">
              <a:latin typeface="Courier New CE" panose="02070309020205020404" pitchFamily="49" charset="0"/>
              <a:sym typeface="Symbol" panose="05050102010706020507" pitchFamily="18" charset="2"/>
            </a:endParaRPr>
          </a:p>
          <a:p>
            <a:r>
              <a:rPr lang="cs-CZ" altLang="cs-CZ" sz="3200">
                <a:latin typeface="Arial" panose="020B0604020202020204" pitchFamily="34" charset="0"/>
                <a:sym typeface="Symbol" panose="05050102010706020507" pitchFamily="18" charset="2"/>
              </a:rPr>
              <a:t>proporční</a:t>
            </a:r>
            <a:endParaRPr lang="cs-CZ" altLang="cs-CZ" sz="48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5410C583-E543-41EA-9873-0A910B8E4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3" y="2806700"/>
            <a:ext cx="8534400" cy="38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81000" indent="-3810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57250" indent="-285750">
              <a:spcBef>
                <a:spcPct val="10000"/>
              </a:spcBef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76350" indent="-228600">
              <a:spcBef>
                <a:spcPct val="10000"/>
              </a:spcBef>
              <a:buChar char="–"/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5450" indent="-228600">
              <a:spcBef>
                <a:spcPct val="10000"/>
              </a:spcBef>
              <a:buChar char="–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14550" indent="-228600">
              <a:spcBef>
                <a:spcPct val="10000"/>
              </a:spcBef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7175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95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8615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4335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ct val="50000"/>
              </a:spcAft>
            </a:pPr>
            <a:r>
              <a:rPr lang="cs-CZ" altLang="cs-CZ" sz="2000"/>
              <a:t>má-li patku, její přechod na hlavní tah (oblý/ostrý)</a:t>
            </a:r>
          </a:p>
        </p:txBody>
      </p:sp>
      <p:sp>
        <p:nvSpPr>
          <p:cNvPr id="25610" name="Rectangle 10">
            <a:extLst>
              <a:ext uri="{FF2B5EF4-FFF2-40B4-BE49-F238E27FC236}">
                <a16:creationId xmlns:a16="http://schemas.microsoft.com/office/drawing/2014/main" id="{06927766-FF86-4749-A557-654C3AD0B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3" y="3238500"/>
            <a:ext cx="8534400" cy="38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81000" indent="-3810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57250" indent="-285750">
              <a:spcBef>
                <a:spcPct val="10000"/>
              </a:spcBef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76350" indent="-228600">
              <a:spcBef>
                <a:spcPct val="10000"/>
              </a:spcBef>
              <a:buChar char="–"/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5450" indent="-228600">
              <a:spcBef>
                <a:spcPct val="10000"/>
              </a:spcBef>
              <a:buChar char="–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14550" indent="-228600">
              <a:spcBef>
                <a:spcPct val="10000"/>
              </a:spcBef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7175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95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8615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4335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cs-CZ" altLang="cs-CZ" sz="2000"/>
              <a:t>stínovaný/nestínovaný tah</a:t>
            </a:r>
          </a:p>
        </p:txBody>
      </p:sp>
      <p:sp>
        <p:nvSpPr>
          <p:cNvPr id="25611" name="Rectangle 11">
            <a:extLst>
              <a:ext uri="{FF2B5EF4-FFF2-40B4-BE49-F238E27FC236}">
                <a16:creationId xmlns:a16="http://schemas.microsoft.com/office/drawing/2014/main" id="{E631DCEA-F137-4B1F-A3ED-7E3B8C786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3" y="3654425"/>
            <a:ext cx="8534400" cy="38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81000" indent="-3810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tabLst>
                <a:tab pos="38100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57250" indent="-285750">
              <a:spcBef>
                <a:spcPct val="10000"/>
              </a:spcBef>
              <a:buChar char="•"/>
              <a:tabLst>
                <a:tab pos="381000" algn="l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76350" indent="-228600">
              <a:spcBef>
                <a:spcPct val="10000"/>
              </a:spcBef>
              <a:buChar char="–"/>
              <a:tabLst>
                <a:tab pos="381000" algn="l"/>
              </a:tabLs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5450" indent="-228600">
              <a:spcBef>
                <a:spcPct val="10000"/>
              </a:spcBef>
              <a:buChar char="–"/>
              <a:tabLst>
                <a:tab pos="381000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14550" indent="-228600">
              <a:spcBef>
                <a:spcPct val="10000"/>
              </a:spcBef>
              <a:buChar char="»"/>
              <a:tabLst>
                <a:tab pos="381000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7175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tabLst>
                <a:tab pos="381000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95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tabLst>
                <a:tab pos="381000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8615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tabLst>
                <a:tab pos="381000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4335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tabLst>
                <a:tab pos="381000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cs-CZ" altLang="cs-CZ" sz="2000"/>
              <a:t>síla tahů (duktus)</a:t>
            </a:r>
          </a:p>
        </p:txBody>
      </p:sp>
      <p:sp>
        <p:nvSpPr>
          <p:cNvPr id="25612" name="Rectangle 12">
            <a:extLst>
              <a:ext uri="{FF2B5EF4-FFF2-40B4-BE49-F238E27FC236}">
                <a16:creationId xmlns:a16="http://schemas.microsoft.com/office/drawing/2014/main" id="{8E99AAB6-5F19-46C1-AE7E-F6538A93D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3" y="4070350"/>
            <a:ext cx="8534400" cy="38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81000" indent="-3810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tabLst>
                <a:tab pos="38100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57250" indent="-285750">
              <a:spcBef>
                <a:spcPct val="10000"/>
              </a:spcBef>
              <a:buChar char="•"/>
              <a:tabLst>
                <a:tab pos="381000" algn="l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76350" indent="-228600">
              <a:spcBef>
                <a:spcPct val="10000"/>
              </a:spcBef>
              <a:buChar char="–"/>
              <a:tabLst>
                <a:tab pos="381000" algn="l"/>
              </a:tabLs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5450" indent="-228600">
              <a:spcBef>
                <a:spcPct val="10000"/>
              </a:spcBef>
              <a:buChar char="–"/>
              <a:tabLst>
                <a:tab pos="381000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14550" indent="-228600">
              <a:spcBef>
                <a:spcPct val="10000"/>
              </a:spcBef>
              <a:buChar char="»"/>
              <a:tabLst>
                <a:tab pos="381000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7175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tabLst>
                <a:tab pos="381000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95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tabLst>
                <a:tab pos="381000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8615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tabLst>
                <a:tab pos="381000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4335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tabLst>
                <a:tab pos="381000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30000"/>
              </a:spcBef>
            </a:pPr>
            <a:r>
              <a:rPr lang="cs-CZ" altLang="cs-CZ" sz="2000"/>
              <a:t>proporce písma</a:t>
            </a:r>
            <a:br>
              <a:rPr lang="cs-CZ" altLang="cs-CZ" sz="2000"/>
            </a:br>
            <a:r>
              <a:rPr lang="cs-CZ" altLang="cs-CZ" sz="2000"/>
              <a:t>- šířkové</a:t>
            </a:r>
            <a:br>
              <a:rPr lang="cs-CZ" altLang="cs-CZ" sz="2000"/>
            </a:br>
            <a:r>
              <a:rPr lang="cs-CZ" altLang="cs-CZ" sz="2000"/>
              <a:t>- výškové</a:t>
            </a:r>
          </a:p>
        </p:txBody>
      </p:sp>
      <p:sp>
        <p:nvSpPr>
          <p:cNvPr id="25613" name="Rectangle 13">
            <a:extLst>
              <a:ext uri="{FF2B5EF4-FFF2-40B4-BE49-F238E27FC236}">
                <a16:creationId xmlns:a16="http://schemas.microsoft.com/office/drawing/2014/main" id="{21CF87DB-49E2-476A-98B7-3B335001F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3" y="1897063"/>
            <a:ext cx="8534400" cy="769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81000" indent="-3810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57250" indent="-285750">
              <a:spcBef>
                <a:spcPct val="10000"/>
              </a:spcBef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76350" indent="-228600">
              <a:spcBef>
                <a:spcPct val="10000"/>
              </a:spcBef>
              <a:buChar char="–"/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5450" indent="-228600">
              <a:spcBef>
                <a:spcPct val="10000"/>
              </a:spcBef>
              <a:buChar char="–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14550" indent="-228600">
              <a:spcBef>
                <a:spcPct val="10000"/>
              </a:spcBef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7175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95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8615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4335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ct val="50000"/>
              </a:spcAft>
              <a:buFont typeface="Symbol" panose="05050102010706020507" pitchFamily="18" charset="2"/>
              <a:buNone/>
            </a:pPr>
            <a:r>
              <a:rPr lang="cs-CZ" altLang="cs-CZ" sz="2000" i="1"/>
              <a:t>Charakteristické znaky pro rozlišení:</a:t>
            </a:r>
            <a:endParaRPr lang="cs-CZ" altLang="cs-CZ" sz="2000">
              <a:solidFill>
                <a:srgbClr val="A50021"/>
              </a:solidFill>
            </a:endParaRPr>
          </a:p>
          <a:p>
            <a:pPr>
              <a:spcBef>
                <a:spcPct val="0"/>
              </a:spcBef>
            </a:pPr>
            <a:r>
              <a:rPr lang="cs-CZ" altLang="cs-CZ" sz="2000"/>
              <a:t>způsob zakončení tahu (má/nemá patku)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animBg="1" autoUpdateAnimBg="0"/>
      <p:bldP spid="25605" grpId="0" animBg="1" autoUpdateAnimBg="0"/>
      <p:bldP spid="25606" grpId="0" animBg="1" autoUpdateAnimBg="0"/>
      <p:bldP spid="25607" grpId="0" animBg="1" autoUpdateAnimBg="0"/>
      <p:bldP spid="25608" grpId="0" animBg="1" autoUpdateAnimBg="0"/>
      <p:bldP spid="25609" grpId="0" autoUpdateAnimBg="0"/>
      <p:bldP spid="25610" grpId="0" autoUpdateAnimBg="0"/>
      <p:bldP spid="25611" grpId="0" autoUpdateAnimBg="0"/>
      <p:bldP spid="25612" grpId="0" autoUpdateAnimBg="0"/>
      <p:bldP spid="2561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>
            <a:extLst>
              <a:ext uri="{FF2B5EF4-FFF2-40B4-BE49-F238E27FC236}">
                <a16:creationId xmlns:a16="http://schemas.microsoft.com/office/drawing/2014/main" id="{F0FC163C-ED1C-4C46-91A8-9C028E274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3657600"/>
          </a:xfrm>
        </p:spPr>
        <p:txBody>
          <a:bodyPr/>
          <a:lstStyle/>
          <a:p>
            <a:r>
              <a:rPr lang="cs-CZ" altLang="cs-CZ" sz="2000" i="1">
                <a:effectLst>
                  <a:outerShdw blurRad="38100" dist="38100" dir="2700000" algn="tl">
                    <a:srgbClr val="C0C0C0"/>
                  </a:outerShdw>
                </a:effectLst>
              </a:rPr>
              <a:t>Řez písma</a:t>
            </a:r>
            <a:r>
              <a:rPr lang="cs-CZ" altLang="cs-CZ" sz="2000"/>
              <a:t> je varianta písma, která se svou kresbou liší od základního písma. Má s ním společnou písmovou osnovu, výškové proporce a základní kresebné znaky.</a:t>
            </a:r>
          </a:p>
          <a:p>
            <a:r>
              <a:rPr lang="cs-CZ" altLang="cs-CZ" sz="2000" i="1">
                <a:effectLst>
                  <a:outerShdw blurRad="38100" dist="38100" dir="2700000" algn="tl">
                    <a:srgbClr val="C0C0C0"/>
                  </a:outerShdw>
                </a:effectLst>
              </a:rPr>
              <a:t>Rodina písma</a:t>
            </a:r>
            <a:r>
              <a:rPr lang="cs-CZ" altLang="cs-CZ" sz="2000"/>
              <a:t> </a:t>
            </a:r>
            <a:r>
              <a:rPr lang="cs-CZ" altLang="cs-CZ" b="0"/>
              <a:t>–</a:t>
            </a:r>
            <a:r>
              <a:rPr lang="cs-CZ" altLang="cs-CZ" sz="2000"/>
              <a:t> všechny řezy jednoho typu písma. </a:t>
            </a:r>
          </a:p>
          <a:p>
            <a:pPr>
              <a:spcBef>
                <a:spcPct val="30000"/>
              </a:spcBef>
            </a:pPr>
            <a:r>
              <a:rPr lang="cs-CZ" altLang="cs-CZ" sz="2000" i="1"/>
              <a:t>Základní řezy:</a:t>
            </a:r>
          </a:p>
          <a:p>
            <a:pPr lvl="1">
              <a:spcBef>
                <a:spcPct val="30000"/>
              </a:spcBef>
            </a:pPr>
            <a:r>
              <a:rPr lang="cs-CZ" altLang="cs-CZ"/>
              <a:t>základní (roman, regular)	</a:t>
            </a:r>
          </a:p>
          <a:p>
            <a:pPr lvl="1">
              <a:spcBef>
                <a:spcPct val="30000"/>
              </a:spcBef>
            </a:pPr>
            <a:r>
              <a:rPr lang="cs-CZ" altLang="cs-CZ"/>
              <a:t>tučné (polotučné, velmi tučné)</a:t>
            </a:r>
          </a:p>
          <a:p>
            <a:pPr lvl="1">
              <a:spcBef>
                <a:spcPct val="30000"/>
              </a:spcBef>
            </a:pPr>
            <a:r>
              <a:rPr lang="cs-CZ" altLang="cs-CZ"/>
              <a:t>kurzíva</a:t>
            </a:r>
          </a:p>
          <a:p>
            <a:pPr lvl="1">
              <a:spcBef>
                <a:spcPct val="30000"/>
              </a:spcBef>
            </a:pPr>
            <a:r>
              <a:rPr lang="cs-CZ" altLang="cs-CZ"/>
              <a:t>tučná kurzíva (polotučná)</a:t>
            </a:r>
          </a:p>
          <a:p>
            <a:pPr lvl="1">
              <a:spcBef>
                <a:spcPct val="30000"/>
              </a:spcBef>
            </a:pPr>
            <a:r>
              <a:rPr lang="cs-CZ" altLang="cs-CZ"/>
              <a:t>kapitálky </a:t>
            </a: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254D13E4-F987-45FB-A918-833FCE214F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534400" cy="641350"/>
          </a:xfrm>
        </p:spPr>
        <p:txBody>
          <a:bodyPr/>
          <a:lstStyle/>
          <a:p>
            <a:r>
              <a:rPr lang="cs-CZ" altLang="cs-CZ"/>
              <a:t>Typy písma II.</a:t>
            </a:r>
          </a:p>
        </p:txBody>
      </p:sp>
      <p:sp>
        <p:nvSpPr>
          <p:cNvPr id="33796" name="Text Box 4">
            <a:extLst>
              <a:ext uri="{FF2B5EF4-FFF2-40B4-BE49-F238E27FC236}">
                <a16:creationId xmlns:a16="http://schemas.microsoft.com/office/drawing/2014/main" id="{004353FF-AE93-4183-9E49-933A81CE2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336925"/>
            <a:ext cx="2608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000"/>
              <a:t>Times New Roman</a:t>
            </a:r>
          </a:p>
        </p:txBody>
      </p:sp>
      <p:sp>
        <p:nvSpPr>
          <p:cNvPr id="33812" name="Text Box 20">
            <a:extLst>
              <a:ext uri="{FF2B5EF4-FFF2-40B4-BE49-F238E27FC236}">
                <a16:creationId xmlns:a16="http://schemas.microsoft.com/office/drawing/2014/main" id="{053B3640-C7BE-411F-BE72-1879702F0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763963"/>
            <a:ext cx="2895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000" b="1"/>
              <a:t>Times New Roman</a:t>
            </a:r>
            <a:endParaRPr lang="cs-CZ" altLang="cs-CZ" sz="2000"/>
          </a:p>
        </p:txBody>
      </p:sp>
      <p:sp>
        <p:nvSpPr>
          <p:cNvPr id="33813" name="Text Box 21">
            <a:extLst>
              <a:ext uri="{FF2B5EF4-FFF2-40B4-BE49-F238E27FC236}">
                <a16:creationId xmlns:a16="http://schemas.microsoft.com/office/drawing/2014/main" id="{2C8E2C0F-C693-4B68-834D-D1E6D1EDB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160838"/>
            <a:ext cx="2667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000" i="1"/>
              <a:t>Times New Roman</a:t>
            </a:r>
            <a:endParaRPr lang="cs-CZ" altLang="cs-CZ" sz="2000"/>
          </a:p>
        </p:txBody>
      </p:sp>
      <p:sp>
        <p:nvSpPr>
          <p:cNvPr id="33814" name="Text Box 22">
            <a:extLst>
              <a:ext uri="{FF2B5EF4-FFF2-40B4-BE49-F238E27FC236}">
                <a16:creationId xmlns:a16="http://schemas.microsoft.com/office/drawing/2014/main" id="{9C468F7F-AD8E-4878-B0BE-81713A6FC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557713"/>
            <a:ext cx="2667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000" b="1" i="1"/>
              <a:t>Times New Roman</a:t>
            </a:r>
            <a:r>
              <a:rPr lang="cs-CZ" altLang="cs-CZ" sz="2000"/>
              <a:t> </a:t>
            </a:r>
          </a:p>
        </p:txBody>
      </p:sp>
      <p:pic>
        <p:nvPicPr>
          <p:cNvPr id="33829" name="Picture 37">
            <a:extLst>
              <a:ext uri="{FF2B5EF4-FFF2-40B4-BE49-F238E27FC236}">
                <a16:creationId xmlns:a16="http://schemas.microsoft.com/office/drawing/2014/main" id="{637C9F42-C616-41C5-83EC-0B67C480A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954588"/>
            <a:ext cx="31496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4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3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 autoUpdateAnimBg="0"/>
      <p:bldP spid="33796" grpId="0" autoUpdateAnimBg="0"/>
      <p:bldP spid="33812" grpId="0" autoUpdateAnimBg="0"/>
      <p:bldP spid="33813" grpId="0" autoUpdateAnimBg="0"/>
      <p:bldP spid="3381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51693FE-AF35-4E89-8278-449695583E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Klasifikace písem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F1F1940-837D-41CB-A625-D242B3ECF4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458200" cy="2971800"/>
          </a:xfrm>
        </p:spPr>
        <p:txBody>
          <a:bodyPr/>
          <a:lstStyle/>
          <a:p>
            <a:r>
              <a:rPr lang="cs-CZ" altLang="cs-CZ"/>
              <a:t>Antikva </a:t>
            </a:r>
            <a:r>
              <a:rPr lang="cs-CZ" altLang="cs-CZ" b="0"/>
              <a:t>–</a:t>
            </a:r>
            <a:r>
              <a:rPr lang="cs-CZ" altLang="cs-CZ"/>
              <a:t> patkové se stínovanými tahy</a:t>
            </a:r>
          </a:p>
          <a:p>
            <a:pPr lvl="1"/>
            <a:r>
              <a:rPr lang="cs-CZ" altLang="cs-CZ"/>
              <a:t>dynamická </a:t>
            </a:r>
            <a:r>
              <a:rPr lang="cs-CZ" altLang="cs-CZ" b="0"/>
              <a:t>–</a:t>
            </a:r>
            <a:r>
              <a:rPr lang="cs-CZ" altLang="cs-CZ"/>
              <a:t> nejběžnější knižní písmo</a:t>
            </a:r>
          </a:p>
          <a:p>
            <a:pPr lvl="1"/>
            <a:r>
              <a:rPr lang="cs-CZ" altLang="cs-CZ"/>
              <a:t>přechodová</a:t>
            </a:r>
          </a:p>
          <a:p>
            <a:pPr lvl="1"/>
            <a:r>
              <a:rPr lang="cs-CZ" altLang="cs-CZ"/>
              <a:t>statická</a:t>
            </a:r>
          </a:p>
          <a:p>
            <a:r>
              <a:rPr lang="cs-CZ" altLang="cs-CZ"/>
              <a:t>Lineární bezpatkové písmo </a:t>
            </a:r>
            <a:r>
              <a:rPr lang="cs-CZ" altLang="cs-CZ" b="0"/>
              <a:t>– </a:t>
            </a:r>
            <a:r>
              <a:rPr lang="cs-CZ" altLang="cs-CZ" sz="2000" b="0"/>
              <a:t>pro nadpisy a nápisy</a:t>
            </a:r>
            <a:endParaRPr lang="cs-CZ" altLang="cs-CZ"/>
          </a:p>
          <a:p>
            <a:r>
              <a:rPr lang="cs-CZ" altLang="cs-CZ"/>
              <a:t>Lineární patkové písmo</a:t>
            </a:r>
          </a:p>
          <a:p>
            <a:r>
              <a:rPr lang="cs-CZ" altLang="cs-CZ"/>
              <a:t>Psaná písma</a:t>
            </a:r>
          </a:p>
        </p:txBody>
      </p:sp>
      <p:pic>
        <p:nvPicPr>
          <p:cNvPr id="27652" name="Picture 4">
            <a:extLst>
              <a:ext uri="{FF2B5EF4-FFF2-40B4-BE49-F238E27FC236}">
                <a16:creationId xmlns:a16="http://schemas.microsoft.com/office/drawing/2014/main" id="{A776426D-DD76-403B-A06E-23D81EE27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48200"/>
            <a:ext cx="4400550" cy="131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657" name="Rectangle 9">
            <a:extLst>
              <a:ext uri="{FF2B5EF4-FFF2-40B4-BE49-F238E27FC236}">
                <a16:creationId xmlns:a16="http://schemas.microsoft.com/office/drawing/2014/main" id="{BDD65DE2-71FE-4C40-BF91-63AB8C24C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3763963"/>
            <a:ext cx="845820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10000"/>
              </a:spcBef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10000"/>
              </a:spcBef>
              <a:buChar char="–"/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10000"/>
              </a:spcBef>
              <a:buChar char="–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10000"/>
              </a:spcBef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cs-CZ" altLang="cs-CZ"/>
              <a:t>Zdobená písma</a:t>
            </a:r>
          </a:p>
        </p:txBody>
      </p:sp>
      <p:sp>
        <p:nvSpPr>
          <p:cNvPr id="27658" name="Text Box 10">
            <a:extLst>
              <a:ext uri="{FF2B5EF4-FFF2-40B4-BE49-F238E27FC236}">
                <a16:creationId xmlns:a16="http://schemas.microsoft.com/office/drawing/2014/main" id="{9B2185F8-CF30-4635-8B90-413EC66A3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2325" y="3306763"/>
            <a:ext cx="3352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2800">
                <a:latin typeface="CommercialScript BT" pitchFamily="66" charset="0"/>
              </a:rPr>
              <a:t>Milá maminko,</a:t>
            </a:r>
            <a:br>
              <a:rPr lang="cs-CZ" altLang="cs-CZ" sz="2800">
                <a:latin typeface="CommercialScript BT" pitchFamily="66" charset="0"/>
              </a:rPr>
            </a:br>
            <a:r>
              <a:rPr lang="cs-CZ" altLang="cs-CZ" sz="2800">
                <a:latin typeface="CommercialScript BT" pitchFamily="66" charset="0"/>
              </a:rPr>
              <a:t>píšu Ti psaníčko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 autoUpdateAnimBg="0"/>
      <p:bldP spid="27657" grpId="0" autoUpdateAnimBg="0"/>
      <p:bldP spid="2765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8639BDC3-EC62-4378-8353-4A8FB3D068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Typografické míry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4F8EE3E-7A6F-4897-AE70-20740225D9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143000"/>
            <a:ext cx="7696200" cy="3200400"/>
          </a:xfrm>
        </p:spPr>
        <p:txBody>
          <a:bodyPr/>
          <a:lstStyle/>
          <a:p>
            <a:r>
              <a:rPr lang="cs-CZ" altLang="cs-CZ"/>
              <a:t>evropský typografický měrný systém – Didotův</a:t>
            </a:r>
            <a:endParaRPr lang="cs-CZ" altLang="cs-CZ">
              <a:solidFill>
                <a:srgbClr val="A50021"/>
              </a:solidFill>
            </a:endParaRPr>
          </a:p>
          <a:p>
            <a:pPr marL="819150" lvl="1"/>
            <a:r>
              <a:rPr lang="cs-CZ" altLang="cs-CZ"/>
              <a:t>1 bod = 0,3759 mm (zkratka b)</a:t>
            </a:r>
          </a:p>
          <a:p>
            <a:pPr marL="819150" lvl="1"/>
            <a:r>
              <a:rPr lang="cs-CZ" altLang="cs-CZ" b="0"/>
              <a:t>12 bodů = 1 cicero = 4,513 mm</a:t>
            </a:r>
            <a:endParaRPr lang="cs-CZ" altLang="cs-CZ"/>
          </a:p>
          <a:p>
            <a:r>
              <a:rPr lang="cs-CZ" altLang="cs-CZ"/>
              <a:t>anglo–americký typografický měrný systém</a:t>
            </a:r>
          </a:p>
          <a:p>
            <a:pPr marL="819150" lvl="1"/>
            <a:r>
              <a:rPr lang="cs-CZ" altLang="cs-CZ"/>
              <a:t>1 point = 0,3528 mm (zkratka pt)</a:t>
            </a:r>
          </a:p>
          <a:p>
            <a:pPr marL="819150" lvl="1"/>
            <a:r>
              <a:rPr lang="cs-CZ" altLang="cs-CZ" b="0"/>
              <a:t>12 points = 1 pica = 4,23 mm</a:t>
            </a:r>
            <a:endParaRPr lang="cs-CZ" altLang="cs-CZ"/>
          </a:p>
          <a:p>
            <a:pPr marL="819150" lvl="1"/>
            <a:r>
              <a:rPr lang="cs-CZ" altLang="cs-CZ"/>
              <a:t>72 points = 6 picas = 1 inch = 2,54 cm</a:t>
            </a:r>
          </a:p>
        </p:txBody>
      </p:sp>
      <p:grpSp>
        <p:nvGrpSpPr>
          <p:cNvPr id="28689" name="Group 17">
            <a:extLst>
              <a:ext uri="{FF2B5EF4-FFF2-40B4-BE49-F238E27FC236}">
                <a16:creationId xmlns:a16="http://schemas.microsoft.com/office/drawing/2014/main" id="{50D91DCB-B457-4BB2-B9F7-E5CA514CF804}"/>
              </a:ext>
            </a:extLst>
          </p:cNvPr>
          <p:cNvGrpSpPr>
            <a:grpSpLocks/>
          </p:cNvGrpSpPr>
          <p:nvPr/>
        </p:nvGrpSpPr>
        <p:grpSpPr bwMode="auto">
          <a:xfrm>
            <a:off x="419100" y="1731963"/>
            <a:ext cx="727075" cy="1773237"/>
            <a:chOff x="264" y="1091"/>
            <a:chExt cx="458" cy="1117"/>
          </a:xfrm>
        </p:grpSpPr>
        <p:sp>
          <p:nvSpPr>
            <p:cNvPr id="28676" name="AutoShape 4">
              <a:extLst>
                <a:ext uri="{FF2B5EF4-FFF2-40B4-BE49-F238E27FC236}">
                  <a16:creationId xmlns:a16="http://schemas.microsoft.com/office/drawing/2014/main" id="{A5ADFBA6-EFB4-4786-9937-A18CFF50B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091"/>
              <a:ext cx="146" cy="1117"/>
            </a:xfrm>
            <a:prstGeom prst="curvedRightArrow">
              <a:avLst>
                <a:gd name="adj1" fmla="val 153014"/>
                <a:gd name="adj2" fmla="val 306027"/>
                <a:gd name="adj3" fmla="val 34931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28677" name="Text Box 5">
              <a:extLst>
                <a:ext uri="{FF2B5EF4-FFF2-40B4-BE49-F238E27FC236}">
                  <a16:creationId xmlns:a16="http://schemas.microsoft.com/office/drawing/2014/main" id="{A92F352E-A51E-4FEA-8274-7B12F022E6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-36" y="1454"/>
              <a:ext cx="8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  <a:r>
                <a:rPr lang="cs-CZ" altLang="cs-CZ" b="1">
                  <a:solidFill>
                    <a:schemeClr val="accent2"/>
                  </a:solidFill>
                </a:rPr>
                <a:t>0,9385</a:t>
              </a:r>
            </a:p>
          </p:txBody>
        </p:sp>
      </p:grpSp>
      <p:grpSp>
        <p:nvGrpSpPr>
          <p:cNvPr id="28690" name="Group 18">
            <a:extLst>
              <a:ext uri="{FF2B5EF4-FFF2-40B4-BE49-F238E27FC236}">
                <a16:creationId xmlns:a16="http://schemas.microsoft.com/office/drawing/2014/main" id="{1A99F0DC-A116-47A7-B7AF-494E0EA65BAC}"/>
              </a:ext>
            </a:extLst>
          </p:cNvPr>
          <p:cNvGrpSpPr>
            <a:grpSpLocks/>
          </p:cNvGrpSpPr>
          <p:nvPr/>
        </p:nvGrpSpPr>
        <p:grpSpPr bwMode="auto">
          <a:xfrm>
            <a:off x="7242175" y="1676400"/>
            <a:ext cx="822325" cy="1828800"/>
            <a:chOff x="4562" y="1056"/>
            <a:chExt cx="518" cy="1152"/>
          </a:xfrm>
        </p:grpSpPr>
        <p:sp>
          <p:nvSpPr>
            <p:cNvPr id="28678" name="AutoShape 6">
              <a:extLst>
                <a:ext uri="{FF2B5EF4-FFF2-40B4-BE49-F238E27FC236}">
                  <a16:creationId xmlns:a16="http://schemas.microsoft.com/office/drawing/2014/main" id="{9F610270-B33C-4D4E-8FA8-5C0689CA39A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4562" y="1056"/>
              <a:ext cx="190" cy="1152"/>
            </a:xfrm>
            <a:prstGeom prst="curvedRightArrow">
              <a:avLst>
                <a:gd name="adj1" fmla="val 121263"/>
                <a:gd name="adj2" fmla="val 242526"/>
                <a:gd name="adj3" fmla="val 33333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28679" name="Text Box 7">
              <a:extLst>
                <a:ext uri="{FF2B5EF4-FFF2-40B4-BE49-F238E27FC236}">
                  <a16:creationId xmlns:a16="http://schemas.microsoft.com/office/drawing/2014/main" id="{43E32EA9-DF9D-4584-B38B-74C278384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 flipH="1">
              <a:off x="4492" y="1430"/>
              <a:ext cx="8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  <a:r>
                <a:rPr lang="cs-CZ" altLang="cs-CZ" b="1">
                  <a:solidFill>
                    <a:schemeClr val="accent2"/>
                  </a:solidFill>
                </a:rPr>
                <a:t>1,0655</a:t>
              </a:r>
            </a:p>
          </p:txBody>
        </p:sp>
      </p:grpSp>
      <p:grpSp>
        <p:nvGrpSpPr>
          <p:cNvPr id="28685" name="Group 13">
            <a:extLst>
              <a:ext uri="{FF2B5EF4-FFF2-40B4-BE49-F238E27FC236}">
                <a16:creationId xmlns:a16="http://schemas.microsoft.com/office/drawing/2014/main" id="{324CCADF-C2AF-4D0E-A2E3-77FD3A21BF44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4343400"/>
            <a:ext cx="8153400" cy="1098550"/>
            <a:chOff x="288" y="2736"/>
            <a:chExt cx="5136" cy="692"/>
          </a:xfrm>
        </p:grpSpPr>
        <p:sp>
          <p:nvSpPr>
            <p:cNvPr id="28680" name="Text Box 8">
              <a:extLst>
                <a:ext uri="{FF2B5EF4-FFF2-40B4-BE49-F238E27FC236}">
                  <a16:creationId xmlns:a16="http://schemas.microsoft.com/office/drawing/2014/main" id="{D8F4D7EF-946E-4908-B312-5E87C958EC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736"/>
              <a:ext cx="5136" cy="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5400" b="1"/>
                <a:t>54 points</a:t>
              </a:r>
              <a:r>
                <a:rPr lang="cs-CZ" altLang="cs-CZ" sz="3600"/>
                <a:t>     </a:t>
              </a:r>
              <a:r>
                <a:rPr lang="cs-CZ" altLang="cs-CZ" sz="6600" b="1">
                  <a:solidFill>
                    <a:srgbClr val="006600"/>
                  </a:solidFill>
                  <a:sym typeface="Symbol" panose="05050102010706020507" pitchFamily="18" charset="2"/>
                </a:rPr>
                <a:t></a:t>
              </a:r>
              <a:r>
                <a:rPr lang="cs-CZ" altLang="cs-CZ" sz="3600" b="1">
                  <a:solidFill>
                    <a:srgbClr val="006600"/>
                  </a:solidFill>
                  <a:sym typeface="Symbol" panose="05050102010706020507" pitchFamily="18" charset="2"/>
                </a:rPr>
                <a:t>     </a:t>
              </a:r>
              <a:r>
                <a:rPr lang="cs-CZ" altLang="cs-CZ" sz="5800" b="1">
                  <a:sym typeface="Symbol" panose="05050102010706020507" pitchFamily="18" charset="2"/>
                </a:rPr>
                <a:t>54 bodů</a:t>
              </a:r>
              <a:endParaRPr lang="cs-CZ" altLang="cs-CZ"/>
            </a:p>
          </p:txBody>
        </p:sp>
        <p:grpSp>
          <p:nvGrpSpPr>
            <p:cNvPr id="28684" name="Group 12">
              <a:extLst>
                <a:ext uri="{FF2B5EF4-FFF2-40B4-BE49-F238E27FC236}">
                  <a16:creationId xmlns:a16="http://schemas.microsoft.com/office/drawing/2014/main" id="{FD74BB8B-980A-4C96-947C-90BFD77E5D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2" y="2972"/>
              <a:ext cx="4318" cy="316"/>
              <a:chOff x="1248" y="2972"/>
              <a:chExt cx="3244" cy="316"/>
            </a:xfrm>
          </p:grpSpPr>
          <p:sp>
            <p:nvSpPr>
              <p:cNvPr id="28681" name="Line 9">
                <a:extLst>
                  <a:ext uri="{FF2B5EF4-FFF2-40B4-BE49-F238E27FC236}">
                    <a16:creationId xmlns:a16="http://schemas.microsoft.com/office/drawing/2014/main" id="{C542F47D-2B50-442F-9F7F-588ACF5091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3288"/>
                <a:ext cx="3216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cs-CZ"/>
              </a:p>
            </p:txBody>
          </p:sp>
          <p:sp>
            <p:nvSpPr>
              <p:cNvPr id="28682" name="Line 10">
                <a:extLst>
                  <a:ext uri="{FF2B5EF4-FFF2-40B4-BE49-F238E27FC236}">
                    <a16:creationId xmlns:a16="http://schemas.microsoft.com/office/drawing/2014/main" id="{9E7A2D7D-90F1-464B-B58D-58CBBBC3B0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6" y="2972"/>
                <a:ext cx="3216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cs-CZ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" presetClass="entr" presetSubtype="4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DEE8A04-20C7-485E-B8BD-7FD79D435D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Stupeň písma (velikost písma)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8CA05BB2-1934-467B-BD24-1F3A9D8070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458200" cy="457200"/>
          </a:xfrm>
        </p:spPr>
        <p:txBody>
          <a:bodyPr/>
          <a:lstStyle/>
          <a:p>
            <a:pPr defTabSz="673100"/>
            <a:r>
              <a:rPr lang="cs-CZ" altLang="cs-CZ" i="1"/>
              <a:t>Stupeň písma</a:t>
            </a:r>
            <a:r>
              <a:rPr lang="cs-CZ" altLang="cs-CZ"/>
              <a:t> = rozměr horní plochy na kovové liteře (kuželce) </a:t>
            </a:r>
          </a:p>
        </p:txBody>
      </p:sp>
      <p:pic>
        <p:nvPicPr>
          <p:cNvPr id="29702" name="Picture 6">
            <a:extLst>
              <a:ext uri="{FF2B5EF4-FFF2-40B4-BE49-F238E27FC236}">
                <a16:creationId xmlns:a16="http://schemas.microsoft.com/office/drawing/2014/main" id="{F916A32A-789B-4933-98C3-9CFDE9449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276600"/>
            <a:ext cx="3492500" cy="925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707" name="Group 11">
            <a:extLst>
              <a:ext uri="{FF2B5EF4-FFF2-40B4-BE49-F238E27FC236}">
                <a16:creationId xmlns:a16="http://schemas.microsoft.com/office/drawing/2014/main" id="{9BC7FA43-3222-482A-AD04-DC0C73B54741}"/>
              </a:ext>
            </a:extLst>
          </p:cNvPr>
          <p:cNvGrpSpPr>
            <a:grpSpLocks/>
          </p:cNvGrpSpPr>
          <p:nvPr/>
        </p:nvGrpSpPr>
        <p:grpSpPr bwMode="auto">
          <a:xfrm>
            <a:off x="5695950" y="2286000"/>
            <a:ext cx="2879725" cy="1614488"/>
            <a:chOff x="3588" y="1296"/>
            <a:chExt cx="1814" cy="1017"/>
          </a:xfrm>
        </p:grpSpPr>
        <p:pic>
          <p:nvPicPr>
            <p:cNvPr id="29700" name="Picture 4">
              <a:extLst>
                <a:ext uri="{FF2B5EF4-FFF2-40B4-BE49-F238E27FC236}">
                  <a16:creationId xmlns:a16="http://schemas.microsoft.com/office/drawing/2014/main" id="{8BE116FA-CAE9-444E-A569-CA983A94ED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2" y="1296"/>
              <a:ext cx="850" cy="10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706" name="Picture 10">
              <a:extLst>
                <a:ext uri="{FF2B5EF4-FFF2-40B4-BE49-F238E27FC236}">
                  <a16:creationId xmlns:a16="http://schemas.microsoft.com/office/drawing/2014/main" id="{E36F2157-4B2F-4E7E-8CDE-FC66095B06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8" y="1858"/>
              <a:ext cx="964" cy="455"/>
            </a:xfrm>
            <a:prstGeom prst="rect">
              <a:avLst/>
            </a:prstGeom>
            <a:solidFill>
              <a:srgbClr val="ECCD9A"/>
            </a:solidFill>
          </p:spPr>
        </p:pic>
      </p:grpSp>
      <p:sp>
        <p:nvSpPr>
          <p:cNvPr id="29708" name="Rectangle 12">
            <a:extLst>
              <a:ext uri="{FF2B5EF4-FFF2-40B4-BE49-F238E27FC236}">
                <a16:creationId xmlns:a16="http://schemas.microsoft.com/office/drawing/2014/main" id="{C89E2172-E1F1-4599-B98B-4C3AD75A9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438400"/>
            <a:ext cx="845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defTabSz="6731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73100">
              <a:spcBef>
                <a:spcPct val="10000"/>
              </a:spcBef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73100">
              <a:spcBef>
                <a:spcPct val="10000"/>
              </a:spcBef>
              <a:buChar char="–"/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73100">
              <a:spcBef>
                <a:spcPct val="10000"/>
              </a:spcBef>
              <a:buChar char="–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73100">
              <a:spcBef>
                <a:spcPct val="10000"/>
              </a:spcBef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731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731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731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731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30000"/>
              </a:spcBef>
            </a:pPr>
            <a:r>
              <a:rPr lang="cs-CZ" altLang="cs-CZ"/>
              <a:t>Výška písmen závisí na typu písma     </a:t>
            </a:r>
          </a:p>
        </p:txBody>
      </p:sp>
      <p:grpSp>
        <p:nvGrpSpPr>
          <p:cNvPr id="29712" name="Group 16">
            <a:extLst>
              <a:ext uri="{FF2B5EF4-FFF2-40B4-BE49-F238E27FC236}">
                <a16:creationId xmlns:a16="http://schemas.microsoft.com/office/drawing/2014/main" id="{9C9F79AD-123E-470B-9B25-9364B8CD60F8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5046663"/>
            <a:ext cx="7086600" cy="1016000"/>
            <a:chOff x="288" y="3168"/>
            <a:chExt cx="4464" cy="640"/>
          </a:xfrm>
        </p:grpSpPr>
        <p:sp>
          <p:nvSpPr>
            <p:cNvPr id="29709" name="Text Box 13">
              <a:extLst>
                <a:ext uri="{FF2B5EF4-FFF2-40B4-BE49-F238E27FC236}">
                  <a16:creationId xmlns:a16="http://schemas.microsoft.com/office/drawing/2014/main" id="{FB5DA915-3EB9-40D8-840D-1C0A22A73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168"/>
              <a:ext cx="4464" cy="6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189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6000" b="1"/>
                <a:t>60 bodů   </a:t>
              </a:r>
              <a:r>
                <a:rPr lang="cs-CZ" altLang="cs-CZ" sz="6000" b="1">
                  <a:latin typeface="Arial" panose="020B0604020202020204" pitchFamily="34" charset="0"/>
                </a:rPr>
                <a:t>60 bodů</a:t>
              </a:r>
              <a:endParaRPr lang="cs-CZ" altLang="cs-CZ" sz="6000" b="1"/>
            </a:p>
          </p:txBody>
        </p:sp>
        <p:sp>
          <p:nvSpPr>
            <p:cNvPr id="29710" name="Line 14">
              <a:extLst>
                <a:ext uri="{FF2B5EF4-FFF2-40B4-BE49-F238E27FC236}">
                  <a16:creationId xmlns:a16="http://schemas.microsoft.com/office/drawing/2014/main" id="{19D39D41-F310-4E04-A7A7-68BC29060B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" y="3318"/>
              <a:ext cx="4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29711" name="Line 15">
              <a:extLst>
                <a:ext uri="{FF2B5EF4-FFF2-40B4-BE49-F238E27FC236}">
                  <a16:creationId xmlns:a16="http://schemas.microsoft.com/office/drawing/2014/main" id="{C3A4CC6F-5D97-465F-8F48-1A9C460018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" y="3669"/>
              <a:ext cx="4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832B1AA3-7DFB-4824-B7AD-C5C1F67079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627063"/>
            <a:ext cx="8534400" cy="641350"/>
          </a:xfrm>
        </p:spPr>
        <p:txBody>
          <a:bodyPr/>
          <a:lstStyle/>
          <a:p>
            <a:r>
              <a:rPr lang="cs-CZ" altLang="cs-CZ"/>
              <a:t>Použití stupňů písma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F4FC8F9-5716-48FD-A2CB-C5584B569F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458200" cy="1295400"/>
          </a:xfrm>
        </p:spPr>
        <p:txBody>
          <a:bodyPr/>
          <a:lstStyle/>
          <a:p>
            <a:pPr defTabSz="1244600">
              <a:buFont typeface="Symbol" panose="05050102010706020507" pitchFamily="18" charset="2"/>
              <a:buNone/>
            </a:pPr>
            <a:r>
              <a:rPr lang="cs-CZ" altLang="cs-CZ" sz="1600" i="1"/>
              <a:t>velikost		</a:t>
            </a:r>
            <a:r>
              <a:rPr lang="cs-CZ" altLang="cs-CZ" sz="1800" b="0" i="1"/>
              <a:t>účel</a:t>
            </a:r>
          </a:p>
          <a:p>
            <a:pPr defTabSz="1244600">
              <a:spcBef>
                <a:spcPct val="0"/>
              </a:spcBef>
              <a:spcAft>
                <a:spcPct val="25000"/>
              </a:spcAft>
              <a:buFont typeface="Symbol" panose="05050102010706020507" pitchFamily="18" charset="2"/>
              <a:buNone/>
            </a:pPr>
            <a:r>
              <a:rPr lang="cs-CZ" altLang="cs-CZ" sz="1600" i="1"/>
              <a:t>v bodech</a:t>
            </a:r>
            <a:endParaRPr lang="cs-CZ" altLang="cs-CZ" sz="1800"/>
          </a:p>
          <a:p>
            <a:pPr defTabSz="1244600">
              <a:buFont typeface="Symbol" panose="05050102010706020507" pitchFamily="18" charset="2"/>
              <a:buNone/>
            </a:pPr>
            <a:r>
              <a:rPr lang="cs-CZ" altLang="cs-CZ" sz="1800"/>
              <a:t>6–7	slovníky, jízdní řády, telef. seznamy, poznámky, vysvětlivky</a:t>
            </a:r>
          </a:p>
          <a:p>
            <a:pPr defTabSz="1244600"/>
            <a:endParaRPr lang="cs-CZ" altLang="cs-CZ"/>
          </a:p>
        </p:txBody>
      </p:sp>
      <p:sp>
        <p:nvSpPr>
          <p:cNvPr id="34820" name="Line 4">
            <a:extLst>
              <a:ext uri="{FF2B5EF4-FFF2-40B4-BE49-F238E27FC236}">
                <a16:creationId xmlns:a16="http://schemas.microsoft.com/office/drawing/2014/main" id="{D9B10EFC-00AA-407E-B41F-DD6FDA7258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363" y="1862138"/>
            <a:ext cx="807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cs-CZ"/>
          </a:p>
        </p:txBody>
      </p:sp>
      <p:sp>
        <p:nvSpPr>
          <p:cNvPr id="34821" name="Text Box 5">
            <a:extLst>
              <a:ext uri="{FF2B5EF4-FFF2-40B4-BE49-F238E27FC236}">
                <a16:creationId xmlns:a16="http://schemas.microsoft.com/office/drawing/2014/main" id="{0C935D26-D98D-4F83-92B4-11304B641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563" y="5419725"/>
            <a:ext cx="7620000" cy="4667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600"/>
              <a:t>poznámka,</a:t>
            </a:r>
            <a:r>
              <a:rPr lang="cs-CZ" altLang="cs-CZ"/>
              <a:t> </a:t>
            </a:r>
            <a:r>
              <a:rPr lang="cs-CZ" altLang="cs-CZ" sz="800"/>
              <a:t>noviny,</a:t>
            </a:r>
            <a:r>
              <a:rPr lang="cs-CZ" altLang="cs-CZ"/>
              <a:t> </a:t>
            </a:r>
            <a:r>
              <a:rPr lang="cs-CZ" altLang="cs-CZ" sz="900"/>
              <a:t>časopisy,</a:t>
            </a:r>
            <a:r>
              <a:rPr lang="cs-CZ" altLang="cs-CZ"/>
              <a:t> </a:t>
            </a:r>
            <a:r>
              <a:rPr lang="cs-CZ" altLang="cs-CZ" sz="1000"/>
              <a:t>knihy,</a:t>
            </a:r>
            <a:r>
              <a:rPr lang="cs-CZ" altLang="cs-CZ"/>
              <a:t> </a:t>
            </a:r>
            <a:r>
              <a:rPr lang="cs-CZ" altLang="cs-CZ" sz="1200"/>
              <a:t>učebnice,</a:t>
            </a:r>
            <a:r>
              <a:rPr lang="cs-CZ" altLang="cs-CZ"/>
              <a:t> </a:t>
            </a:r>
            <a:r>
              <a:rPr lang="cs-CZ" altLang="cs-CZ" sz="1400"/>
              <a:t>dětské knihy,</a:t>
            </a:r>
            <a:r>
              <a:rPr lang="cs-CZ" altLang="cs-CZ"/>
              <a:t> </a:t>
            </a:r>
            <a:r>
              <a:rPr lang="cs-CZ" altLang="cs-CZ" sz="1600"/>
              <a:t>nadpisy16 b, </a:t>
            </a:r>
            <a:r>
              <a:rPr lang="cs-CZ" altLang="cs-CZ" sz="1800"/>
              <a:t>nadpisy 18 b,</a:t>
            </a:r>
            <a:r>
              <a:rPr lang="cs-CZ" altLang="cs-CZ" sz="1600"/>
              <a:t> </a:t>
            </a:r>
            <a:r>
              <a:rPr lang="cs-CZ" altLang="cs-CZ"/>
              <a:t>nadpisy 24 b</a:t>
            </a:r>
            <a:r>
              <a:rPr lang="cs-CZ" altLang="cs-CZ" sz="1600"/>
              <a:t> </a:t>
            </a:r>
            <a:endParaRPr lang="cs-CZ" altLang="cs-CZ"/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5CACFA0B-4CDD-4180-B84A-BE8D57299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2165350"/>
            <a:ext cx="84582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defTabSz="12446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244600">
              <a:spcBef>
                <a:spcPct val="10000"/>
              </a:spcBef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244600">
              <a:spcBef>
                <a:spcPct val="10000"/>
              </a:spcBef>
              <a:buChar char="–"/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244600">
              <a:spcBef>
                <a:spcPct val="10000"/>
              </a:spcBef>
              <a:buChar char="–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244600">
              <a:spcBef>
                <a:spcPct val="10000"/>
              </a:spcBef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244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244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244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244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Symbol" panose="05050102010706020507" pitchFamily="18" charset="2"/>
              <a:buNone/>
            </a:pPr>
            <a:r>
              <a:rPr lang="cs-CZ" altLang="cs-CZ" sz="1800"/>
              <a:t>8		noviny</a:t>
            </a:r>
          </a:p>
          <a:p>
            <a:pPr>
              <a:buFont typeface="Symbol" panose="05050102010706020507" pitchFamily="18" charset="2"/>
              <a:buNone/>
            </a:pPr>
            <a:r>
              <a:rPr lang="cs-CZ" altLang="cs-CZ" sz="1800"/>
              <a:t>9		časopisy, knihy</a:t>
            </a:r>
          </a:p>
          <a:p>
            <a:pPr>
              <a:buFont typeface="Symbol" panose="05050102010706020507" pitchFamily="18" charset="2"/>
              <a:buNone/>
            </a:pPr>
            <a:r>
              <a:rPr lang="cs-CZ" altLang="cs-CZ" sz="1800"/>
              <a:t>10		většina knih</a:t>
            </a:r>
          </a:p>
          <a:p>
            <a:pPr>
              <a:buFont typeface="Symbol" panose="05050102010706020507" pitchFamily="18" charset="2"/>
              <a:buNone/>
            </a:pPr>
            <a:r>
              <a:rPr lang="cs-CZ" altLang="cs-CZ" sz="1800"/>
              <a:t>11–12	učebnice, knihy pro větší děti, knihy většího formátu</a:t>
            </a:r>
          </a:p>
          <a:p>
            <a:pPr>
              <a:buFont typeface="Symbol" panose="05050102010706020507" pitchFamily="18" charset="2"/>
              <a:buNone/>
            </a:pPr>
            <a:r>
              <a:rPr lang="cs-CZ" altLang="cs-CZ" sz="1800"/>
              <a:t>14		dětské knihy, nadpisy</a:t>
            </a:r>
          </a:p>
          <a:p>
            <a:pPr>
              <a:buFont typeface="Symbol" panose="05050102010706020507" pitchFamily="18" charset="2"/>
              <a:buNone/>
            </a:pPr>
            <a:r>
              <a:rPr lang="cs-CZ" altLang="cs-CZ" sz="1800"/>
              <a:t>16 </a:t>
            </a:r>
            <a:r>
              <a:rPr lang="cs-CZ" altLang="cs-CZ" sz="1800">
                <a:sym typeface="Symbol" panose="05050102010706020507" pitchFamily="18" charset="2"/>
              </a:rPr>
              <a:t></a:t>
            </a:r>
            <a:r>
              <a:rPr lang="cs-CZ" altLang="cs-CZ" sz="1800"/>
              <a:t>	nadpisy vyšších úrovní</a:t>
            </a:r>
          </a:p>
          <a:p>
            <a:pPr>
              <a:buFont typeface="Symbol" panose="05050102010706020507" pitchFamily="18" charset="2"/>
              <a:buNone/>
            </a:pPr>
            <a:endParaRPr lang="cs-CZ" altLang="cs-CZ" sz="1800"/>
          </a:p>
          <a:p>
            <a:pPr>
              <a:buFont typeface="Symbol" panose="05050102010706020507" pitchFamily="18" charset="2"/>
              <a:buNone/>
            </a:pPr>
            <a:r>
              <a:rPr lang="cs-CZ" altLang="cs-CZ" sz="1800"/>
              <a:t>V kovové sazbě měly stupně písma svá jména: </a:t>
            </a:r>
          </a:p>
          <a:p>
            <a:pPr>
              <a:buFont typeface="Symbol" panose="05050102010706020507" pitchFamily="18" charset="2"/>
              <a:buNone/>
            </a:pPr>
            <a:r>
              <a:rPr lang="cs-CZ" altLang="cs-CZ" sz="1800"/>
              <a:t>				8 b — petit, 10 b — garmond, 12 b — cicero</a:t>
            </a:r>
          </a:p>
          <a:p>
            <a:endParaRPr lang="cs-CZ" alt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34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4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34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7" presetID="4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348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348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25" presetID="4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48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29" presetID="4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348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33" presetID="4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348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37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3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3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1" grpId="0" animBg="1" autoUpdateAnimBg="0"/>
      <p:bldP spid="34822" grpId="0" build="p" autoUpdateAnimBg="0" advAuto="100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22D76F9-7850-4F2B-AB83-83C9D92E64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534400" cy="641350"/>
          </a:xfrm>
        </p:spPr>
        <p:txBody>
          <a:bodyPr/>
          <a:lstStyle/>
          <a:p>
            <a:r>
              <a:rPr lang="cs-CZ" altLang="cs-CZ"/>
              <a:t>Relativní typografické míry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A63CD916-2E94-436E-952A-4580FA549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36700"/>
            <a:ext cx="8458200" cy="2362200"/>
          </a:xfrm>
        </p:spPr>
        <p:txBody>
          <a:bodyPr/>
          <a:lstStyle/>
          <a:p>
            <a:r>
              <a:rPr lang="cs-CZ" altLang="cs-CZ"/>
              <a:t>Vztažené ke stupni písma</a:t>
            </a:r>
          </a:p>
          <a:p>
            <a:pPr lvl="1"/>
            <a:r>
              <a:rPr lang="cs-CZ" altLang="cs-CZ"/>
              <a:t>em = čtverčík = stupeň písma</a:t>
            </a:r>
          </a:p>
          <a:p>
            <a:pPr lvl="1"/>
            <a:r>
              <a:rPr lang="cs-CZ" altLang="cs-CZ"/>
              <a:t>en = 1/2 em</a:t>
            </a:r>
          </a:p>
          <a:p>
            <a:r>
              <a:rPr lang="cs-CZ" altLang="cs-CZ"/>
              <a:t>určují se jimi</a:t>
            </a:r>
          </a:p>
          <a:p>
            <a:pPr lvl="1"/>
            <a:r>
              <a:rPr lang="cs-CZ" altLang="cs-CZ"/>
              <a:t>šířky písmen</a:t>
            </a:r>
          </a:p>
          <a:p>
            <a:pPr lvl="1"/>
            <a:r>
              <a:rPr lang="cs-CZ" altLang="cs-CZ"/>
              <a:t>velikosti mezislovních mezer</a:t>
            </a:r>
          </a:p>
        </p:txBody>
      </p:sp>
      <p:grpSp>
        <p:nvGrpSpPr>
          <p:cNvPr id="35849" name="Group 9">
            <a:extLst>
              <a:ext uri="{FF2B5EF4-FFF2-40B4-BE49-F238E27FC236}">
                <a16:creationId xmlns:a16="http://schemas.microsoft.com/office/drawing/2014/main" id="{5172AA4E-C84F-4BC3-B708-941B85C2252F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898900"/>
            <a:ext cx="4800600" cy="2425700"/>
            <a:chOff x="2736" y="2112"/>
            <a:chExt cx="3024" cy="1528"/>
          </a:xfrm>
        </p:grpSpPr>
        <p:pic>
          <p:nvPicPr>
            <p:cNvPr id="35845" name="Picture 5">
              <a:extLst>
                <a:ext uri="{FF2B5EF4-FFF2-40B4-BE49-F238E27FC236}">
                  <a16:creationId xmlns:a16="http://schemas.microsoft.com/office/drawing/2014/main" id="{6D6F9746-601B-43C9-B066-76ACA799F0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6" y="2112"/>
              <a:ext cx="2832" cy="15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846" name="Text Box 6">
              <a:extLst>
                <a:ext uri="{FF2B5EF4-FFF2-40B4-BE49-F238E27FC236}">
                  <a16:creationId xmlns:a16="http://schemas.microsoft.com/office/drawing/2014/main" id="{214E2843-3CED-4A1B-99E2-5C8EC9200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390"/>
              <a:ext cx="13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1600"/>
                <a:t>18 jednotek</a:t>
              </a:r>
            </a:p>
          </p:txBody>
        </p:sp>
        <p:sp>
          <p:nvSpPr>
            <p:cNvPr id="35847" name="Text Box 7">
              <a:extLst>
                <a:ext uri="{FF2B5EF4-FFF2-40B4-BE49-F238E27FC236}">
                  <a16:creationId xmlns:a16="http://schemas.microsoft.com/office/drawing/2014/main" id="{CA6B4766-F90D-45DA-BE9D-15C83968A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390"/>
              <a:ext cx="8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1600"/>
                <a:t>9 jednotek</a:t>
              </a:r>
            </a:p>
          </p:txBody>
        </p:sp>
        <p:sp>
          <p:nvSpPr>
            <p:cNvPr id="35848" name="Text Box 8">
              <a:extLst>
                <a:ext uri="{FF2B5EF4-FFF2-40B4-BE49-F238E27FC236}">
                  <a16:creationId xmlns:a16="http://schemas.microsoft.com/office/drawing/2014/main" id="{EE657BD6-98BE-4866-9868-0C30D16A65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3390"/>
              <a:ext cx="8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1600"/>
                <a:t>6 jedn.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4D2B508B-2A8E-4AD9-BDC0-E5FB031B7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Sazba – mezery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FC4531B8-AA23-462F-ABBB-E8F7E69DEAB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228600" y="1447800"/>
            <a:ext cx="8610600" cy="1600200"/>
          </a:xfrm>
        </p:spPr>
        <p:txBody>
          <a:bodyPr/>
          <a:lstStyle/>
          <a:p>
            <a:pPr defTabSz="895350">
              <a:tabLst>
                <a:tab pos="381000" algn="l"/>
                <a:tab pos="1616075" algn="l"/>
              </a:tabLst>
            </a:pPr>
            <a:r>
              <a:rPr lang="cs-CZ" altLang="cs-CZ"/>
              <a:t>mezery mezi písmeny</a:t>
            </a:r>
            <a:endParaRPr lang="cs-CZ" altLang="cs-CZ">
              <a:solidFill>
                <a:srgbClr val="A50021"/>
              </a:solidFill>
            </a:endParaRPr>
          </a:p>
          <a:p>
            <a:pPr lvl="1" defTabSz="895350">
              <a:tabLst>
                <a:tab pos="381000" algn="l"/>
                <a:tab pos="1616075" algn="l"/>
              </a:tabLst>
            </a:pPr>
            <a:r>
              <a:rPr lang="cs-CZ" altLang="cs-CZ"/>
              <a:t>jsou dány šířkou znaku (kuželky)</a:t>
            </a:r>
          </a:p>
          <a:p>
            <a:pPr lvl="1" defTabSz="895350">
              <a:tabLst>
                <a:tab pos="381000" algn="l"/>
                <a:tab pos="1616075" algn="l"/>
              </a:tabLst>
            </a:pPr>
            <a:r>
              <a:rPr lang="cs-CZ" altLang="cs-CZ"/>
              <a:t>v počítačové sazbě je lze snadno upravit </a:t>
            </a:r>
          </a:p>
          <a:p>
            <a:pPr lvl="1" defTabSz="895350">
              <a:spcBef>
                <a:spcPct val="30000"/>
              </a:spcBef>
              <a:tabLst>
                <a:tab pos="381000" algn="l"/>
                <a:tab pos="1616075" algn="l"/>
              </a:tabLst>
            </a:pPr>
            <a:r>
              <a:rPr lang="cs-CZ" altLang="cs-CZ" i="1"/>
              <a:t>prostrkávání</a:t>
            </a:r>
            <a:r>
              <a:rPr lang="cs-CZ" altLang="cs-CZ"/>
              <a:t> — úprava mezer, někdy se užívá k zvýraznění</a:t>
            </a:r>
          </a:p>
        </p:txBody>
      </p:sp>
      <p:grpSp>
        <p:nvGrpSpPr>
          <p:cNvPr id="45070" name="Group 14">
            <a:extLst>
              <a:ext uri="{FF2B5EF4-FFF2-40B4-BE49-F238E27FC236}">
                <a16:creationId xmlns:a16="http://schemas.microsoft.com/office/drawing/2014/main" id="{E2EBFE94-DA88-499C-AAAB-AE044540750C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3367088"/>
            <a:ext cx="2209800" cy="1174750"/>
            <a:chOff x="3744" y="2208"/>
            <a:chExt cx="1392" cy="740"/>
          </a:xfrm>
        </p:grpSpPr>
        <p:sp>
          <p:nvSpPr>
            <p:cNvPr id="45061" name="Text Box 5">
              <a:extLst>
                <a:ext uri="{FF2B5EF4-FFF2-40B4-BE49-F238E27FC236}">
                  <a16:creationId xmlns:a16="http://schemas.microsoft.com/office/drawing/2014/main" id="{B82E4813-AA82-469A-AB12-BB90EA4CBB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208"/>
              <a:ext cx="1392" cy="7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18900000" algn="ctr" rotWithShape="0">
                <a:schemeClr val="bg2"/>
              </a:outerShdw>
            </a:effectLst>
          </p:spPr>
          <p:txBody>
            <a:bodyPr tIns="180000">
              <a:spAutoFit/>
            </a:bodyPr>
            <a:lstStyle/>
            <a:p>
              <a:pPr algn="ctr">
                <a:spcBef>
                  <a:spcPct val="100000"/>
                </a:spcBef>
              </a:pPr>
              <a:r>
                <a:rPr lang="cs-CZ" altLang="cs-CZ" sz="2800">
                  <a:latin typeface="Arial" panose="020B0604020202020204" pitchFamily="34" charset="0"/>
                </a:rPr>
                <a:t>AV    MN</a:t>
              </a:r>
              <a:endParaRPr lang="cs-CZ" altLang="cs-CZ" sz="3200">
                <a:latin typeface="Arial" panose="020B0604020202020204" pitchFamily="34" charset="0"/>
              </a:endParaRPr>
            </a:p>
            <a:p>
              <a:pPr algn="ctr">
                <a:spcBef>
                  <a:spcPct val="20000"/>
                </a:spcBef>
              </a:pPr>
              <a:r>
                <a:rPr lang="cs-CZ" altLang="cs-CZ" sz="2800">
                  <a:latin typeface="Arial" panose="020B0604020202020204" pitchFamily="34" charset="0"/>
                </a:rPr>
                <a:t>TRÁVA</a:t>
              </a:r>
            </a:p>
          </p:txBody>
        </p:sp>
        <p:sp>
          <p:nvSpPr>
            <p:cNvPr id="45062" name="Line 6">
              <a:extLst>
                <a:ext uri="{FF2B5EF4-FFF2-40B4-BE49-F238E27FC236}">
                  <a16:creationId xmlns:a16="http://schemas.microsoft.com/office/drawing/2014/main" id="{3BE36BDA-B7F7-4A2B-8A4A-45E95D6456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30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45063" name="Line 7">
              <a:extLst>
                <a:ext uri="{FF2B5EF4-FFF2-40B4-BE49-F238E27FC236}">
                  <a16:creationId xmlns:a16="http://schemas.microsoft.com/office/drawing/2014/main" id="{D67546B6-CF9D-4B69-929E-915A19CEE4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51" y="230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45064" name="Line 8">
              <a:extLst>
                <a:ext uri="{FF2B5EF4-FFF2-40B4-BE49-F238E27FC236}">
                  <a16:creationId xmlns:a16="http://schemas.microsoft.com/office/drawing/2014/main" id="{856EC6C7-56AA-46B5-A414-C2D54D8ED8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0" y="230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45065" name="Line 9">
              <a:extLst>
                <a:ext uri="{FF2B5EF4-FFF2-40B4-BE49-F238E27FC236}">
                  <a16:creationId xmlns:a16="http://schemas.microsoft.com/office/drawing/2014/main" id="{52402CFB-34A6-4C22-9C4A-8F1BFE3393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230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</p:grpSp>
      <p:sp>
        <p:nvSpPr>
          <p:cNvPr id="45066" name="Rectangle 10">
            <a:extLst>
              <a:ext uri="{FF2B5EF4-FFF2-40B4-BE49-F238E27FC236}">
                <a16:creationId xmlns:a16="http://schemas.microsoft.com/office/drawing/2014/main" id="{48439F79-2BD5-4F07-8D39-1811063EE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810000"/>
            <a:ext cx="86106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defTabSz="89535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tabLst>
                <a:tab pos="161925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95350">
              <a:spcBef>
                <a:spcPct val="10000"/>
              </a:spcBef>
              <a:buChar char="•"/>
              <a:tabLst>
                <a:tab pos="1619250" algn="l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95350">
              <a:spcBef>
                <a:spcPct val="10000"/>
              </a:spcBef>
              <a:buChar char="–"/>
              <a:tabLst>
                <a:tab pos="1619250" algn="l"/>
              </a:tabLs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95350">
              <a:spcBef>
                <a:spcPct val="10000"/>
              </a:spcBef>
              <a:buChar char="–"/>
              <a:tabLst>
                <a:tab pos="1619250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95350">
              <a:spcBef>
                <a:spcPct val="10000"/>
              </a:spcBef>
              <a:buChar char="»"/>
              <a:tabLst>
                <a:tab pos="1619250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9535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tabLst>
                <a:tab pos="1619250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9535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tabLst>
                <a:tab pos="1619250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9535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tabLst>
                <a:tab pos="1619250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9535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tabLst>
                <a:tab pos="1619250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cs-CZ" altLang="cs-CZ"/>
              <a:t>mezery mezi slovy</a:t>
            </a:r>
            <a:endParaRPr lang="cs-CZ" altLang="cs-CZ" sz="2000"/>
          </a:p>
          <a:p>
            <a:pPr lvl="1"/>
            <a:r>
              <a:rPr lang="cs-CZ" altLang="cs-CZ" sz="1800"/>
              <a:t>vhodná je mezera velikosti </a:t>
            </a:r>
            <a:r>
              <a:rPr lang="cs-CZ" altLang="cs-CZ" sz="1800" baseline="30000"/>
              <a:t>1</a:t>
            </a:r>
            <a:r>
              <a:rPr lang="en-US" altLang="cs-CZ" sz="1800"/>
              <a:t>/</a:t>
            </a:r>
            <a:r>
              <a:rPr lang="en-US" altLang="cs-CZ" sz="1800" baseline="-10000"/>
              <a:t>3</a:t>
            </a:r>
            <a:r>
              <a:rPr lang="cs-CZ" altLang="cs-CZ" sz="1800"/>
              <a:t> em</a:t>
            </a:r>
          </a:p>
          <a:p>
            <a:pPr lvl="1"/>
            <a:r>
              <a:rPr lang="cs-CZ" altLang="cs-CZ" sz="1800"/>
              <a:t>bývá určena minimální (</a:t>
            </a:r>
            <a:r>
              <a:rPr lang="cs-CZ" altLang="cs-CZ" sz="1800" baseline="30000"/>
              <a:t>1</a:t>
            </a:r>
            <a:r>
              <a:rPr lang="en-US" altLang="cs-CZ" sz="1800"/>
              <a:t>/</a:t>
            </a:r>
            <a:r>
              <a:rPr lang="en-US" altLang="cs-CZ" sz="1800" baseline="-10000"/>
              <a:t>4</a:t>
            </a:r>
            <a:r>
              <a:rPr lang="cs-CZ" altLang="cs-CZ" sz="1800"/>
              <a:t> em) a maximální (</a:t>
            </a:r>
            <a:r>
              <a:rPr lang="cs-CZ" altLang="cs-CZ" sz="1800" baseline="30000"/>
              <a:t>1</a:t>
            </a:r>
            <a:r>
              <a:rPr lang="en-US" altLang="cs-CZ" sz="1800"/>
              <a:t>/</a:t>
            </a:r>
            <a:r>
              <a:rPr lang="en-US" altLang="cs-CZ" sz="1800" baseline="-10000"/>
              <a:t>2</a:t>
            </a:r>
            <a:r>
              <a:rPr lang="cs-CZ" altLang="cs-CZ" sz="1800"/>
              <a:t> em) mezera</a:t>
            </a:r>
          </a:p>
          <a:p>
            <a:pPr lvl="1"/>
            <a:r>
              <a:rPr lang="cs-CZ" altLang="cs-CZ" sz="1800" i="1"/>
              <a:t>pevná mezera</a:t>
            </a:r>
            <a:r>
              <a:rPr lang="cs-CZ" altLang="cs-CZ" sz="1800"/>
              <a:t> (nezlomitelná, tvrdá) </a:t>
            </a:r>
            <a:r>
              <a:rPr lang="cs-CZ" altLang="cs-CZ" sz="1800">
                <a:sym typeface="Symbol" panose="05050102010706020507" pitchFamily="18" charset="2"/>
              </a:rPr>
              <a:t></a:t>
            </a:r>
            <a:r>
              <a:rPr lang="cs-CZ" altLang="cs-CZ" sz="1800"/>
              <a:t> zákaz zlomu řádku</a:t>
            </a:r>
          </a:p>
        </p:txBody>
      </p:sp>
      <p:pic>
        <p:nvPicPr>
          <p:cNvPr id="45068" name="Picture 12">
            <a:extLst>
              <a:ext uri="{FF2B5EF4-FFF2-40B4-BE49-F238E27FC236}">
                <a16:creationId xmlns:a16="http://schemas.microsoft.com/office/drawing/2014/main" id="{D5685652-B5D1-4663-BB28-7E2570144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299" t="-9528" r="-6299" b="-9528"/>
          <a:stretch>
            <a:fillRect/>
          </a:stretch>
        </p:blipFill>
        <p:spPr bwMode="auto">
          <a:xfrm>
            <a:off x="5611813" y="1174750"/>
            <a:ext cx="2770187" cy="1163638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rgbClr val="808080"/>
            </a:outerShdw>
          </a:effectLst>
        </p:spPr>
      </p:pic>
      <p:sp>
        <p:nvSpPr>
          <p:cNvPr id="45069" name="Text Box 13">
            <a:extLst>
              <a:ext uri="{FF2B5EF4-FFF2-40B4-BE49-F238E27FC236}">
                <a16:creationId xmlns:a16="http://schemas.microsoft.com/office/drawing/2014/main" id="{7A2E55A6-52FB-4C9F-AD7C-20B6BA011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511800"/>
            <a:ext cx="5715000" cy="406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cs-CZ" altLang="cs-CZ" sz="2000"/>
              <a:t>J.</a:t>
            </a:r>
            <a:r>
              <a:rPr lang="cs-CZ" altLang="cs-CZ" sz="2000">
                <a:solidFill>
                  <a:schemeClr val="accent2"/>
                </a:solidFill>
              </a:rPr>
              <a:t>°</a:t>
            </a:r>
            <a:r>
              <a:rPr lang="cs-CZ" altLang="cs-CZ" sz="2000"/>
              <a:t>A.</a:t>
            </a:r>
            <a:r>
              <a:rPr lang="cs-CZ" altLang="cs-CZ" sz="2000">
                <a:solidFill>
                  <a:schemeClr val="accent2"/>
                </a:solidFill>
              </a:rPr>
              <a:t>°</a:t>
            </a:r>
            <a:r>
              <a:rPr lang="cs-CZ" altLang="cs-CZ" sz="2000"/>
              <a:t>Komenský      37</a:t>
            </a:r>
            <a:r>
              <a:rPr lang="cs-CZ" altLang="cs-CZ" sz="2000">
                <a:solidFill>
                  <a:schemeClr val="accent2"/>
                </a:solidFill>
              </a:rPr>
              <a:t>°</a:t>
            </a:r>
            <a:r>
              <a:rPr lang="cs-CZ" altLang="cs-CZ" sz="2000"/>
              <a:t>Kč        z</a:t>
            </a:r>
            <a:r>
              <a:rPr lang="cs-CZ" altLang="cs-CZ" sz="2000">
                <a:solidFill>
                  <a:schemeClr val="accent2"/>
                </a:solidFill>
              </a:rPr>
              <a:t>°</a:t>
            </a:r>
            <a:r>
              <a:rPr lang="cs-CZ" altLang="cs-CZ" sz="2000"/>
              <a:t>lesa       100</a:t>
            </a:r>
            <a:r>
              <a:rPr lang="cs-CZ" altLang="cs-CZ" sz="2000">
                <a:solidFill>
                  <a:schemeClr val="accent2"/>
                </a:solidFill>
              </a:rPr>
              <a:t>°</a:t>
            </a:r>
            <a:r>
              <a:rPr lang="cs-CZ" altLang="cs-CZ" sz="2000"/>
              <a:t>000        </a:t>
            </a:r>
          </a:p>
        </p:txBody>
      </p:sp>
      <p:sp>
        <p:nvSpPr>
          <p:cNvPr id="45072" name="Rectangle 16">
            <a:extLst>
              <a:ext uri="{FF2B5EF4-FFF2-40B4-BE49-F238E27FC236}">
                <a16:creationId xmlns:a16="http://schemas.microsoft.com/office/drawing/2014/main" id="{27C7341B-6923-4E5E-A318-22488E460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8" y="2941638"/>
            <a:ext cx="8610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defTabSz="89535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tabLst>
                <a:tab pos="381000" algn="l"/>
                <a:tab pos="1616075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95350">
              <a:spcBef>
                <a:spcPct val="10000"/>
              </a:spcBef>
              <a:buChar char="•"/>
              <a:tabLst>
                <a:tab pos="381000" algn="l"/>
                <a:tab pos="1616075" algn="l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95350">
              <a:spcBef>
                <a:spcPct val="10000"/>
              </a:spcBef>
              <a:buChar char="–"/>
              <a:tabLst>
                <a:tab pos="381000" algn="l"/>
                <a:tab pos="1616075" algn="l"/>
              </a:tabLs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95350">
              <a:spcBef>
                <a:spcPct val="10000"/>
              </a:spcBef>
              <a:buChar char="–"/>
              <a:tabLst>
                <a:tab pos="381000" algn="l"/>
                <a:tab pos="1616075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95350">
              <a:spcBef>
                <a:spcPct val="10000"/>
              </a:spcBef>
              <a:buChar char="»"/>
              <a:tabLst>
                <a:tab pos="381000" algn="l"/>
                <a:tab pos="1616075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9535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tabLst>
                <a:tab pos="381000" algn="l"/>
                <a:tab pos="1616075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9535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tabLst>
                <a:tab pos="381000" algn="l"/>
                <a:tab pos="1616075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9535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tabLst>
                <a:tab pos="381000" algn="l"/>
                <a:tab pos="1616075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9535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tabLst>
                <a:tab pos="381000" algn="l"/>
                <a:tab pos="1616075" algn="l"/>
              </a:tabLs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spcBef>
                <a:spcPct val="30000"/>
              </a:spcBef>
            </a:pPr>
            <a:r>
              <a:rPr lang="cs-CZ" altLang="cs-CZ" i="1"/>
              <a:t>kerning</a:t>
            </a:r>
            <a:r>
              <a:rPr lang="cs-CZ" altLang="cs-CZ" i="1">
                <a:solidFill>
                  <a:srgbClr val="A50021"/>
                </a:solidFill>
              </a:rPr>
              <a:t> </a:t>
            </a:r>
            <a:r>
              <a:rPr lang="cs-CZ" altLang="cs-CZ"/>
              <a:t>— přizpůsobení mezery konkrétní dvojici znaků,</a:t>
            </a:r>
            <a:br>
              <a:rPr lang="cs-CZ" altLang="cs-CZ"/>
            </a:br>
            <a:r>
              <a:rPr lang="cs-CZ" altLang="cs-CZ"/>
              <a:t>dělá se jen pro velká písmena (min. 16 pt)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4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5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5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5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autoUpdateAnimBg="0"/>
      <p:bldP spid="45066" grpId="0" autoUpdateAnimBg="0"/>
      <p:bldP spid="45069" grpId="0" animBg="1" autoUpdateAnimBg="0"/>
      <p:bldP spid="4507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8" name="Rectangle 6">
            <a:extLst>
              <a:ext uri="{FF2B5EF4-FFF2-40B4-BE49-F238E27FC236}">
                <a16:creationId xmlns:a16="http://schemas.microsoft.com/office/drawing/2014/main" id="{3C232972-7E80-48E2-9863-2EE3298ED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Sazba – odstavec</a:t>
            </a:r>
          </a:p>
        </p:txBody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037F289B-DF41-4139-964E-1BC607673F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30000"/>
              </a:spcAft>
            </a:pPr>
            <a:r>
              <a:rPr lang="cs-CZ" altLang="cs-CZ"/>
              <a:t>základní významová a formátovací jednotka textu</a:t>
            </a:r>
          </a:p>
          <a:p>
            <a:pPr>
              <a:spcAft>
                <a:spcPct val="30000"/>
              </a:spcAft>
            </a:pPr>
            <a:r>
              <a:rPr lang="cs-CZ" altLang="cs-CZ"/>
              <a:t>první řádek bývá odsazený </a:t>
            </a:r>
            <a:r>
              <a:rPr lang="cs-CZ" altLang="cs-CZ" b="0" i="1"/>
              <a:t>odstavcovou zarážkou</a:t>
            </a:r>
            <a:r>
              <a:rPr lang="cs-CZ" altLang="cs-CZ"/>
              <a:t> (1–2 em)</a:t>
            </a:r>
          </a:p>
          <a:p>
            <a:pPr>
              <a:spcAft>
                <a:spcPct val="30000"/>
              </a:spcAft>
            </a:pPr>
            <a:r>
              <a:rPr lang="cs-CZ" altLang="cs-CZ"/>
              <a:t>odstavcová zarážka musí být v celém textu stejná</a:t>
            </a:r>
          </a:p>
          <a:p>
            <a:pPr>
              <a:spcAft>
                <a:spcPct val="30000"/>
              </a:spcAft>
            </a:pPr>
            <a:r>
              <a:rPr lang="cs-CZ" altLang="cs-CZ"/>
              <a:t>v určitých typech textů lze zarážku nahradit odrážkou, číslováním nebo iniciálou</a:t>
            </a:r>
          </a:p>
          <a:p>
            <a:pPr>
              <a:spcAft>
                <a:spcPct val="30000"/>
              </a:spcAft>
            </a:pPr>
            <a:r>
              <a:rPr lang="cs-CZ" altLang="cs-CZ"/>
              <a:t>první řádek může být i předsazený před ostatní </a:t>
            </a:r>
          </a:p>
          <a:p>
            <a:pPr>
              <a:spcAft>
                <a:spcPct val="30000"/>
              </a:spcAft>
            </a:pPr>
            <a:r>
              <a:rPr lang="cs-CZ" altLang="cs-CZ"/>
              <a:t>není-li první řádek odsazený, je třeba dát mezeru mezi odstavce</a:t>
            </a:r>
          </a:p>
          <a:p>
            <a:pPr>
              <a:spcAft>
                <a:spcPct val="30000"/>
              </a:spcAft>
            </a:pPr>
            <a:r>
              <a:rPr lang="cs-CZ" altLang="cs-CZ"/>
              <a:t>poslední (východový) řádek by měl být delší než odstavcová zarážka a kratší než úplný řádek alespoň o em</a:t>
            </a:r>
          </a:p>
          <a:p>
            <a:endParaRPr lang="cs-CZ" alt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4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40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40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40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40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40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40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9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68" name="Group 60">
            <a:extLst>
              <a:ext uri="{FF2B5EF4-FFF2-40B4-BE49-F238E27FC236}">
                <a16:creationId xmlns:a16="http://schemas.microsoft.com/office/drawing/2014/main" id="{236A4334-3331-4504-9E60-07576AF67E51}"/>
              </a:ext>
            </a:extLst>
          </p:cNvPr>
          <p:cNvGrpSpPr>
            <a:grpSpLocks/>
          </p:cNvGrpSpPr>
          <p:nvPr/>
        </p:nvGrpSpPr>
        <p:grpSpPr bwMode="auto">
          <a:xfrm>
            <a:off x="630238" y="4470400"/>
            <a:ext cx="914400" cy="1625600"/>
            <a:chOff x="397" y="2816"/>
            <a:chExt cx="576" cy="1024"/>
          </a:xfrm>
        </p:grpSpPr>
        <p:grpSp>
          <p:nvGrpSpPr>
            <p:cNvPr id="43023" name="Group 15">
              <a:extLst>
                <a:ext uri="{FF2B5EF4-FFF2-40B4-BE49-F238E27FC236}">
                  <a16:creationId xmlns:a16="http://schemas.microsoft.com/office/drawing/2014/main" id="{D5EDE176-4811-428A-9FE1-D6174A3A230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32" y="2816"/>
              <a:ext cx="541" cy="720"/>
              <a:chOff x="5082" y="1452"/>
              <a:chExt cx="2112" cy="2580"/>
            </a:xfrm>
          </p:grpSpPr>
          <p:sp>
            <p:nvSpPr>
              <p:cNvPr id="43024" name="Rectangle 16">
                <a:extLst>
                  <a:ext uri="{FF2B5EF4-FFF2-40B4-BE49-F238E27FC236}">
                    <a16:creationId xmlns:a16="http://schemas.microsoft.com/office/drawing/2014/main" id="{CBA60664-E4B1-4D00-A4CA-1FA50256A0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082" y="1452"/>
                <a:ext cx="2112" cy="25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25" name="Line 17">
                <a:extLst>
                  <a:ext uri="{FF2B5EF4-FFF2-40B4-BE49-F238E27FC236}">
                    <a16:creationId xmlns:a16="http://schemas.microsoft.com/office/drawing/2014/main" id="{BBCB19BB-4BA7-4182-84B5-2C6E8C4C80E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364" y="1848"/>
                <a:ext cx="1548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26" name="Line 18">
                <a:extLst>
                  <a:ext uri="{FF2B5EF4-FFF2-40B4-BE49-F238E27FC236}">
                    <a16:creationId xmlns:a16="http://schemas.microsoft.com/office/drawing/2014/main" id="{04679565-C32E-4DEA-93D9-2428D498016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364" y="2088"/>
                <a:ext cx="1248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27" name="Line 19">
                <a:extLst>
                  <a:ext uri="{FF2B5EF4-FFF2-40B4-BE49-F238E27FC236}">
                    <a16:creationId xmlns:a16="http://schemas.microsoft.com/office/drawing/2014/main" id="{58A0EA41-CBCF-4B31-816A-03F1F3C5D6D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364" y="2328"/>
                <a:ext cx="1404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28" name="Line 20">
                <a:extLst>
                  <a:ext uri="{FF2B5EF4-FFF2-40B4-BE49-F238E27FC236}">
                    <a16:creationId xmlns:a16="http://schemas.microsoft.com/office/drawing/2014/main" id="{F97B6E22-A816-4DDE-AE07-E0314C48E4B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364" y="2568"/>
                <a:ext cx="1548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29" name="Line 21">
                <a:extLst>
                  <a:ext uri="{FF2B5EF4-FFF2-40B4-BE49-F238E27FC236}">
                    <a16:creationId xmlns:a16="http://schemas.microsoft.com/office/drawing/2014/main" id="{15B9ADE9-6032-4153-88F6-5C795502FF1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364" y="2808"/>
                <a:ext cx="1452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30" name="Line 22">
                <a:extLst>
                  <a:ext uri="{FF2B5EF4-FFF2-40B4-BE49-F238E27FC236}">
                    <a16:creationId xmlns:a16="http://schemas.microsoft.com/office/drawing/2014/main" id="{CEE34034-178D-4B8C-992D-887F92AAF2C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364" y="3048"/>
                <a:ext cx="1320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31" name="Line 23">
                <a:extLst>
                  <a:ext uri="{FF2B5EF4-FFF2-40B4-BE49-F238E27FC236}">
                    <a16:creationId xmlns:a16="http://schemas.microsoft.com/office/drawing/2014/main" id="{810C2473-6925-4DD1-AA08-37C5E75502F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364" y="3288"/>
                <a:ext cx="1464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32" name="Line 24">
                <a:extLst>
                  <a:ext uri="{FF2B5EF4-FFF2-40B4-BE49-F238E27FC236}">
                    <a16:creationId xmlns:a16="http://schemas.microsoft.com/office/drawing/2014/main" id="{239C56E3-A021-4180-9FBE-3C38B5782B3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364" y="3528"/>
                <a:ext cx="1548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33" name="Line 25">
                <a:extLst>
                  <a:ext uri="{FF2B5EF4-FFF2-40B4-BE49-F238E27FC236}">
                    <a16:creationId xmlns:a16="http://schemas.microsoft.com/office/drawing/2014/main" id="{2C2D7858-F401-4171-93AC-EE0A30E17C8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364" y="3768"/>
                <a:ext cx="1416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  <p:sp>
          <p:nvSpPr>
            <p:cNvPr id="43056" name="Text Box 48">
              <a:extLst>
                <a:ext uri="{FF2B5EF4-FFF2-40B4-BE49-F238E27FC236}">
                  <a16:creationId xmlns:a16="http://schemas.microsoft.com/office/drawing/2014/main" id="{9EF89003-827F-4213-9F3C-592D9FA640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52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b="1"/>
                <a:t>vlevo</a:t>
              </a:r>
              <a:endParaRPr lang="cs-CZ" altLang="cs-CZ"/>
            </a:p>
          </p:txBody>
        </p:sp>
      </p:grpSp>
      <p:grpSp>
        <p:nvGrpSpPr>
          <p:cNvPr id="43067" name="Group 59">
            <a:extLst>
              <a:ext uri="{FF2B5EF4-FFF2-40B4-BE49-F238E27FC236}">
                <a16:creationId xmlns:a16="http://schemas.microsoft.com/office/drawing/2014/main" id="{86724138-FEAB-4FE9-9586-3447B6E31E0B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4470400"/>
            <a:ext cx="1143000" cy="1625600"/>
            <a:chOff x="3888" y="2816"/>
            <a:chExt cx="720" cy="1024"/>
          </a:xfrm>
        </p:grpSpPr>
        <p:grpSp>
          <p:nvGrpSpPr>
            <p:cNvPr id="43045" name="Group 37">
              <a:extLst>
                <a:ext uri="{FF2B5EF4-FFF2-40B4-BE49-F238E27FC236}">
                  <a16:creationId xmlns:a16="http://schemas.microsoft.com/office/drawing/2014/main" id="{4412DBC8-604B-4315-B4EF-C9DCCE4097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flipH="1">
              <a:off x="3936" y="2816"/>
              <a:ext cx="541" cy="720"/>
              <a:chOff x="5082" y="1452"/>
              <a:chExt cx="2112" cy="2580"/>
            </a:xfrm>
          </p:grpSpPr>
          <p:sp>
            <p:nvSpPr>
              <p:cNvPr id="43046" name="Rectangle 38">
                <a:extLst>
                  <a:ext uri="{FF2B5EF4-FFF2-40B4-BE49-F238E27FC236}">
                    <a16:creationId xmlns:a16="http://schemas.microsoft.com/office/drawing/2014/main" id="{C0E2832F-7687-4362-9B39-FD91861966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082" y="1452"/>
                <a:ext cx="2112" cy="25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47" name="Line 39">
                <a:extLst>
                  <a:ext uri="{FF2B5EF4-FFF2-40B4-BE49-F238E27FC236}">
                    <a16:creationId xmlns:a16="http://schemas.microsoft.com/office/drawing/2014/main" id="{FAF83925-7801-4B22-91CD-BBB446E3C5B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364" y="1848"/>
                <a:ext cx="1548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48" name="Line 40">
                <a:extLst>
                  <a:ext uri="{FF2B5EF4-FFF2-40B4-BE49-F238E27FC236}">
                    <a16:creationId xmlns:a16="http://schemas.microsoft.com/office/drawing/2014/main" id="{EB90B8E0-B949-4074-8660-6C3658A72DE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364" y="2088"/>
                <a:ext cx="1248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49" name="Line 41">
                <a:extLst>
                  <a:ext uri="{FF2B5EF4-FFF2-40B4-BE49-F238E27FC236}">
                    <a16:creationId xmlns:a16="http://schemas.microsoft.com/office/drawing/2014/main" id="{9D8C2549-DEE6-4ACB-BC9E-883AC87CF1A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364" y="2328"/>
                <a:ext cx="1404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50" name="Line 42">
                <a:extLst>
                  <a:ext uri="{FF2B5EF4-FFF2-40B4-BE49-F238E27FC236}">
                    <a16:creationId xmlns:a16="http://schemas.microsoft.com/office/drawing/2014/main" id="{FB96E3A4-00D8-4F19-8235-AF4D7489B30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364" y="2568"/>
                <a:ext cx="1548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51" name="Line 43">
                <a:extLst>
                  <a:ext uri="{FF2B5EF4-FFF2-40B4-BE49-F238E27FC236}">
                    <a16:creationId xmlns:a16="http://schemas.microsoft.com/office/drawing/2014/main" id="{642DF38D-D9F6-4FD4-8965-794DB25537C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364" y="2808"/>
                <a:ext cx="1452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52" name="Line 44">
                <a:extLst>
                  <a:ext uri="{FF2B5EF4-FFF2-40B4-BE49-F238E27FC236}">
                    <a16:creationId xmlns:a16="http://schemas.microsoft.com/office/drawing/2014/main" id="{59F53211-3399-4D71-9F71-B4462A0547B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364" y="3048"/>
                <a:ext cx="1320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53" name="Line 45">
                <a:extLst>
                  <a:ext uri="{FF2B5EF4-FFF2-40B4-BE49-F238E27FC236}">
                    <a16:creationId xmlns:a16="http://schemas.microsoft.com/office/drawing/2014/main" id="{BEC873F8-1C17-4706-8ABE-F4ED045BE34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364" y="3288"/>
                <a:ext cx="1464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54" name="Line 46">
                <a:extLst>
                  <a:ext uri="{FF2B5EF4-FFF2-40B4-BE49-F238E27FC236}">
                    <a16:creationId xmlns:a16="http://schemas.microsoft.com/office/drawing/2014/main" id="{A3A0D130-835E-4C0B-B217-210DCD55111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364" y="3528"/>
                <a:ext cx="1548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55" name="Line 47">
                <a:extLst>
                  <a:ext uri="{FF2B5EF4-FFF2-40B4-BE49-F238E27FC236}">
                    <a16:creationId xmlns:a16="http://schemas.microsoft.com/office/drawing/2014/main" id="{B7DD6D62-180E-4679-81D0-22C9B8DB61A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364" y="3768"/>
                <a:ext cx="1416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  <p:sp>
          <p:nvSpPr>
            <p:cNvPr id="43057" name="Text Box 49">
              <a:extLst>
                <a:ext uri="{FF2B5EF4-FFF2-40B4-BE49-F238E27FC236}">
                  <a16:creationId xmlns:a16="http://schemas.microsoft.com/office/drawing/2014/main" id="{6B5404E2-9A4A-4BE4-BEC7-4454E30A00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3552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b="1"/>
                <a:t>vpravo</a:t>
              </a:r>
            </a:p>
          </p:txBody>
        </p:sp>
      </p:grpSp>
      <p:grpSp>
        <p:nvGrpSpPr>
          <p:cNvPr id="43065" name="Group 57">
            <a:extLst>
              <a:ext uri="{FF2B5EF4-FFF2-40B4-BE49-F238E27FC236}">
                <a16:creationId xmlns:a16="http://schemas.microsoft.com/office/drawing/2014/main" id="{747F5B5D-68D7-4EFD-9356-F7140D039B18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4470400"/>
            <a:ext cx="1524000" cy="1625600"/>
            <a:chOff x="1440" y="2816"/>
            <a:chExt cx="960" cy="1024"/>
          </a:xfrm>
        </p:grpSpPr>
        <p:grpSp>
          <p:nvGrpSpPr>
            <p:cNvPr id="43012" name="Group 4">
              <a:extLst>
                <a:ext uri="{FF2B5EF4-FFF2-40B4-BE49-F238E27FC236}">
                  <a16:creationId xmlns:a16="http://schemas.microsoft.com/office/drawing/2014/main" id="{1704FDBB-351B-4467-B140-66ED4857737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632" y="2816"/>
              <a:ext cx="540" cy="720"/>
              <a:chOff x="2454" y="1464"/>
              <a:chExt cx="2112" cy="2580"/>
            </a:xfrm>
          </p:grpSpPr>
          <p:sp>
            <p:nvSpPr>
              <p:cNvPr id="43013" name="Rectangle 5">
                <a:extLst>
                  <a:ext uri="{FF2B5EF4-FFF2-40B4-BE49-F238E27FC236}">
                    <a16:creationId xmlns:a16="http://schemas.microsoft.com/office/drawing/2014/main" id="{0BB6B9F5-DBC8-4F73-9DE4-B28F44DF81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54" y="1464"/>
                <a:ext cx="2112" cy="25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14" name="Line 6">
                <a:extLst>
                  <a:ext uri="{FF2B5EF4-FFF2-40B4-BE49-F238E27FC236}">
                    <a16:creationId xmlns:a16="http://schemas.microsoft.com/office/drawing/2014/main" id="{705C4A6E-5633-4692-A474-95B1E7608D7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736" y="1860"/>
                <a:ext cx="1548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15" name="Line 7">
                <a:extLst>
                  <a:ext uri="{FF2B5EF4-FFF2-40B4-BE49-F238E27FC236}">
                    <a16:creationId xmlns:a16="http://schemas.microsoft.com/office/drawing/2014/main" id="{3E3088BF-7709-4B5E-B5F7-9B083882B55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736" y="2100"/>
                <a:ext cx="1548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16" name="Line 8">
                <a:extLst>
                  <a:ext uri="{FF2B5EF4-FFF2-40B4-BE49-F238E27FC236}">
                    <a16:creationId xmlns:a16="http://schemas.microsoft.com/office/drawing/2014/main" id="{E0C1FEF1-EE7C-4DEF-AF79-BA9D64926A5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736" y="2340"/>
                <a:ext cx="1548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17" name="Line 9">
                <a:extLst>
                  <a:ext uri="{FF2B5EF4-FFF2-40B4-BE49-F238E27FC236}">
                    <a16:creationId xmlns:a16="http://schemas.microsoft.com/office/drawing/2014/main" id="{B66FEE55-81A3-4999-BC67-D83E15CDB4F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736" y="2580"/>
                <a:ext cx="1548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18" name="Line 10">
                <a:extLst>
                  <a:ext uri="{FF2B5EF4-FFF2-40B4-BE49-F238E27FC236}">
                    <a16:creationId xmlns:a16="http://schemas.microsoft.com/office/drawing/2014/main" id="{4A485C59-0772-49C8-A2DB-9F5D72E3D57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736" y="2820"/>
                <a:ext cx="1548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19" name="Line 11">
                <a:extLst>
                  <a:ext uri="{FF2B5EF4-FFF2-40B4-BE49-F238E27FC236}">
                    <a16:creationId xmlns:a16="http://schemas.microsoft.com/office/drawing/2014/main" id="{15F3D565-8266-421F-823F-93F48126615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736" y="3060"/>
                <a:ext cx="1548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20" name="Line 12">
                <a:extLst>
                  <a:ext uri="{FF2B5EF4-FFF2-40B4-BE49-F238E27FC236}">
                    <a16:creationId xmlns:a16="http://schemas.microsoft.com/office/drawing/2014/main" id="{CA76684A-AF7F-45CA-98F0-F7F78C2F095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736" y="3300"/>
                <a:ext cx="1548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21" name="Line 13">
                <a:extLst>
                  <a:ext uri="{FF2B5EF4-FFF2-40B4-BE49-F238E27FC236}">
                    <a16:creationId xmlns:a16="http://schemas.microsoft.com/office/drawing/2014/main" id="{D4C8FCCD-6406-4276-905D-52D821FE4B5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736" y="3540"/>
                <a:ext cx="1548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22" name="Line 14">
                <a:extLst>
                  <a:ext uri="{FF2B5EF4-FFF2-40B4-BE49-F238E27FC236}">
                    <a16:creationId xmlns:a16="http://schemas.microsoft.com/office/drawing/2014/main" id="{E7937FFE-599B-4926-8FC5-561A4AD7284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736" y="3780"/>
                <a:ext cx="1548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  <p:sp>
          <p:nvSpPr>
            <p:cNvPr id="43058" name="Text Box 50">
              <a:extLst>
                <a:ext uri="{FF2B5EF4-FFF2-40B4-BE49-F238E27FC236}">
                  <a16:creationId xmlns:a16="http://schemas.microsoft.com/office/drawing/2014/main" id="{DE333573-9719-4EA0-881A-EA13C9C3AC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552"/>
              <a:ext cx="9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b="1"/>
                <a:t>do bloku</a:t>
              </a:r>
              <a:endParaRPr lang="cs-CZ" altLang="cs-CZ"/>
            </a:p>
          </p:txBody>
        </p:sp>
      </p:grpSp>
      <p:grpSp>
        <p:nvGrpSpPr>
          <p:cNvPr id="43066" name="Group 58">
            <a:extLst>
              <a:ext uri="{FF2B5EF4-FFF2-40B4-BE49-F238E27FC236}">
                <a16:creationId xmlns:a16="http://schemas.microsoft.com/office/drawing/2014/main" id="{B1E16420-09FB-4E0E-9B15-A8D8FCE38109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4470400"/>
            <a:ext cx="1371600" cy="1625600"/>
            <a:chOff x="2640" y="2816"/>
            <a:chExt cx="864" cy="1024"/>
          </a:xfrm>
        </p:grpSpPr>
        <p:grpSp>
          <p:nvGrpSpPr>
            <p:cNvPr id="43034" name="Group 26">
              <a:extLst>
                <a:ext uri="{FF2B5EF4-FFF2-40B4-BE49-F238E27FC236}">
                  <a16:creationId xmlns:a16="http://schemas.microsoft.com/office/drawing/2014/main" id="{FB00E9C5-1FA3-4A45-9B91-FCB87A9458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784" y="2816"/>
              <a:ext cx="541" cy="720"/>
              <a:chOff x="7602" y="1476"/>
              <a:chExt cx="2112" cy="2580"/>
            </a:xfrm>
          </p:grpSpPr>
          <p:sp>
            <p:nvSpPr>
              <p:cNvPr id="43035" name="Rectangle 27">
                <a:extLst>
                  <a:ext uri="{FF2B5EF4-FFF2-40B4-BE49-F238E27FC236}">
                    <a16:creationId xmlns:a16="http://schemas.microsoft.com/office/drawing/2014/main" id="{738D826C-781F-423D-A052-E76C8B47AE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602" y="1476"/>
                <a:ext cx="2112" cy="25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36" name="Line 28">
                <a:extLst>
                  <a:ext uri="{FF2B5EF4-FFF2-40B4-BE49-F238E27FC236}">
                    <a16:creationId xmlns:a16="http://schemas.microsoft.com/office/drawing/2014/main" id="{3718668A-22BD-43C3-9EFF-1F1CD8D2B19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7884" y="1872"/>
                <a:ext cx="1548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37" name="Line 29">
                <a:extLst>
                  <a:ext uri="{FF2B5EF4-FFF2-40B4-BE49-F238E27FC236}">
                    <a16:creationId xmlns:a16="http://schemas.microsoft.com/office/drawing/2014/main" id="{650DED1C-0558-42B6-97F3-6FDBA4C0183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52" y="2112"/>
                <a:ext cx="1212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38" name="Line 30">
                <a:extLst>
                  <a:ext uri="{FF2B5EF4-FFF2-40B4-BE49-F238E27FC236}">
                    <a16:creationId xmlns:a16="http://schemas.microsoft.com/office/drawing/2014/main" id="{7C33A1DB-E565-452F-B916-5DB50A3D2BC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7956" y="2352"/>
                <a:ext cx="1404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39" name="Line 31">
                <a:extLst>
                  <a:ext uri="{FF2B5EF4-FFF2-40B4-BE49-F238E27FC236}">
                    <a16:creationId xmlns:a16="http://schemas.microsoft.com/office/drawing/2014/main" id="{4746AB88-1850-4DF8-8073-29013A05737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7884" y="2592"/>
                <a:ext cx="1548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40" name="Line 32">
                <a:extLst>
                  <a:ext uri="{FF2B5EF4-FFF2-40B4-BE49-F238E27FC236}">
                    <a16:creationId xmlns:a16="http://schemas.microsoft.com/office/drawing/2014/main" id="{D4A715B8-C6A1-4F4E-9111-526C357F3C8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7962" y="2832"/>
                <a:ext cx="1392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41" name="Line 33">
                <a:extLst>
                  <a:ext uri="{FF2B5EF4-FFF2-40B4-BE49-F238E27FC236}">
                    <a16:creationId xmlns:a16="http://schemas.microsoft.com/office/drawing/2014/main" id="{065A2A33-7156-46C2-951D-6321B66A923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76" y="3072"/>
                <a:ext cx="1164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42" name="Line 34">
                <a:extLst>
                  <a:ext uri="{FF2B5EF4-FFF2-40B4-BE49-F238E27FC236}">
                    <a16:creationId xmlns:a16="http://schemas.microsoft.com/office/drawing/2014/main" id="{7CA058D5-83BA-400D-B9FB-104AC88298E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7950" y="3312"/>
                <a:ext cx="1416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43" name="Line 35">
                <a:extLst>
                  <a:ext uri="{FF2B5EF4-FFF2-40B4-BE49-F238E27FC236}">
                    <a16:creationId xmlns:a16="http://schemas.microsoft.com/office/drawing/2014/main" id="{692CD2EE-3B4C-4B16-A47E-E6B952E16AB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7884" y="3552"/>
                <a:ext cx="1548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044" name="Line 36">
                <a:extLst>
                  <a:ext uri="{FF2B5EF4-FFF2-40B4-BE49-F238E27FC236}">
                    <a16:creationId xmlns:a16="http://schemas.microsoft.com/office/drawing/2014/main" id="{89CC672F-2271-4372-B532-DFCF441AA33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16" y="3792"/>
                <a:ext cx="1284" cy="0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  <p:sp>
          <p:nvSpPr>
            <p:cNvPr id="43059" name="Text Box 51">
              <a:extLst>
                <a:ext uri="{FF2B5EF4-FFF2-40B4-BE49-F238E27FC236}">
                  <a16:creationId xmlns:a16="http://schemas.microsoft.com/office/drawing/2014/main" id="{2C5FA629-5B5A-4F4D-8A2A-D881BF5AA9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552"/>
              <a:ext cx="8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b="1"/>
                <a:t>na střed</a:t>
              </a:r>
              <a:endParaRPr lang="cs-CZ" altLang="cs-CZ"/>
            </a:p>
          </p:txBody>
        </p:sp>
      </p:grpSp>
      <p:sp>
        <p:nvSpPr>
          <p:cNvPr id="43062" name="Rectangle 54">
            <a:extLst>
              <a:ext uri="{FF2B5EF4-FFF2-40B4-BE49-F238E27FC236}">
                <a16:creationId xmlns:a16="http://schemas.microsoft.com/office/drawing/2014/main" id="{C4439A1D-8283-4FE4-BE06-DBE039506B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Sazba – řádkování, zarovnání</a:t>
            </a:r>
          </a:p>
        </p:txBody>
      </p:sp>
      <p:sp>
        <p:nvSpPr>
          <p:cNvPr id="43063" name="Rectangle 55">
            <a:extLst>
              <a:ext uri="{FF2B5EF4-FFF2-40B4-BE49-F238E27FC236}">
                <a16:creationId xmlns:a16="http://schemas.microsoft.com/office/drawing/2014/main" id="{4C436F99-8559-49B1-B428-3186D3CD81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458200" cy="3327400"/>
          </a:xfrm>
          <a:ln/>
        </p:spPr>
        <p:txBody>
          <a:bodyPr/>
          <a:lstStyle/>
          <a:p>
            <a:r>
              <a:rPr lang="cs-CZ" altLang="cs-CZ"/>
              <a:t>mezera mezi řádky – </a:t>
            </a:r>
            <a:r>
              <a:rPr lang="cs-CZ" altLang="cs-CZ" i="1"/>
              <a:t>řádkový proklad</a:t>
            </a:r>
            <a:r>
              <a:rPr lang="cs-CZ" altLang="cs-CZ"/>
              <a:t> </a:t>
            </a:r>
          </a:p>
          <a:p>
            <a:pPr marL="819150" lvl="1"/>
            <a:r>
              <a:rPr lang="cs-CZ" altLang="cs-CZ"/>
              <a:t>určuje se v závislosti na stupni a typu písma a šířce sazby</a:t>
            </a:r>
          </a:p>
          <a:p>
            <a:pPr marL="819150" lvl="1"/>
            <a:r>
              <a:rPr lang="cs-CZ" altLang="cs-CZ"/>
              <a:t>ovlivňuje světlost </a:t>
            </a:r>
            <a:r>
              <a:rPr lang="en-US" altLang="cs-CZ"/>
              <a:t>/ </a:t>
            </a:r>
            <a:r>
              <a:rPr lang="cs-CZ" altLang="cs-CZ"/>
              <a:t>tmavost sazby</a:t>
            </a:r>
          </a:p>
          <a:p>
            <a:pPr marL="819150" lvl="1"/>
            <a:r>
              <a:rPr lang="cs-CZ" altLang="cs-CZ"/>
              <a:t>velikost je obvykle 2 pt pro písmo 9–12 pt</a:t>
            </a:r>
          </a:p>
          <a:p>
            <a:r>
              <a:rPr lang="cs-CZ" altLang="cs-CZ"/>
              <a:t>v textových editorech se nezadává proklad, ale řádkování</a:t>
            </a:r>
            <a:endParaRPr lang="cs-CZ" altLang="cs-CZ" i="1"/>
          </a:p>
          <a:p>
            <a:r>
              <a:rPr lang="cs-CZ" altLang="cs-CZ" i="1"/>
              <a:t>stránkový rejstřík</a:t>
            </a:r>
            <a:r>
              <a:rPr lang="cs-CZ" altLang="cs-CZ"/>
              <a:t> – první a poslední řádek se kryje </a:t>
            </a:r>
          </a:p>
          <a:p>
            <a:r>
              <a:rPr lang="cs-CZ" altLang="cs-CZ" i="1"/>
              <a:t>řádkový rejstřík</a:t>
            </a:r>
            <a:r>
              <a:rPr lang="cs-CZ" altLang="cs-CZ"/>
              <a:t> – všechny řádky se kryjí</a:t>
            </a:r>
          </a:p>
          <a:p>
            <a:pPr>
              <a:spcBef>
                <a:spcPct val="30000"/>
              </a:spcBef>
            </a:pPr>
            <a:r>
              <a:rPr lang="cs-CZ" altLang="cs-CZ"/>
              <a:t>zarovnání textu vzhledem ke krajům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30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430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30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430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430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430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430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430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3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3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3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3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3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3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3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63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9E68836-18B3-4569-A3E1-63B9799111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Pravidla  sazby I.</a:t>
            </a:r>
          </a:p>
        </p:txBody>
      </p:sp>
      <p:sp>
        <p:nvSpPr>
          <p:cNvPr id="16389" name="Text Box 5">
            <a:extLst>
              <a:ext uri="{FF2B5EF4-FFF2-40B4-BE49-F238E27FC236}">
                <a16:creationId xmlns:a16="http://schemas.microsoft.com/office/drawing/2014/main" id="{A05C152B-9647-480E-B5FC-A454CBD63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869950"/>
            <a:ext cx="8610600" cy="1417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38250">
              <a:tabLst>
                <a:tab pos="1235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1238250">
              <a:tabLst>
                <a:tab pos="1235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1238250">
              <a:tabLst>
                <a:tab pos="1235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1238250">
              <a:tabLst>
                <a:tab pos="1235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1238250">
              <a:tabLst>
                <a:tab pos="1235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1235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1235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1235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1235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000"/>
              </a:lnSpc>
              <a:spcAft>
                <a:spcPct val="50000"/>
              </a:spcAft>
            </a:pPr>
            <a:r>
              <a:rPr lang="cs-CZ" altLang="cs-CZ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interpunkční znaménka  </a:t>
            </a:r>
          </a:p>
          <a:p>
            <a:pPr>
              <a:lnSpc>
                <a:spcPts val="3000"/>
              </a:lnSpc>
            </a:pPr>
            <a:r>
              <a:rPr lang="cs-CZ" altLang="cs-CZ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. , : </a:t>
            </a:r>
            <a:r>
              <a:rPr lang="en-US" altLang="cs-CZ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; </a:t>
            </a:r>
            <a:r>
              <a:rPr lang="cs-CZ" altLang="cs-CZ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? !</a:t>
            </a:r>
            <a:r>
              <a:rPr lang="cs-CZ" altLang="cs-CZ" sz="32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br>
              <a:rPr lang="cs-CZ" altLang="cs-CZ"/>
            </a:br>
            <a:r>
              <a:rPr lang="cs-CZ" altLang="cs-CZ"/>
              <a:t>	těsně za slovo, bez mezery, mezera za ním</a:t>
            </a:r>
          </a:p>
        </p:txBody>
      </p:sp>
      <p:sp>
        <p:nvSpPr>
          <p:cNvPr id="16393" name="Text Box 9">
            <a:extLst>
              <a:ext uri="{FF2B5EF4-FFF2-40B4-BE49-F238E27FC236}">
                <a16:creationId xmlns:a16="http://schemas.microsoft.com/office/drawing/2014/main" id="{A141B6CF-538B-4873-8742-81D4658C0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7300" y="3733800"/>
            <a:ext cx="1781175" cy="376238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r>
              <a:rPr lang="cs-CZ" altLang="cs-CZ" sz="1800"/>
              <a:t>„hrom do police“</a:t>
            </a:r>
            <a:endParaRPr lang="cs-CZ" altLang="cs-CZ"/>
          </a:p>
        </p:txBody>
      </p:sp>
      <p:sp>
        <p:nvSpPr>
          <p:cNvPr id="16394" name="Text Box 10">
            <a:extLst>
              <a:ext uri="{FF2B5EF4-FFF2-40B4-BE49-F238E27FC236}">
                <a16:creationId xmlns:a16="http://schemas.microsoft.com/office/drawing/2014/main" id="{EEB75794-EF5C-47B0-A5AB-706D08153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3300" y="1443038"/>
            <a:ext cx="1730375" cy="37623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r>
              <a:rPr lang="cs-CZ" altLang="cs-CZ" sz="1800">
                <a:sym typeface="Symbol" panose="05050102010706020507" pitchFamily="18" charset="2"/>
              </a:rPr>
              <a:t></a:t>
            </a:r>
            <a:r>
              <a:rPr lang="cs-CZ" altLang="cs-CZ" sz="1800"/>
              <a:t> slon, který </a:t>
            </a:r>
            <a:r>
              <a:rPr lang="cs-CZ" altLang="cs-CZ" sz="1800">
                <a:sym typeface="Symbol" panose="05050102010706020507" pitchFamily="18" charset="2"/>
              </a:rPr>
              <a:t></a:t>
            </a:r>
          </a:p>
        </p:txBody>
      </p:sp>
      <p:grpSp>
        <p:nvGrpSpPr>
          <p:cNvPr id="16404" name="Group 20">
            <a:extLst>
              <a:ext uri="{FF2B5EF4-FFF2-40B4-BE49-F238E27FC236}">
                <a16:creationId xmlns:a16="http://schemas.microsoft.com/office/drawing/2014/main" id="{9CBCAB91-9394-4D9C-B606-FC982102E815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4737100"/>
            <a:ext cx="2727325" cy="1435100"/>
            <a:chOff x="3648" y="2984"/>
            <a:chExt cx="1718" cy="904"/>
          </a:xfrm>
        </p:grpSpPr>
        <p:sp>
          <p:nvSpPr>
            <p:cNvPr id="16396" name="Line 12">
              <a:extLst>
                <a:ext uri="{FF2B5EF4-FFF2-40B4-BE49-F238E27FC236}">
                  <a16:creationId xmlns:a16="http://schemas.microsoft.com/office/drawing/2014/main" id="{0B7F19E4-9F99-4D0B-9614-D08F3404FD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984"/>
              <a:ext cx="1534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16395" name="Text Box 11">
              <a:extLst>
                <a:ext uri="{FF2B5EF4-FFF2-40B4-BE49-F238E27FC236}">
                  <a16:creationId xmlns:a16="http://schemas.microsoft.com/office/drawing/2014/main" id="{4201AF34-3241-4228-AE7C-A920E34609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352"/>
              <a:ext cx="1718" cy="237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189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r>
                <a:rPr lang="cs-CZ" altLang="cs-CZ" sz="1800"/>
                <a:t>“ Konec , zvonec ! “ řekl .</a:t>
              </a:r>
              <a:endParaRPr lang="cs-CZ" altLang="cs-CZ" sz="3200" b="1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anose="05050102010706020507" pitchFamily="18" charset="2"/>
              </a:endParaRPr>
            </a:p>
          </p:txBody>
        </p:sp>
        <p:sp>
          <p:nvSpPr>
            <p:cNvPr id="16397" name="Line 13">
              <a:extLst>
                <a:ext uri="{FF2B5EF4-FFF2-40B4-BE49-F238E27FC236}">
                  <a16:creationId xmlns:a16="http://schemas.microsoft.com/office/drawing/2014/main" id="{17BA8C36-B073-4304-BE1F-35C8699556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2" y="3024"/>
              <a:ext cx="1534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</p:grpSp>
      <p:sp>
        <p:nvSpPr>
          <p:cNvPr id="16398" name="Text Box 14">
            <a:extLst>
              <a:ext uri="{FF2B5EF4-FFF2-40B4-BE49-F238E27FC236}">
                <a16:creationId xmlns:a16="http://schemas.microsoft.com/office/drawing/2014/main" id="{10F42E31-EB96-496E-BBBE-561AE9A7F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300" y="5589588"/>
            <a:ext cx="2994025" cy="37623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r>
              <a:rPr lang="cs-CZ" altLang="cs-CZ" sz="1800"/>
              <a:t>Barvínek menší (Vinca minor)</a:t>
            </a:r>
            <a:endParaRPr lang="cs-CZ" altLang="cs-CZ"/>
          </a:p>
        </p:txBody>
      </p:sp>
      <p:sp>
        <p:nvSpPr>
          <p:cNvPr id="16401" name="Text Box 17">
            <a:extLst>
              <a:ext uri="{FF2B5EF4-FFF2-40B4-BE49-F238E27FC236}">
                <a16:creationId xmlns:a16="http://schemas.microsoft.com/office/drawing/2014/main" id="{A70DE12B-7928-4506-95F7-61E3282A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287588"/>
            <a:ext cx="8610600" cy="950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000"/>
              </a:lnSpc>
              <a:spcBef>
                <a:spcPct val="50000"/>
              </a:spcBef>
              <a:spcAft>
                <a:spcPct val="20000"/>
              </a:spcAft>
            </a:pPr>
            <a:r>
              <a:rPr lang="cs-CZ" altLang="cs-CZ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výpustek</a:t>
            </a:r>
            <a:br>
              <a:rPr lang="cs-CZ" altLang="cs-CZ" b="1" i="1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cs-CZ" altLang="cs-CZ" sz="3200" b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</a:t>
            </a:r>
            <a:r>
              <a:rPr lang="cs-CZ" altLang="cs-CZ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cs-CZ" altLang="cs-CZ"/>
              <a:t>	existuje jako symbol, před něj zúžená mezera (pevná)</a:t>
            </a:r>
          </a:p>
        </p:txBody>
      </p:sp>
      <p:sp>
        <p:nvSpPr>
          <p:cNvPr id="16402" name="Text Box 18">
            <a:extLst>
              <a:ext uri="{FF2B5EF4-FFF2-40B4-BE49-F238E27FC236}">
                <a16:creationId xmlns:a16="http://schemas.microsoft.com/office/drawing/2014/main" id="{5C83F847-3776-4FA9-AECC-9AFC86AC5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382963"/>
            <a:ext cx="8610600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000"/>
              </a:lnSpc>
              <a:spcBef>
                <a:spcPct val="50000"/>
              </a:spcBef>
              <a:spcAft>
                <a:spcPct val="20000"/>
              </a:spcAft>
            </a:pPr>
            <a:r>
              <a:rPr lang="cs-CZ" altLang="cs-CZ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uvozovky, apostrofy</a:t>
            </a:r>
            <a:endParaRPr lang="cs-CZ" altLang="cs-CZ" sz="2000"/>
          </a:p>
          <a:p>
            <a:pPr>
              <a:lnSpc>
                <a:spcPts val="3000"/>
              </a:lnSpc>
            </a:pPr>
            <a:r>
              <a:rPr lang="cs-CZ" altLang="cs-CZ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„ “  ’</a:t>
            </a:r>
            <a:r>
              <a:rPr lang="cs-CZ" altLang="cs-CZ" sz="32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cs-CZ" altLang="cs-CZ"/>
              <a:t>	bez mezer ke slovu </a:t>
            </a:r>
          </a:p>
        </p:txBody>
      </p:sp>
      <p:sp>
        <p:nvSpPr>
          <p:cNvPr id="16403" name="Text Box 19">
            <a:extLst>
              <a:ext uri="{FF2B5EF4-FFF2-40B4-BE49-F238E27FC236}">
                <a16:creationId xmlns:a16="http://schemas.microsoft.com/office/drawing/2014/main" id="{1B207DD3-3F4D-4464-9C90-2C486358C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394200"/>
            <a:ext cx="8610600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000"/>
              </a:lnSpc>
              <a:spcBef>
                <a:spcPct val="50000"/>
              </a:spcBef>
              <a:spcAft>
                <a:spcPct val="20000"/>
              </a:spcAft>
            </a:pPr>
            <a:r>
              <a:rPr lang="cs-CZ" altLang="cs-CZ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závorky</a:t>
            </a:r>
            <a:endParaRPr lang="cs-CZ" altLang="cs-CZ" sz="2000"/>
          </a:p>
          <a:p>
            <a:pPr>
              <a:lnSpc>
                <a:spcPts val="3000"/>
              </a:lnSpc>
            </a:pPr>
            <a:r>
              <a:rPr lang="cs-CZ" altLang="cs-CZ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( )  </a:t>
            </a:r>
            <a:r>
              <a:rPr lang="en-US" altLang="cs-CZ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[ ]</a:t>
            </a:r>
            <a:r>
              <a:rPr lang="cs-CZ" altLang="cs-CZ" sz="32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cs-CZ" altLang="cs-CZ"/>
              <a:t>	bez mezer ke slovu, vně mezera</a:t>
            </a:r>
            <a:r>
              <a:rPr lang="cs-CZ" altLang="cs-CZ" sz="32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3" grpId="0" animBg="1" autoUpdateAnimBg="0"/>
      <p:bldP spid="16394" grpId="0" animBg="1" autoUpdateAnimBg="0"/>
      <p:bldP spid="16398" grpId="0" animBg="1" autoUpdateAnimBg="0"/>
      <p:bldP spid="16401" grpId="0" autoUpdateAnimBg="0"/>
      <p:bldP spid="16402" grpId="0" autoUpdateAnimBg="0"/>
      <p:bldP spid="1640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2" name="Text Box 18">
            <a:extLst>
              <a:ext uri="{FF2B5EF4-FFF2-40B4-BE49-F238E27FC236}">
                <a16:creationId xmlns:a16="http://schemas.microsoft.com/office/drawing/2014/main" id="{8CFC2F90-FC77-4987-B595-431B4B9FF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869950"/>
            <a:ext cx="86106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38250"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defTabSz="1238250"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81000" defTabSz="1238250"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963613" indent="-392113" defTabSz="1238250"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1238250"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000"/>
              </a:lnSpc>
            </a:pPr>
            <a:r>
              <a:rPr lang="cs-CZ" altLang="cs-CZ" sz="32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cs-CZ" altLang="cs-CZ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- </a:t>
            </a:r>
            <a:r>
              <a:rPr lang="cs-CZ" altLang="cs-CZ" b="1"/>
              <a:t>	</a:t>
            </a:r>
            <a:r>
              <a:rPr lang="cs-CZ" altLang="cs-CZ" b="1" i="1"/>
              <a:t>spojovník (1/3 em)</a:t>
            </a:r>
            <a:r>
              <a:rPr lang="cs-CZ" altLang="cs-CZ" b="1"/>
              <a:t> </a:t>
            </a:r>
          </a:p>
          <a:p>
            <a:pPr lvl="3">
              <a:buSzPct val="90000"/>
              <a:buFont typeface="Symbol" panose="05050102010706020507" pitchFamily="18" charset="2"/>
              <a:buChar char="·"/>
            </a:pPr>
            <a:r>
              <a:rPr lang="cs-CZ" altLang="cs-CZ" b="1"/>
              <a:t> </a:t>
            </a:r>
            <a:r>
              <a:rPr lang="cs-CZ" altLang="cs-CZ" sz="2000" b="1"/>
              <a:t>rozdělení slov na konci řádku</a:t>
            </a:r>
          </a:p>
          <a:p>
            <a:pPr lvl="3">
              <a:buSzPct val="90000"/>
              <a:buFont typeface="Symbol" panose="05050102010706020507" pitchFamily="18" charset="2"/>
              <a:buChar char="·"/>
            </a:pPr>
            <a:r>
              <a:rPr lang="cs-CZ" altLang="cs-CZ" sz="2000" b="1"/>
              <a:t> spojování slov</a:t>
            </a:r>
          </a:p>
          <a:p>
            <a:pPr lvl="3">
              <a:buSzPct val="90000"/>
              <a:buFont typeface="Symbol" panose="05050102010706020507" pitchFamily="18" charset="2"/>
              <a:buChar char="·"/>
            </a:pPr>
            <a:r>
              <a:rPr lang="cs-CZ" altLang="cs-CZ" sz="2000" b="1"/>
              <a:t> bez mezer</a:t>
            </a:r>
            <a:endParaRPr lang="cs-CZ" altLang="cs-CZ" b="1">
              <a:solidFill>
                <a:srgbClr val="A50021"/>
              </a:solidFill>
            </a:endParaRPr>
          </a:p>
        </p:txBody>
      </p:sp>
      <p:sp>
        <p:nvSpPr>
          <p:cNvPr id="21523" name="Text Box 19">
            <a:extLst>
              <a:ext uri="{FF2B5EF4-FFF2-40B4-BE49-F238E27FC236}">
                <a16:creationId xmlns:a16="http://schemas.microsoft.com/office/drawing/2014/main" id="{B48AD6A1-6AAD-44D8-A815-7AEFD2311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38" y="2557463"/>
            <a:ext cx="8610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38250"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defTabSz="1238250"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81000" defTabSz="1238250"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154113" indent="-300038" defTabSz="1238250"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1238250"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000"/>
              </a:lnSpc>
            </a:pPr>
            <a:r>
              <a:rPr lang="cs-CZ" altLang="cs-CZ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 — </a:t>
            </a:r>
            <a:r>
              <a:rPr lang="cs-CZ" altLang="cs-CZ" b="1"/>
              <a:t>	</a:t>
            </a:r>
            <a:r>
              <a:rPr lang="cs-CZ" altLang="cs-CZ" b="1" i="1"/>
              <a:t>pomlčka jako oddělovač větných celků (1/2 em, 1 em)</a:t>
            </a:r>
          </a:p>
          <a:p>
            <a:pPr lvl="3">
              <a:buFontTx/>
              <a:buChar char="•"/>
            </a:pPr>
            <a:r>
              <a:rPr lang="cs-CZ" altLang="cs-CZ" b="1"/>
              <a:t> </a:t>
            </a:r>
            <a:r>
              <a:rPr lang="cs-CZ" altLang="cs-CZ" sz="2000" b="1"/>
              <a:t>píše se s mezerami</a:t>
            </a:r>
            <a:r>
              <a:rPr lang="cs-CZ" altLang="cs-CZ" b="1"/>
              <a:t> </a:t>
            </a:r>
            <a:endParaRPr lang="cs-CZ" altLang="cs-CZ" b="1">
              <a:solidFill>
                <a:srgbClr val="A50021"/>
              </a:solidFill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4BBB0BC1-B3AB-4DBF-A005-0E850CDCF5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Pravidla  sazby II.</a:t>
            </a:r>
          </a:p>
        </p:txBody>
      </p:sp>
      <p:sp>
        <p:nvSpPr>
          <p:cNvPr id="21512" name="Text Box 8">
            <a:extLst>
              <a:ext uri="{FF2B5EF4-FFF2-40B4-BE49-F238E27FC236}">
                <a16:creationId xmlns:a16="http://schemas.microsoft.com/office/drawing/2014/main" id="{BBB6CB83-92C2-475E-8842-FA858C219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6013" y="1149350"/>
            <a:ext cx="1654175" cy="3079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tIns="0" bIns="0"/>
          <a:lstStyle/>
          <a:p>
            <a:r>
              <a:rPr lang="cs-CZ" altLang="cs-CZ" sz="1800" b="1"/>
              <a:t>Frýdek-Místek</a:t>
            </a:r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4CC26986-82AA-47C4-AFB3-FFD8774D9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163" y="3155950"/>
            <a:ext cx="3673475" cy="3079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tIns="0" bIns="0"/>
          <a:lstStyle/>
          <a:p>
            <a:r>
              <a:rPr lang="cs-CZ" altLang="cs-CZ" sz="1800" b="1"/>
              <a:t>Zapracoval – a výsledek se dostavil.</a:t>
            </a:r>
          </a:p>
        </p:txBody>
      </p:sp>
      <p:sp>
        <p:nvSpPr>
          <p:cNvPr id="21514" name="Rectangle 10">
            <a:extLst>
              <a:ext uri="{FF2B5EF4-FFF2-40B4-BE49-F238E27FC236}">
                <a16:creationId xmlns:a16="http://schemas.microsoft.com/office/drawing/2014/main" id="{1EA108A9-D63E-4D07-BE23-597F9164C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650" y="4121150"/>
            <a:ext cx="1247775" cy="3079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tIns="0" bIns="0"/>
          <a:lstStyle/>
          <a:p>
            <a:r>
              <a:rPr lang="cs-CZ" altLang="cs-CZ" sz="1800" b="1"/>
              <a:t>12–14 hod.</a:t>
            </a:r>
          </a:p>
        </p:txBody>
      </p:sp>
      <p:sp>
        <p:nvSpPr>
          <p:cNvPr id="21516" name="Rectangle 12">
            <a:extLst>
              <a:ext uri="{FF2B5EF4-FFF2-40B4-BE49-F238E27FC236}">
                <a16:creationId xmlns:a16="http://schemas.microsoft.com/office/drawing/2014/main" id="{0D410CBC-EA29-42DA-AF69-012F1E3C5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038" y="4629150"/>
            <a:ext cx="1565275" cy="3079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tIns="0" bIns="0"/>
          <a:lstStyle/>
          <a:p>
            <a:r>
              <a:rPr lang="cs-CZ" altLang="cs-CZ" sz="1800" b="1"/>
              <a:t>Sparta–Slávia</a:t>
            </a:r>
          </a:p>
        </p:txBody>
      </p:sp>
      <p:sp>
        <p:nvSpPr>
          <p:cNvPr id="21517" name="Rectangle 13">
            <a:extLst>
              <a:ext uri="{FF2B5EF4-FFF2-40B4-BE49-F238E27FC236}">
                <a16:creationId xmlns:a16="http://schemas.microsoft.com/office/drawing/2014/main" id="{E62E11C0-F2D0-4B25-87EF-CF7A42E24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3775" y="5959475"/>
            <a:ext cx="1973263" cy="344488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tIns="0" bIns="0"/>
          <a:lstStyle/>
          <a:p>
            <a:r>
              <a:rPr lang="cs-CZ" altLang="cs-CZ" sz="1800" b="1"/>
              <a:t>(x - 4y)(x + y) </a:t>
            </a:r>
            <a:r>
              <a:rPr lang="cs-CZ" altLang="cs-CZ" sz="1800" b="1">
                <a:sym typeface="Symbol" panose="05050102010706020507" pitchFamily="18" charset="2"/>
              </a:rPr>
              <a:t> 14</a:t>
            </a:r>
          </a:p>
        </p:txBody>
      </p:sp>
      <p:sp>
        <p:nvSpPr>
          <p:cNvPr id="21518" name="Text Box 14">
            <a:extLst>
              <a:ext uri="{FF2B5EF4-FFF2-40B4-BE49-F238E27FC236}">
                <a16:creationId xmlns:a16="http://schemas.microsoft.com/office/drawing/2014/main" id="{34626F48-FE29-48EA-9F32-43071BC09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9463" y="1906588"/>
            <a:ext cx="1628775" cy="3079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tIns="0" bIns="0"/>
          <a:lstStyle/>
          <a:p>
            <a:r>
              <a:rPr lang="cs-CZ" altLang="cs-CZ" sz="1800" b="1"/>
              <a:t>česko-anglický</a:t>
            </a:r>
          </a:p>
        </p:txBody>
      </p:sp>
      <p:sp>
        <p:nvSpPr>
          <p:cNvPr id="21519" name="Text Box 15">
            <a:extLst>
              <a:ext uri="{FF2B5EF4-FFF2-40B4-BE49-F238E27FC236}">
                <a16:creationId xmlns:a16="http://schemas.microsoft.com/office/drawing/2014/main" id="{BF4138B9-8A03-48FE-9C5C-0298BBAFA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6225" y="1816100"/>
            <a:ext cx="879475" cy="3079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tIns="0" bIns="0"/>
          <a:lstStyle/>
          <a:p>
            <a:r>
              <a:rPr lang="cs-CZ" altLang="cs-CZ" sz="1800" b="1"/>
              <a:t>bude-li</a:t>
            </a:r>
          </a:p>
        </p:txBody>
      </p:sp>
      <p:sp>
        <p:nvSpPr>
          <p:cNvPr id="21520" name="Text Box 16">
            <a:extLst>
              <a:ext uri="{FF2B5EF4-FFF2-40B4-BE49-F238E27FC236}">
                <a16:creationId xmlns:a16="http://schemas.microsoft.com/office/drawing/2014/main" id="{59004F51-B20A-4F0E-B08E-4FE2FF8F3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8663" y="1141413"/>
            <a:ext cx="1336675" cy="3079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tIns="0" bIns="0"/>
          <a:lstStyle/>
          <a:p>
            <a:r>
              <a:rPr lang="cs-CZ" altLang="cs-CZ" sz="1800" b="1"/>
              <a:t>Brno-město</a:t>
            </a:r>
          </a:p>
        </p:txBody>
      </p:sp>
      <p:sp>
        <p:nvSpPr>
          <p:cNvPr id="21521" name="Text Box 17">
            <a:extLst>
              <a:ext uri="{FF2B5EF4-FFF2-40B4-BE49-F238E27FC236}">
                <a16:creationId xmlns:a16="http://schemas.microsoft.com/office/drawing/2014/main" id="{FAF219DF-1202-43C8-A528-958BF461F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0350" y="1790700"/>
            <a:ext cx="2276475" cy="3079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tIns="0" bIns="0"/>
          <a:lstStyle/>
          <a:p>
            <a:r>
              <a:rPr lang="cs-CZ" altLang="cs-CZ" sz="1800" b="1"/>
              <a:t>společensko-politický</a:t>
            </a:r>
          </a:p>
        </p:txBody>
      </p:sp>
      <p:sp>
        <p:nvSpPr>
          <p:cNvPr id="21524" name="Text Box 20">
            <a:extLst>
              <a:ext uri="{FF2B5EF4-FFF2-40B4-BE49-F238E27FC236}">
                <a16:creationId xmlns:a16="http://schemas.microsoft.com/office/drawing/2014/main" id="{0F6D5685-C262-4BB6-91A5-5C89C218C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744913"/>
            <a:ext cx="8610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38250"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defTabSz="1238250"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81000" defTabSz="1238250"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154113" indent="-300038" defTabSz="1238250"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1238250"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000"/>
              </a:lnSpc>
            </a:pPr>
            <a:r>
              <a:rPr lang="cs-CZ" altLang="cs-CZ" sz="32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cs-CZ" altLang="cs-CZ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– </a:t>
            </a:r>
            <a:r>
              <a:rPr lang="cs-CZ" altLang="cs-CZ" b="1"/>
              <a:t>	 </a:t>
            </a:r>
            <a:r>
              <a:rPr lang="cs-CZ" altLang="cs-CZ" b="1" i="1"/>
              <a:t>pomlčka ve významu až, od–do, versus (1/2 em)</a:t>
            </a:r>
            <a:endParaRPr lang="cs-CZ" altLang="cs-CZ" b="1"/>
          </a:p>
          <a:p>
            <a:pPr lvl="3">
              <a:buFontTx/>
              <a:buChar char="•"/>
            </a:pPr>
            <a:r>
              <a:rPr lang="cs-CZ" altLang="cs-CZ" b="1"/>
              <a:t> </a:t>
            </a:r>
            <a:r>
              <a:rPr lang="cs-CZ" altLang="cs-CZ" sz="2000" b="1"/>
              <a:t>bez mezer, na konci řádku nutno nahradit slovem</a:t>
            </a:r>
            <a:endParaRPr lang="cs-CZ" altLang="cs-CZ" b="1">
              <a:solidFill>
                <a:srgbClr val="A50021"/>
              </a:solidFill>
            </a:endParaRPr>
          </a:p>
        </p:txBody>
      </p:sp>
      <p:sp>
        <p:nvSpPr>
          <p:cNvPr id="21525" name="Text Box 21">
            <a:extLst>
              <a:ext uri="{FF2B5EF4-FFF2-40B4-BE49-F238E27FC236}">
                <a16:creationId xmlns:a16="http://schemas.microsoft.com/office/drawing/2014/main" id="{A39A4BA6-A1C3-493E-A5EA-B8C20D625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4967288"/>
            <a:ext cx="8610600" cy="108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38250"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defTabSz="1238250"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81000" defTabSz="1238250"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154113" indent="-300038" defTabSz="1238250"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1238250"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8540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000"/>
              </a:lnSpc>
            </a:pPr>
            <a:r>
              <a:rPr lang="cs-CZ" altLang="cs-CZ" sz="32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</a:t>
            </a:r>
            <a:r>
              <a:rPr lang="cs-CZ" altLang="cs-CZ" sz="3200" b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</a:t>
            </a:r>
            <a:r>
              <a:rPr lang="cs-CZ" altLang="cs-CZ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cs-CZ" altLang="cs-CZ" b="1"/>
              <a:t>	 </a:t>
            </a:r>
            <a:r>
              <a:rPr lang="cs-CZ" altLang="cs-CZ" b="1" i="1"/>
              <a:t>matematické znaménko minus  (1/2 em)</a:t>
            </a:r>
            <a:endParaRPr lang="cs-CZ" altLang="cs-CZ" b="1"/>
          </a:p>
          <a:p>
            <a:pPr lvl="3">
              <a:buSzPct val="90000"/>
              <a:buFont typeface="Symbol" panose="05050102010706020507" pitchFamily="18" charset="2"/>
              <a:buChar char="·"/>
            </a:pPr>
            <a:r>
              <a:rPr lang="cs-CZ" altLang="cs-CZ" sz="2000" b="1"/>
              <a:t> šířka musí odpovídat šířce číslic kvůli zarovnání </a:t>
            </a:r>
          </a:p>
          <a:p>
            <a:pPr lvl="3">
              <a:buSzPct val="90000"/>
              <a:buFont typeface="Symbol" panose="05050102010706020507" pitchFamily="18" charset="2"/>
              <a:buChar char="·"/>
            </a:pPr>
            <a:r>
              <a:rPr lang="cs-CZ" altLang="cs-CZ" sz="2000" b="1"/>
              <a:t> píše se s mezerami</a:t>
            </a:r>
            <a:endParaRPr lang="cs-CZ" altLang="cs-CZ" b="1">
              <a:solidFill>
                <a:srgbClr val="A5002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2" grpId="0" autoUpdateAnimBg="0"/>
      <p:bldP spid="21523" grpId="0" autoUpdateAnimBg="0"/>
      <p:bldP spid="21512" grpId="0" animBg="1" autoUpdateAnimBg="0"/>
      <p:bldP spid="21513" grpId="0" animBg="1" autoUpdateAnimBg="0"/>
      <p:bldP spid="21514" grpId="0" animBg="1" autoUpdateAnimBg="0"/>
      <p:bldP spid="21516" grpId="0" animBg="1" autoUpdateAnimBg="0"/>
      <p:bldP spid="21517" grpId="0" animBg="1" autoUpdateAnimBg="0"/>
      <p:bldP spid="21518" grpId="0" animBg="1" autoUpdateAnimBg="0"/>
      <p:bldP spid="21519" grpId="0" animBg="1" autoUpdateAnimBg="0"/>
      <p:bldP spid="21520" grpId="0" animBg="1" autoUpdateAnimBg="0"/>
      <p:bldP spid="21521" grpId="0" animBg="1" autoUpdateAnimBg="0"/>
      <p:bldP spid="21524" grpId="0" autoUpdateAnimBg="0"/>
      <p:bldP spid="2152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26">
            <a:extLst>
              <a:ext uri="{FF2B5EF4-FFF2-40B4-BE49-F238E27FC236}">
                <a16:creationId xmlns:a16="http://schemas.microsoft.com/office/drawing/2014/main" id="{909555A7-F6BF-47E1-AF60-5B7BD97F8E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Pravidla  sazby III.</a:t>
            </a:r>
          </a:p>
        </p:txBody>
      </p:sp>
      <p:sp>
        <p:nvSpPr>
          <p:cNvPr id="41987" name="Text Box 1027">
            <a:extLst>
              <a:ext uri="{FF2B5EF4-FFF2-40B4-BE49-F238E27FC236}">
                <a16:creationId xmlns:a16="http://schemas.microsoft.com/office/drawing/2014/main" id="{59FE0FDA-0F5A-4579-8E6A-69A2588A6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869950"/>
            <a:ext cx="8610600" cy="1189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38250"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defTabSz="1238250"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81000" defTabSz="1238250"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71500" defTabSz="1238250"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333500" defTabSz="1238250"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790700"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47900"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705100"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162300"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cs-CZ" altLang="cs-CZ" b="1">
                <a:effectLst>
                  <a:outerShdw blurRad="38100" dist="38100" dir="2700000" algn="tl">
                    <a:srgbClr val="C0C0C0"/>
                  </a:outerShdw>
                </a:effectLst>
              </a:rPr>
              <a:t>%</a:t>
            </a:r>
            <a:r>
              <a:rPr lang="cs-CZ" altLang="cs-CZ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cs-CZ" altLang="cs-CZ" b="1"/>
              <a:t>	procenta</a:t>
            </a:r>
          </a:p>
          <a:p>
            <a:r>
              <a:rPr lang="cs-CZ" altLang="cs-CZ" sz="2000" b="1"/>
              <a:t>	čte-li se jako podst. jméno zúžená mezera</a:t>
            </a:r>
          </a:p>
          <a:p>
            <a:r>
              <a:rPr lang="cs-CZ" altLang="cs-CZ" sz="2000" b="1"/>
              <a:t>	čte-li se jako přídavné jméno bez mezer</a:t>
            </a:r>
            <a:endParaRPr lang="cs-CZ" altLang="cs-CZ" b="1"/>
          </a:p>
        </p:txBody>
      </p:sp>
      <p:sp>
        <p:nvSpPr>
          <p:cNvPr id="41993" name="Text Box 1033">
            <a:extLst>
              <a:ext uri="{FF2B5EF4-FFF2-40B4-BE49-F238E27FC236}">
                <a16:creationId xmlns:a16="http://schemas.microsoft.com/office/drawing/2014/main" id="{FDDDCFA2-8471-49C7-80BD-1D2DAFDE4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8425" y="1177925"/>
            <a:ext cx="2390775" cy="6508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r>
              <a:rPr lang="cs-CZ" altLang="cs-CZ" sz="1800">
                <a:sym typeface="Symbol" panose="05050102010706020507" pitchFamily="18" charset="2"/>
              </a:rPr>
              <a:t>volební účast byla 78 %</a:t>
            </a:r>
          </a:p>
          <a:p>
            <a:r>
              <a:rPr lang="cs-CZ" altLang="cs-CZ" sz="1800">
                <a:sym typeface="Symbol" panose="05050102010706020507" pitchFamily="18" charset="2"/>
              </a:rPr>
              <a:t>60% kyselina octová</a:t>
            </a:r>
          </a:p>
        </p:txBody>
      </p:sp>
      <p:sp>
        <p:nvSpPr>
          <p:cNvPr id="41994" name="Text Box 1034">
            <a:extLst>
              <a:ext uri="{FF2B5EF4-FFF2-40B4-BE49-F238E27FC236}">
                <a16:creationId xmlns:a16="http://schemas.microsoft.com/office/drawing/2014/main" id="{0B6F67A1-4A16-45FF-9C04-02523D867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362200"/>
            <a:ext cx="1905000" cy="6508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cs-CZ" altLang="cs-CZ" sz="1800">
                <a:sym typeface="Symbol" panose="05050102010706020507" pitchFamily="18" charset="2"/>
              </a:rPr>
              <a:t>25 °C	12° pivo</a:t>
            </a:r>
          </a:p>
          <a:p>
            <a:r>
              <a:rPr lang="cs-CZ" altLang="cs-CZ" sz="1800">
                <a:sym typeface="Symbol" panose="05050102010706020507" pitchFamily="18" charset="2"/>
              </a:rPr>
              <a:t>úhel 30°12´</a:t>
            </a:r>
          </a:p>
        </p:txBody>
      </p:sp>
      <p:sp>
        <p:nvSpPr>
          <p:cNvPr id="41995" name="Text Box 1035">
            <a:extLst>
              <a:ext uri="{FF2B5EF4-FFF2-40B4-BE49-F238E27FC236}">
                <a16:creationId xmlns:a16="http://schemas.microsoft.com/office/drawing/2014/main" id="{6CFDD76C-41C6-45A4-A31B-E80341F5E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657600"/>
            <a:ext cx="2286000" cy="120015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cs-CZ" altLang="cs-CZ" sz="1800">
                <a:sym typeface="Symbol" panose="05050102010706020507" pitchFamily="18" charset="2"/>
              </a:rPr>
              <a:t>atd.   aj.   např.   tzv.</a:t>
            </a:r>
          </a:p>
          <a:p>
            <a:r>
              <a:rPr lang="cs-CZ" altLang="cs-CZ" sz="1800">
                <a:sym typeface="Symbol" panose="05050102010706020507" pitchFamily="18" charset="2"/>
              </a:rPr>
              <a:t>atd.   apod.  </a:t>
            </a:r>
          </a:p>
          <a:p>
            <a:r>
              <a:rPr lang="cs-CZ" altLang="cs-CZ" sz="1800">
                <a:sym typeface="Symbol" panose="05050102010706020507" pitchFamily="18" charset="2"/>
              </a:rPr>
              <a:t>NATO    OSN</a:t>
            </a:r>
          </a:p>
          <a:p>
            <a:r>
              <a:rPr lang="cs-CZ" altLang="cs-CZ" sz="1800">
                <a:sym typeface="Symbol" panose="05050102010706020507" pitchFamily="18" charset="2"/>
              </a:rPr>
              <a:t>viz obr. 7</a:t>
            </a:r>
          </a:p>
        </p:txBody>
      </p:sp>
      <p:grpSp>
        <p:nvGrpSpPr>
          <p:cNvPr id="42000" name="Group 1040">
            <a:extLst>
              <a:ext uri="{FF2B5EF4-FFF2-40B4-BE49-F238E27FC236}">
                <a16:creationId xmlns:a16="http://schemas.microsoft.com/office/drawing/2014/main" id="{AB49FEFD-2020-4CDB-9773-25404EDBA8B2}"/>
              </a:ext>
            </a:extLst>
          </p:cNvPr>
          <p:cNvGrpSpPr>
            <a:grpSpLocks/>
          </p:cNvGrpSpPr>
          <p:nvPr/>
        </p:nvGrpSpPr>
        <p:grpSpPr bwMode="auto">
          <a:xfrm>
            <a:off x="3556000" y="4965700"/>
            <a:ext cx="1955800" cy="1235075"/>
            <a:chOff x="2240" y="3128"/>
            <a:chExt cx="1232" cy="778"/>
          </a:xfrm>
        </p:grpSpPr>
        <p:sp>
          <p:nvSpPr>
            <p:cNvPr id="41998" name="Line 1038">
              <a:extLst>
                <a:ext uri="{FF2B5EF4-FFF2-40B4-BE49-F238E27FC236}">
                  <a16:creationId xmlns:a16="http://schemas.microsoft.com/office/drawing/2014/main" id="{D201CF64-F4C2-43C5-98C2-A43A270A5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233"/>
              <a:ext cx="1216" cy="6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41996" name="Text Box 1036">
              <a:extLst>
                <a:ext uri="{FF2B5EF4-FFF2-40B4-BE49-F238E27FC236}">
                  <a16:creationId xmlns:a16="http://schemas.microsoft.com/office/drawing/2014/main" id="{4F0E6866-D481-40F3-976A-E7020DBD14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360"/>
              <a:ext cx="816" cy="41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189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r>
                <a:rPr lang="cs-CZ" altLang="cs-CZ" sz="1800">
                  <a:sym typeface="Symbol" panose="05050102010706020507" pitchFamily="18" charset="2"/>
                </a:rPr>
                <a:t>t.j.     t.zv. </a:t>
              </a:r>
            </a:p>
            <a:p>
              <a:r>
                <a:rPr lang="cs-CZ" altLang="cs-CZ" sz="1800">
                  <a:sym typeface="Symbol" panose="05050102010706020507" pitchFamily="18" charset="2"/>
                </a:rPr>
                <a:t>viz. obr. 18.</a:t>
              </a:r>
            </a:p>
          </p:txBody>
        </p:sp>
        <p:sp>
          <p:nvSpPr>
            <p:cNvPr id="41999" name="Line 1039">
              <a:extLst>
                <a:ext uri="{FF2B5EF4-FFF2-40B4-BE49-F238E27FC236}">
                  <a16:creationId xmlns:a16="http://schemas.microsoft.com/office/drawing/2014/main" id="{8A13DD61-3952-4621-B599-72F936963D1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085195" flipH="1">
              <a:off x="2240" y="3128"/>
              <a:ext cx="1216" cy="6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</p:grpSp>
      <p:sp>
        <p:nvSpPr>
          <p:cNvPr id="42001" name="Text Box 1041">
            <a:extLst>
              <a:ext uri="{FF2B5EF4-FFF2-40B4-BE49-F238E27FC236}">
                <a16:creationId xmlns:a16="http://schemas.microsoft.com/office/drawing/2014/main" id="{4B493849-B31D-46FA-A968-A538882BB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058988"/>
            <a:ext cx="8610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38250"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defTabSz="1238250"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81000" defTabSz="1238250"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71500" defTabSz="1238250"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333500" defTabSz="1238250"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790700"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47900"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705100"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162300"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30000"/>
              </a:spcBef>
            </a:pPr>
            <a:r>
              <a:rPr lang="cs-CZ" altLang="cs-CZ" b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°</a:t>
            </a:r>
            <a:r>
              <a:rPr lang="cs-CZ" altLang="cs-CZ" b="1"/>
              <a:t>	stupeň</a:t>
            </a:r>
          </a:p>
          <a:p>
            <a:pPr>
              <a:lnSpc>
                <a:spcPts val="2400"/>
              </a:lnSpc>
            </a:pPr>
            <a:r>
              <a:rPr lang="cs-CZ" altLang="cs-CZ" sz="2000" b="1"/>
              <a:t>	alkohol a stupeň bez mezer</a:t>
            </a:r>
          </a:p>
          <a:p>
            <a:pPr>
              <a:lnSpc>
                <a:spcPts val="2400"/>
              </a:lnSpc>
            </a:pPr>
            <a:r>
              <a:rPr lang="cs-CZ" altLang="cs-CZ" sz="2000" b="1"/>
              <a:t>	teplota zúžená mezera a k jednotce	</a:t>
            </a:r>
            <a:endParaRPr lang="cs-CZ" altLang="cs-CZ" b="1"/>
          </a:p>
        </p:txBody>
      </p:sp>
      <p:sp>
        <p:nvSpPr>
          <p:cNvPr id="42002" name="Text Box 1042">
            <a:extLst>
              <a:ext uri="{FF2B5EF4-FFF2-40B4-BE49-F238E27FC236}">
                <a16:creationId xmlns:a16="http://schemas.microsoft.com/office/drawing/2014/main" id="{3070EF45-B379-490E-9E24-C814FBC5B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455988"/>
            <a:ext cx="8610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38250"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defTabSz="1238250"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81000" defTabSz="1238250"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71500" defTabSz="1238250"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333500" defTabSz="1238250"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790700"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47900"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705100"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162300" defTabSz="1238250" eaLnBrk="0" fontAlgn="base" hangingPunct="0">
              <a:spcBef>
                <a:spcPct val="0"/>
              </a:spcBef>
              <a:spcAft>
                <a:spcPct val="0"/>
              </a:spcAft>
              <a:tabLst>
                <a:tab pos="762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30000"/>
              </a:spcBef>
            </a:pPr>
            <a:r>
              <a:rPr lang="cs-CZ" altLang="cs-CZ" b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zkratky</a:t>
            </a:r>
            <a:endParaRPr lang="cs-CZ" altLang="cs-CZ" b="1"/>
          </a:p>
          <a:p>
            <a:pPr>
              <a:lnSpc>
                <a:spcPts val="2400"/>
              </a:lnSpc>
            </a:pPr>
            <a:r>
              <a:rPr lang="cs-CZ" altLang="cs-CZ" sz="2000" b="1"/>
              <a:t>	ne na začátku věty</a:t>
            </a:r>
          </a:p>
          <a:p>
            <a:pPr>
              <a:lnSpc>
                <a:spcPts val="2400"/>
              </a:lnSpc>
            </a:pPr>
            <a:r>
              <a:rPr lang="cs-CZ" altLang="cs-CZ" sz="2000" b="1"/>
              <a:t>	spojené do jednoho slova s tečkou na konci</a:t>
            </a:r>
          </a:p>
          <a:p>
            <a:pPr>
              <a:lnSpc>
                <a:spcPts val="2400"/>
              </a:lnSpc>
            </a:pPr>
            <a:r>
              <a:rPr lang="cs-CZ" altLang="cs-CZ" sz="2000" b="1"/>
              <a:t>	iniciálové zkratky bez tečky</a:t>
            </a:r>
          </a:p>
          <a:p>
            <a:pPr>
              <a:lnSpc>
                <a:spcPts val="2400"/>
              </a:lnSpc>
            </a:pPr>
            <a:r>
              <a:rPr lang="cs-CZ" altLang="cs-CZ" sz="2000" b="1"/>
              <a:t>	viz není zkratka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4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2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3" grpId="0" animBg="1" autoUpdateAnimBg="0"/>
      <p:bldP spid="41994" grpId="0" animBg="1" autoUpdateAnimBg="0"/>
      <p:bldP spid="41995" grpId="0" animBg="1" autoUpdateAnimBg="0"/>
      <p:bldP spid="42001" grpId="0" autoUpdateAnimBg="0"/>
      <p:bldP spid="42002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F42FDA9-8E82-4BA3-BC5B-9EB7E81AC8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Pravidla  sazby – čísla</a:t>
            </a:r>
          </a:p>
        </p:txBody>
      </p:sp>
      <p:sp>
        <p:nvSpPr>
          <p:cNvPr id="37891" name="Text Box 3">
            <a:extLst>
              <a:ext uri="{FF2B5EF4-FFF2-40B4-BE49-F238E27FC236}">
                <a16:creationId xmlns:a16="http://schemas.microsoft.com/office/drawing/2014/main" id="{42C51410-8714-4440-A3EC-40FCE0331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14400"/>
            <a:ext cx="8610600" cy="123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810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715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620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2192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764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1336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908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000"/>
              </a:lnSpc>
            </a:pPr>
            <a:r>
              <a:rPr lang="cs-CZ" altLang="cs-CZ" b="1">
                <a:effectLst>
                  <a:outerShdw blurRad="38100" dist="38100" dir="2700000" algn="tl">
                    <a:srgbClr val="C0C0C0"/>
                  </a:outerShdw>
                </a:effectLst>
              </a:rPr>
              <a:t>dvě, sto</a:t>
            </a:r>
            <a:r>
              <a:rPr lang="cs-CZ" altLang="cs-CZ"/>
              <a:t>	v souvislém textu slovy</a:t>
            </a:r>
          </a:p>
          <a:p>
            <a:pPr>
              <a:lnSpc>
                <a:spcPts val="3000"/>
              </a:lnSpc>
            </a:pPr>
            <a:r>
              <a:rPr lang="cs-CZ" altLang="cs-CZ" b="1">
                <a:effectLst>
                  <a:outerShdw blurRad="38100" dist="38100" dir="2700000" algn="tl">
                    <a:srgbClr val="C0C0C0"/>
                  </a:outerShdw>
                </a:effectLst>
              </a:rPr>
              <a:t>158</a:t>
            </a:r>
            <a:r>
              <a:rPr lang="cs-CZ" altLang="cs-CZ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cs-CZ" altLang="cs-CZ"/>
              <a:t>	v technické textu číslice</a:t>
            </a:r>
          </a:p>
          <a:p>
            <a:pPr>
              <a:lnSpc>
                <a:spcPts val="3000"/>
              </a:lnSpc>
            </a:pPr>
            <a:r>
              <a:rPr lang="cs-CZ" altLang="cs-CZ" b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	</a:t>
            </a:r>
            <a:r>
              <a:rPr lang="cs-CZ" altLang="cs-CZ">
                <a:sym typeface="Symbol" panose="05050102010706020507" pitchFamily="18" charset="2"/>
              </a:rPr>
              <a:t>věta nesmí začínat číslicí</a:t>
            </a:r>
            <a:endParaRPr lang="cs-CZ" altLang="cs-CZ" b="1"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</p:txBody>
      </p:sp>
      <p:sp>
        <p:nvSpPr>
          <p:cNvPr id="37894" name="Text Box 6">
            <a:extLst>
              <a:ext uri="{FF2B5EF4-FFF2-40B4-BE49-F238E27FC236}">
                <a16:creationId xmlns:a16="http://schemas.microsoft.com/office/drawing/2014/main" id="{5CBC0666-38C5-42BF-8B70-2E7966D53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905000"/>
            <a:ext cx="1508125" cy="6508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r>
              <a:rPr lang="cs-CZ" altLang="cs-CZ" sz="1800">
                <a:sym typeface="Symbol" panose="05050102010706020507" pitchFamily="18" charset="2"/>
              </a:rPr>
              <a:t>12 451,10</a:t>
            </a:r>
          </a:p>
          <a:p>
            <a:r>
              <a:rPr lang="cs-CZ" altLang="cs-CZ" sz="1800">
                <a:sym typeface="Symbol" panose="05050102010706020507" pitchFamily="18" charset="2"/>
              </a:rPr>
              <a:t>       12,451 10</a:t>
            </a:r>
          </a:p>
        </p:txBody>
      </p:sp>
      <p:sp>
        <p:nvSpPr>
          <p:cNvPr id="37896" name="Text Box 8">
            <a:extLst>
              <a:ext uri="{FF2B5EF4-FFF2-40B4-BE49-F238E27FC236}">
                <a16:creationId xmlns:a16="http://schemas.microsoft.com/office/drawing/2014/main" id="{37905D74-C4E4-431D-8B63-8E1CA3512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725" y="2819400"/>
            <a:ext cx="1546225" cy="6508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r>
              <a:rPr lang="cs-CZ" altLang="cs-CZ" sz="1800">
                <a:sym typeface="Symbol" panose="05050102010706020507" pitchFamily="18" charset="2"/>
              </a:rPr>
              <a:t>12. ledna 1978</a:t>
            </a:r>
          </a:p>
          <a:p>
            <a:r>
              <a:rPr lang="cs-CZ" altLang="cs-CZ" sz="1800">
                <a:sym typeface="Symbol" panose="05050102010706020507" pitchFamily="18" charset="2"/>
              </a:rPr>
              <a:t>12. 1. 1978</a:t>
            </a:r>
          </a:p>
        </p:txBody>
      </p:sp>
      <p:sp>
        <p:nvSpPr>
          <p:cNvPr id="37897" name="Text Box 9">
            <a:extLst>
              <a:ext uri="{FF2B5EF4-FFF2-40B4-BE49-F238E27FC236}">
                <a16:creationId xmlns:a16="http://schemas.microsoft.com/office/drawing/2014/main" id="{FDE64AD4-56B2-4E0D-9A3F-D026760A6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392613"/>
            <a:ext cx="1870075" cy="6508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r>
              <a:rPr lang="cs-CZ" altLang="cs-CZ" sz="1800">
                <a:sym typeface="Symbol" panose="05050102010706020507" pitchFamily="18" charset="2"/>
              </a:rPr>
              <a:t>25krát, 50násobek</a:t>
            </a:r>
          </a:p>
          <a:p>
            <a:r>
              <a:rPr lang="cs-CZ" altLang="cs-CZ" sz="1800">
                <a:sym typeface="Symbol" panose="05050102010706020507" pitchFamily="18" charset="2"/>
              </a:rPr>
              <a:t>16bitový</a:t>
            </a:r>
          </a:p>
        </p:txBody>
      </p:sp>
      <p:sp>
        <p:nvSpPr>
          <p:cNvPr id="37900" name="Text Box 12">
            <a:extLst>
              <a:ext uri="{FF2B5EF4-FFF2-40B4-BE49-F238E27FC236}">
                <a16:creationId xmlns:a16="http://schemas.microsoft.com/office/drawing/2014/main" id="{2A1E6608-7AB9-4C92-83CA-39A558073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0" y="1101725"/>
            <a:ext cx="4343400" cy="59055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cs-CZ" altLang="cs-CZ" sz="1600">
                <a:sym typeface="Symbol" panose="05050102010706020507" pitchFamily="18" charset="2"/>
              </a:rPr>
              <a:t>Byly dvě hodiny v noci a kohout třikrát zakokrhal.</a:t>
            </a:r>
          </a:p>
          <a:p>
            <a:r>
              <a:rPr lang="cs-CZ" altLang="cs-CZ" sz="1600">
                <a:sym typeface="Symbol" panose="05050102010706020507" pitchFamily="18" charset="2"/>
              </a:rPr>
              <a:t>Pila má 458 zubů.</a:t>
            </a:r>
            <a:endParaRPr lang="cs-CZ" altLang="cs-CZ" sz="1800">
              <a:sym typeface="Symbol" panose="05050102010706020507" pitchFamily="18" charset="2"/>
            </a:endParaRPr>
          </a:p>
        </p:txBody>
      </p:sp>
      <p:sp>
        <p:nvSpPr>
          <p:cNvPr id="37901" name="Text Box 13">
            <a:extLst>
              <a:ext uri="{FF2B5EF4-FFF2-40B4-BE49-F238E27FC236}">
                <a16:creationId xmlns:a16="http://schemas.microsoft.com/office/drawing/2014/main" id="{687EA624-6217-432A-9EFC-F5FFFF3A0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7450" y="5219700"/>
            <a:ext cx="2673350" cy="120015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defTabSz="13335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13335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13335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13335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13335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defTabSz="1333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defTabSz="1333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defTabSz="1333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defTabSz="1333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cs-CZ" altLang="cs-CZ" sz="1800">
                <a:sym typeface="Symbol" panose="05050102010706020507" pitchFamily="18" charset="2"/>
              </a:rPr>
              <a:t>324 12 78	45 78 45 78</a:t>
            </a:r>
          </a:p>
          <a:p>
            <a:r>
              <a:rPr lang="cs-CZ" altLang="cs-CZ" sz="1800">
                <a:sym typeface="Symbol" panose="05050102010706020507" pitchFamily="18" charset="2"/>
              </a:rPr>
              <a:t>(019) 75 22 19</a:t>
            </a:r>
          </a:p>
          <a:p>
            <a:r>
              <a:rPr lang="cs-CZ" altLang="cs-CZ" sz="1800">
                <a:sym typeface="Symbol" panose="05050102010706020507" pitchFamily="18" charset="2"/>
              </a:rPr>
              <a:t>(+42 19) 145 78 95</a:t>
            </a:r>
          </a:p>
          <a:p>
            <a:r>
              <a:rPr lang="cs-CZ" altLang="cs-CZ" sz="1800">
                <a:sym typeface="Symbol" panose="05050102010706020507" pitchFamily="18" charset="2"/>
              </a:rPr>
              <a:t>724 165 093</a:t>
            </a:r>
          </a:p>
        </p:txBody>
      </p:sp>
      <p:sp>
        <p:nvSpPr>
          <p:cNvPr id="37902" name="Text Box 14">
            <a:extLst>
              <a:ext uri="{FF2B5EF4-FFF2-40B4-BE49-F238E27FC236}">
                <a16:creationId xmlns:a16="http://schemas.microsoft.com/office/drawing/2014/main" id="{8553AFB3-8826-4454-B4DB-355D39A25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149475"/>
            <a:ext cx="86106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810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715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620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2192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764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1336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908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000"/>
              </a:lnSpc>
              <a:spcBef>
                <a:spcPct val="30000"/>
              </a:spcBef>
            </a:pPr>
            <a:r>
              <a:rPr lang="cs-CZ" altLang="cs-CZ" b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1,45</a:t>
            </a:r>
            <a:r>
              <a:rPr lang="cs-CZ" altLang="cs-CZ"/>
              <a:t>	desetinná čísla</a:t>
            </a:r>
          </a:p>
          <a:p>
            <a:pPr lvl="4">
              <a:lnSpc>
                <a:spcPts val="3000"/>
              </a:lnSpc>
            </a:pPr>
            <a:r>
              <a:rPr lang="cs-CZ" altLang="cs-CZ" sz="2000"/>
              <a:t>	vpravo i vlevo od desetinné čárky po trojicích</a:t>
            </a:r>
          </a:p>
        </p:txBody>
      </p:sp>
      <p:sp>
        <p:nvSpPr>
          <p:cNvPr id="37903" name="Text Box 15">
            <a:extLst>
              <a:ext uri="{FF2B5EF4-FFF2-40B4-BE49-F238E27FC236}">
                <a16:creationId xmlns:a16="http://schemas.microsoft.com/office/drawing/2014/main" id="{6C3079B5-D57C-47B2-9967-69A4EFEBA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971800"/>
            <a:ext cx="861060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810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715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620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2192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764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1336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908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000"/>
              </a:lnSpc>
              <a:spcBef>
                <a:spcPct val="30000"/>
              </a:spcBef>
            </a:pPr>
            <a:r>
              <a:rPr lang="cs-CZ" altLang="cs-CZ" b="1">
                <a:effectLst>
                  <a:outerShdw blurRad="38100" dist="38100" dir="2700000" algn="tl">
                    <a:srgbClr val="C0C0C0"/>
                  </a:outerShdw>
                </a:effectLst>
              </a:rPr>
              <a:t>datum</a:t>
            </a:r>
            <a:r>
              <a:rPr lang="cs-CZ" altLang="cs-CZ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cs-CZ" altLang="cs-CZ"/>
              <a:t>	s mezerami, nezkracovat letopočet</a:t>
            </a:r>
          </a:p>
        </p:txBody>
      </p:sp>
      <p:sp>
        <p:nvSpPr>
          <p:cNvPr id="37904" name="Text Box 16">
            <a:extLst>
              <a:ext uri="{FF2B5EF4-FFF2-40B4-BE49-F238E27FC236}">
                <a16:creationId xmlns:a16="http://schemas.microsoft.com/office/drawing/2014/main" id="{ABFC3A26-9709-48B2-B98C-2FA7FE9CF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5466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810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715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620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2192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764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1336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908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30000"/>
              </a:spcBef>
            </a:pPr>
            <a:r>
              <a:rPr lang="cs-CZ" altLang="cs-CZ" b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13krát</a:t>
            </a:r>
            <a:r>
              <a:rPr lang="cs-CZ" altLang="cs-CZ"/>
              <a:t>	násobky bez mezer</a:t>
            </a:r>
          </a:p>
        </p:txBody>
      </p:sp>
      <p:sp>
        <p:nvSpPr>
          <p:cNvPr id="37905" name="Text Box 17">
            <a:extLst>
              <a:ext uri="{FF2B5EF4-FFF2-40B4-BE49-F238E27FC236}">
                <a16:creationId xmlns:a16="http://schemas.microsoft.com/office/drawing/2014/main" id="{CDFCD976-2BBF-4E4A-BA69-D98A72315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953000"/>
            <a:ext cx="86106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810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715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620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2192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764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1336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908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30000"/>
              </a:spcBef>
            </a:pPr>
            <a:r>
              <a:rPr lang="cs-CZ" altLang="cs-CZ" b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telefonní číslo</a:t>
            </a:r>
          </a:p>
          <a:p>
            <a:r>
              <a:rPr lang="cs-CZ" altLang="cs-CZ"/>
              <a:t>	</a:t>
            </a:r>
            <a:r>
              <a:rPr lang="cs-CZ" altLang="cs-CZ" sz="2000"/>
              <a:t>delší než 3 číslice podle schématu nnn nn nn</a:t>
            </a:r>
          </a:p>
          <a:p>
            <a:r>
              <a:rPr lang="cs-CZ" altLang="cs-CZ" sz="2000"/>
              <a:t>	předvolba v závorkách</a:t>
            </a:r>
          </a:p>
          <a:p>
            <a:r>
              <a:rPr lang="cs-CZ" altLang="cs-CZ" sz="2000"/>
              <a:t>	kód země se uvozuje znaménkem +</a:t>
            </a:r>
          </a:p>
        </p:txBody>
      </p:sp>
      <p:sp>
        <p:nvSpPr>
          <p:cNvPr id="37906" name="Text Box 18">
            <a:extLst>
              <a:ext uri="{FF2B5EF4-FFF2-40B4-BE49-F238E27FC236}">
                <a16:creationId xmlns:a16="http://schemas.microsoft.com/office/drawing/2014/main" id="{84F72C96-542F-423B-9FA0-F6339C20C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444875"/>
            <a:ext cx="8610600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810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715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62000" defTabSz="12382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2192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764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1336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90800" defTabSz="12382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000"/>
              </a:lnSpc>
              <a:spcBef>
                <a:spcPct val="30000"/>
              </a:spcBef>
            </a:pPr>
            <a:r>
              <a:rPr lang="cs-CZ" altLang="cs-CZ" b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8 m</a:t>
            </a:r>
            <a:r>
              <a:rPr lang="cs-CZ" altLang="cs-CZ" b="1" baseline="3000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2</a:t>
            </a:r>
            <a:r>
              <a:rPr lang="cs-CZ" altLang="cs-CZ"/>
              <a:t>	měny a jednotky oddělujeme mezerou (pevnou)</a:t>
            </a:r>
          </a:p>
          <a:p>
            <a:pPr>
              <a:spcBef>
                <a:spcPct val="30000"/>
              </a:spcBef>
            </a:pPr>
            <a:r>
              <a:rPr lang="cs-CZ" altLang="cs-CZ" b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625 00</a:t>
            </a:r>
            <a:r>
              <a:rPr lang="cs-CZ" altLang="cs-CZ"/>
              <a:t>	směrovací čísla 3 + 2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379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37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379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3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4" grpId="0" animBg="1" autoUpdateAnimBg="0"/>
      <p:bldP spid="37896" grpId="0" animBg="1" autoUpdateAnimBg="0"/>
      <p:bldP spid="37897" grpId="0" animBg="1" autoUpdateAnimBg="0"/>
      <p:bldP spid="37900" grpId="0" animBg="1" autoUpdateAnimBg="0"/>
      <p:bldP spid="37901" grpId="0" animBg="1" autoUpdateAnimBg="0"/>
      <p:bldP spid="37902" grpId="0" autoUpdateAnimBg="0"/>
      <p:bldP spid="37903" grpId="0" build="p" autoUpdateAnimBg="0"/>
      <p:bldP spid="37904" grpId="0" autoUpdateAnimBg="0"/>
      <p:bldP spid="37905" grpId="0" autoUpdateAnimBg="0"/>
      <p:bldP spid="37906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DC9C1274-D383-4D74-B9C3-1E7BD78C8E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Pravidla  sazby IV. 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ADFAE901-AD3D-4A4F-9F9A-EC2460C172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869950"/>
            <a:ext cx="8458200" cy="1260475"/>
          </a:xfrm>
        </p:spPr>
        <p:txBody>
          <a:bodyPr/>
          <a:lstStyle/>
          <a:p>
            <a:pPr>
              <a:buFont typeface="Symbol" panose="05050102010706020507" pitchFamily="18" charset="2"/>
              <a:buNone/>
            </a:pPr>
            <a:r>
              <a:rPr lang="cs-CZ" altLang="cs-CZ" b="0"/>
              <a:t>Dělení slov, předložky</a:t>
            </a:r>
            <a:endParaRPr lang="cs-CZ" altLang="cs-CZ">
              <a:solidFill>
                <a:srgbClr val="A50021"/>
              </a:solidFill>
            </a:endParaRPr>
          </a:p>
          <a:p>
            <a:r>
              <a:rPr lang="cs-CZ" altLang="cs-CZ"/>
              <a:t>dělení slov podle pravidel pravopisu</a:t>
            </a:r>
          </a:p>
          <a:p>
            <a:r>
              <a:rPr lang="cs-CZ" altLang="cs-CZ"/>
              <a:t>jednohláskové předložky nesmí být na konci řádku!!</a:t>
            </a:r>
          </a:p>
        </p:txBody>
      </p:sp>
      <p:sp>
        <p:nvSpPr>
          <p:cNvPr id="60420" name="Text Box 4">
            <a:extLst>
              <a:ext uri="{FF2B5EF4-FFF2-40B4-BE49-F238E27FC236}">
                <a16:creationId xmlns:a16="http://schemas.microsoft.com/office/drawing/2014/main" id="{BBC655F3-8302-4A64-890D-A82538C9F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549275"/>
            <a:ext cx="1524000" cy="120015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1800"/>
              <a:t>Šel pštros  s pštrosicí  a pštrosíčaty  na pštrosí výlet.</a:t>
            </a:r>
          </a:p>
        </p:txBody>
      </p:sp>
      <p:sp>
        <p:nvSpPr>
          <p:cNvPr id="60421" name="Text Box 5">
            <a:extLst>
              <a:ext uri="{FF2B5EF4-FFF2-40B4-BE49-F238E27FC236}">
                <a16:creationId xmlns:a16="http://schemas.microsoft.com/office/drawing/2014/main" id="{88DA5CFE-A3BE-432E-A7FD-10F319250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759325"/>
            <a:ext cx="2895600" cy="65087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altLang="cs-CZ" sz="1800" b="1" i="1"/>
              <a:t>Kružnice</a:t>
            </a:r>
            <a:r>
              <a:rPr lang="cs-CZ" altLang="cs-CZ" sz="1800"/>
              <a:t> je množina bodů, které mají </a:t>
            </a:r>
            <a:r>
              <a:rPr lang="cs-CZ" altLang="cs-CZ" sz="1800">
                <a:sym typeface="Symbol" panose="05050102010706020507" pitchFamily="18" charset="2"/>
              </a:rPr>
              <a:t></a:t>
            </a:r>
            <a:endParaRPr lang="cs-CZ" altLang="cs-CZ" sz="1800"/>
          </a:p>
        </p:txBody>
      </p:sp>
      <p:grpSp>
        <p:nvGrpSpPr>
          <p:cNvPr id="60422" name="Group 6">
            <a:extLst>
              <a:ext uri="{FF2B5EF4-FFF2-40B4-BE49-F238E27FC236}">
                <a16:creationId xmlns:a16="http://schemas.microsoft.com/office/drawing/2014/main" id="{066C8B09-D3C6-48D1-98EE-6871316CC957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5410200"/>
            <a:ext cx="2895600" cy="1143000"/>
            <a:chOff x="3504" y="3408"/>
            <a:chExt cx="1824" cy="720"/>
          </a:xfrm>
        </p:grpSpPr>
        <p:sp>
          <p:nvSpPr>
            <p:cNvPr id="60423" name="Line 7">
              <a:extLst>
                <a:ext uri="{FF2B5EF4-FFF2-40B4-BE49-F238E27FC236}">
                  <a16:creationId xmlns:a16="http://schemas.microsoft.com/office/drawing/2014/main" id="{3CAD630F-58DE-432C-88EF-0664923EC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408"/>
              <a:ext cx="168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0424" name="Text Box 8">
              <a:extLst>
                <a:ext uri="{FF2B5EF4-FFF2-40B4-BE49-F238E27FC236}">
                  <a16:creationId xmlns:a16="http://schemas.microsoft.com/office/drawing/2014/main" id="{93DFE969-3EDF-4D95-8243-0BC4C3D86B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562"/>
              <a:ext cx="1824" cy="410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189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cs-CZ" altLang="cs-CZ" sz="1800" b="1" u="sng">
                  <a:latin typeface="Comic Sans MS" panose="030F0702030302020204" pitchFamily="66" charset="0"/>
                </a:rPr>
                <a:t>Kružnice</a:t>
              </a:r>
              <a:r>
                <a:rPr lang="cs-CZ" altLang="cs-CZ" sz="1800"/>
                <a:t> je množina bodů, které mají </a:t>
              </a:r>
              <a:r>
                <a:rPr lang="cs-CZ" altLang="cs-CZ" sz="1800">
                  <a:sym typeface="Symbol" panose="05050102010706020507" pitchFamily="18" charset="2"/>
                </a:rPr>
                <a:t></a:t>
              </a:r>
              <a:endParaRPr lang="cs-CZ" altLang="cs-CZ" sz="1800"/>
            </a:p>
          </p:txBody>
        </p:sp>
        <p:sp>
          <p:nvSpPr>
            <p:cNvPr id="60425" name="Line 9">
              <a:extLst>
                <a:ext uri="{FF2B5EF4-FFF2-40B4-BE49-F238E27FC236}">
                  <a16:creationId xmlns:a16="http://schemas.microsoft.com/office/drawing/2014/main" id="{CB5F82DD-A963-48B1-AB97-8115DCA663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8" y="3408"/>
              <a:ext cx="168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</p:grpSp>
      <p:sp>
        <p:nvSpPr>
          <p:cNvPr id="60426" name="Rectangle 10">
            <a:extLst>
              <a:ext uri="{FF2B5EF4-FFF2-40B4-BE49-F238E27FC236}">
                <a16:creationId xmlns:a16="http://schemas.microsoft.com/office/drawing/2014/main" id="{594E355A-F9AC-4743-801A-A1FD2ED75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070100"/>
            <a:ext cx="8458200" cy="253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10000"/>
              </a:spcBef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10000"/>
              </a:spcBef>
              <a:buChar char="–"/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10000"/>
              </a:spcBef>
              <a:buChar char="–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10000"/>
              </a:spcBef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Symbol" panose="05050102010706020507" pitchFamily="18" charset="2"/>
              <a:buNone/>
            </a:pPr>
            <a:r>
              <a:rPr lang="cs-CZ" altLang="cs-CZ" b="0"/>
              <a:t>Odstavce</a:t>
            </a:r>
            <a:endParaRPr lang="cs-CZ" altLang="cs-CZ">
              <a:solidFill>
                <a:srgbClr val="A50021"/>
              </a:solidFill>
            </a:endParaRPr>
          </a:p>
          <a:p>
            <a:r>
              <a:rPr lang="cs-CZ" altLang="cs-CZ"/>
              <a:t>první řádek</a:t>
            </a:r>
          </a:p>
          <a:p>
            <a:pPr lvl="1"/>
            <a:r>
              <a:rPr lang="cs-CZ" altLang="cs-CZ"/>
              <a:t>velikost odrážky 1–2 em podle velikosti písma a šířky sazby</a:t>
            </a:r>
          </a:p>
          <a:p>
            <a:pPr lvl="1"/>
            <a:r>
              <a:rPr lang="cs-CZ" altLang="cs-CZ"/>
              <a:t>nesmí zůstat na předchozí stránce (vdova)</a:t>
            </a:r>
          </a:p>
          <a:p>
            <a:r>
              <a:rPr lang="cs-CZ" altLang="cs-CZ"/>
              <a:t>poslední řádek odstavce</a:t>
            </a:r>
          </a:p>
          <a:p>
            <a:pPr lvl="1"/>
            <a:r>
              <a:rPr lang="cs-CZ" altLang="cs-CZ"/>
              <a:t>délka nesmí být menší než odstavcová zarážka</a:t>
            </a:r>
          </a:p>
          <a:p>
            <a:pPr lvl="1"/>
            <a:r>
              <a:rPr lang="cs-CZ" altLang="cs-CZ"/>
              <a:t>nesmí se dostat osamoceně na další stranu (sirotek)</a:t>
            </a:r>
          </a:p>
        </p:txBody>
      </p:sp>
      <p:sp>
        <p:nvSpPr>
          <p:cNvPr id="60427" name="Rectangle 11">
            <a:extLst>
              <a:ext uri="{FF2B5EF4-FFF2-40B4-BE49-F238E27FC236}">
                <a16:creationId xmlns:a16="http://schemas.microsoft.com/office/drawing/2014/main" id="{CA203A0E-ADEB-4874-B9BA-649270BE3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606925"/>
            <a:ext cx="84582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10000"/>
              </a:spcBef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10000"/>
              </a:spcBef>
              <a:buChar char="–"/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10000"/>
              </a:spcBef>
              <a:buChar char="–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10000"/>
              </a:spcBef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Symbol" panose="05050102010706020507" pitchFamily="18" charset="2"/>
              <a:buNone/>
            </a:pPr>
            <a:r>
              <a:rPr lang="cs-CZ" altLang="cs-CZ" b="0"/>
              <a:t>Vyznačování</a:t>
            </a:r>
            <a:endParaRPr lang="cs-CZ" altLang="cs-CZ">
              <a:solidFill>
                <a:srgbClr val="A50021"/>
              </a:solidFill>
            </a:endParaRPr>
          </a:p>
          <a:p>
            <a:r>
              <a:rPr lang="cs-CZ" altLang="cs-CZ"/>
              <a:t>nejlépe jiným řezem téže rodiny</a:t>
            </a:r>
          </a:p>
          <a:p>
            <a:pPr lvl="1"/>
            <a:r>
              <a:rPr lang="cs-CZ" altLang="cs-CZ"/>
              <a:t>kurzíva, tučná kurzíva, tučné, kapitálky</a:t>
            </a:r>
          </a:p>
          <a:p>
            <a:pPr lvl="1"/>
            <a:r>
              <a:rPr lang="cs-CZ" altLang="cs-CZ"/>
              <a:t>podtrhávání raději 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0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0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0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0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0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0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0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0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0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0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0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0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0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0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0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0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0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0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0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04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04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04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04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04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04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04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04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0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0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0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0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0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0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0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0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0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0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0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0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0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0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0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0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 animBg="1" autoUpdateAnimBg="0"/>
      <p:bldP spid="60421" grpId="0" animBg="1" autoUpdateAnimBg="0"/>
      <p:bldP spid="60426" grpId="0" build="p" autoUpdateAnimBg="0"/>
      <p:bldP spid="60427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CAB527C5-3BAC-4300-A91A-BA2FED1C55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534400" cy="641350"/>
          </a:xfrm>
        </p:spPr>
        <p:txBody>
          <a:bodyPr/>
          <a:lstStyle/>
          <a:p>
            <a:r>
              <a:rPr lang="cs-CZ" altLang="cs-CZ"/>
              <a:t>Formát tiskovin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F0964F78-69F7-4DDA-9EAE-C4100CE3B89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030413"/>
            <a:ext cx="4876800" cy="2027237"/>
          </a:xfrm>
        </p:spPr>
        <p:txBody>
          <a:bodyPr/>
          <a:lstStyle/>
          <a:p>
            <a:r>
              <a:rPr lang="cs-CZ" altLang="cs-CZ"/>
              <a:t>formát má odpovídat účelu a estetickým požadavkům</a:t>
            </a:r>
          </a:p>
          <a:p>
            <a:r>
              <a:rPr lang="cs-CZ" altLang="cs-CZ"/>
              <a:t>poměr „zlatého řezu“ 1 : 1,618</a:t>
            </a:r>
          </a:p>
          <a:p>
            <a:r>
              <a:rPr lang="cs-CZ" altLang="cs-CZ"/>
              <a:t>podobné je 2 : 3</a:t>
            </a:r>
          </a:p>
          <a:p>
            <a:r>
              <a:rPr lang="cs-CZ" altLang="cs-CZ"/>
              <a:t>standardní formáty</a:t>
            </a:r>
          </a:p>
        </p:txBody>
      </p:sp>
      <p:grpSp>
        <p:nvGrpSpPr>
          <p:cNvPr id="61444" name="Group 4">
            <a:extLst>
              <a:ext uri="{FF2B5EF4-FFF2-40B4-BE49-F238E27FC236}">
                <a16:creationId xmlns:a16="http://schemas.microsoft.com/office/drawing/2014/main" id="{7C2C6E86-EF99-4D96-B986-585D3AC8F07C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1643063"/>
            <a:ext cx="3059113" cy="4318000"/>
            <a:chOff x="3120" y="1035"/>
            <a:chExt cx="1927" cy="2720"/>
          </a:xfrm>
        </p:grpSpPr>
        <p:sp>
          <p:nvSpPr>
            <p:cNvPr id="61445" name="Rectangle 5">
              <a:extLst>
                <a:ext uri="{FF2B5EF4-FFF2-40B4-BE49-F238E27FC236}">
                  <a16:creationId xmlns:a16="http://schemas.microsoft.com/office/drawing/2014/main" id="{40264B16-8A43-4205-BDD2-E979DC95D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306"/>
              <a:ext cx="1927" cy="244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1446" name="Rectangle 6">
              <a:extLst>
                <a:ext uri="{FF2B5EF4-FFF2-40B4-BE49-F238E27FC236}">
                  <a16:creationId xmlns:a16="http://schemas.microsoft.com/office/drawing/2014/main" id="{CFBF0025-3C67-41B4-A5C4-392FA612A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306"/>
              <a:ext cx="1927" cy="12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1447" name="Rectangle 7">
              <a:extLst>
                <a:ext uri="{FF2B5EF4-FFF2-40B4-BE49-F238E27FC236}">
                  <a16:creationId xmlns:a16="http://schemas.microsoft.com/office/drawing/2014/main" id="{9817689E-3AFB-423A-A964-D41CB9D88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306"/>
              <a:ext cx="988" cy="12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1448" name="Rectangle 8">
              <a:extLst>
                <a:ext uri="{FF2B5EF4-FFF2-40B4-BE49-F238E27FC236}">
                  <a16:creationId xmlns:a16="http://schemas.microsoft.com/office/drawing/2014/main" id="{6ED9A299-B907-4548-BFE7-B6FD809B3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306"/>
              <a:ext cx="988" cy="626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1449" name="Rectangle 9">
              <a:extLst>
                <a:ext uri="{FF2B5EF4-FFF2-40B4-BE49-F238E27FC236}">
                  <a16:creationId xmlns:a16="http://schemas.microsoft.com/office/drawing/2014/main" id="{D6CC4E9B-12F3-4DA9-A3C7-39E7D46D1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306"/>
              <a:ext cx="494" cy="626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1450" name="Text Box 10">
              <a:extLst>
                <a:ext uri="{FF2B5EF4-FFF2-40B4-BE49-F238E27FC236}">
                  <a16:creationId xmlns:a16="http://schemas.microsoft.com/office/drawing/2014/main" id="{74888CA5-F7AC-4B8B-B784-94E7E196BE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3484"/>
              <a:ext cx="3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2000" b="1"/>
                <a:t>A1</a:t>
              </a:r>
              <a:endParaRPr lang="cs-CZ" altLang="cs-CZ"/>
            </a:p>
          </p:txBody>
        </p:sp>
        <p:sp>
          <p:nvSpPr>
            <p:cNvPr id="61451" name="Text Box 11">
              <a:extLst>
                <a:ext uri="{FF2B5EF4-FFF2-40B4-BE49-F238E27FC236}">
                  <a16:creationId xmlns:a16="http://schemas.microsoft.com/office/drawing/2014/main" id="{BE41E92E-8CF5-4AC4-8E85-B98825720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2" y="1306"/>
              <a:ext cx="3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2000" b="1"/>
                <a:t>A2</a:t>
              </a:r>
              <a:endParaRPr lang="cs-CZ" altLang="cs-CZ"/>
            </a:p>
          </p:txBody>
        </p:sp>
        <p:sp>
          <p:nvSpPr>
            <p:cNvPr id="61452" name="Text Box 12">
              <a:extLst>
                <a:ext uri="{FF2B5EF4-FFF2-40B4-BE49-F238E27FC236}">
                  <a16:creationId xmlns:a16="http://schemas.microsoft.com/office/drawing/2014/main" id="{59101E6C-8ABC-4335-B7D4-6F17AF4ED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285"/>
              <a:ext cx="3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2000" b="1"/>
                <a:t>A3</a:t>
              </a:r>
              <a:endParaRPr lang="cs-CZ" altLang="cs-CZ"/>
            </a:p>
          </p:txBody>
        </p:sp>
        <p:sp>
          <p:nvSpPr>
            <p:cNvPr id="61453" name="Text Box 13">
              <a:extLst>
                <a:ext uri="{FF2B5EF4-FFF2-40B4-BE49-F238E27FC236}">
                  <a16:creationId xmlns:a16="http://schemas.microsoft.com/office/drawing/2014/main" id="{9436ADAD-B50E-4F33-BAB1-921EFF41D2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3" y="1306"/>
              <a:ext cx="3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2000" b="1"/>
                <a:t>A4</a:t>
              </a:r>
              <a:endParaRPr lang="cs-CZ" altLang="cs-CZ"/>
            </a:p>
          </p:txBody>
        </p:sp>
        <p:sp>
          <p:nvSpPr>
            <p:cNvPr id="61454" name="Rectangle 14">
              <a:extLst>
                <a:ext uri="{FF2B5EF4-FFF2-40B4-BE49-F238E27FC236}">
                  <a16:creationId xmlns:a16="http://schemas.microsoft.com/office/drawing/2014/main" id="{26DB6C58-C75C-482D-86EF-8DF4C8F1D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306"/>
              <a:ext cx="495" cy="3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1455" name="Text Box 15">
              <a:extLst>
                <a:ext uri="{FF2B5EF4-FFF2-40B4-BE49-F238E27FC236}">
                  <a16:creationId xmlns:a16="http://schemas.microsoft.com/office/drawing/2014/main" id="{15E55372-C4A3-43CD-A7E5-BD85848365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306"/>
              <a:ext cx="3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2000" b="1"/>
                <a:t>A5</a:t>
              </a:r>
              <a:endParaRPr lang="cs-CZ" altLang="cs-CZ"/>
            </a:p>
          </p:txBody>
        </p:sp>
        <p:sp>
          <p:nvSpPr>
            <p:cNvPr id="61456" name="Text Box 16">
              <a:extLst>
                <a:ext uri="{FF2B5EF4-FFF2-40B4-BE49-F238E27FC236}">
                  <a16:creationId xmlns:a16="http://schemas.microsoft.com/office/drawing/2014/main" id="{079D879A-E675-49B5-A2D0-52D377021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035"/>
              <a:ext cx="3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2000" b="1"/>
                <a:t>A0</a:t>
              </a:r>
              <a:endParaRPr lang="cs-CZ" altLang="cs-CZ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1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EA0E499E-8860-4909-BA06-CF228BC7FC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Formáty papíru</a:t>
            </a:r>
          </a:p>
        </p:txBody>
      </p:sp>
      <p:sp>
        <p:nvSpPr>
          <p:cNvPr id="62467" name="Text Box 3">
            <a:extLst>
              <a:ext uri="{FF2B5EF4-FFF2-40B4-BE49-F238E27FC236}">
                <a16:creationId xmlns:a16="http://schemas.microsoft.com/office/drawing/2014/main" id="{2958EC9D-5FAE-4DBD-AA74-5DA357B06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289050"/>
            <a:ext cx="3048000" cy="4848225"/>
          </a:xfrm>
          <a:prstGeom prst="rect">
            <a:avLst/>
          </a:prstGeom>
          <a:solidFill>
            <a:srgbClr val="F3E8BF"/>
          </a:solidFill>
          <a:ln w="9525">
            <a:solidFill>
              <a:srgbClr val="006600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defTabSz="1047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1047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1047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1047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1047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defTabSz="1047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defTabSz="1047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defTabSz="1047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defTabSz="1047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cs-CZ" altLang="cs-CZ" b="1">
                <a:latin typeface="Arial" panose="020B0604020202020204" pitchFamily="34" charset="0"/>
              </a:rPr>
              <a:t>Řada A</a:t>
            </a:r>
            <a:r>
              <a:rPr lang="cs-CZ" altLang="cs-CZ">
                <a:latin typeface="Arial" panose="020B0604020202020204" pitchFamily="34" charset="0"/>
              </a:rPr>
              <a:t>	</a:t>
            </a:r>
          </a:p>
          <a:p>
            <a:pPr>
              <a:spcAft>
                <a:spcPts val="100"/>
              </a:spcAft>
            </a:pPr>
            <a:r>
              <a:rPr lang="cs-CZ" altLang="cs-CZ" sz="2000" i="1">
                <a:latin typeface="Arial" panose="020B0604020202020204" pitchFamily="34" charset="0"/>
              </a:rPr>
              <a:t>formát	šířka 	 výška</a:t>
            </a:r>
          </a:p>
          <a:p>
            <a:pPr>
              <a:spcAft>
                <a:spcPts val="500"/>
              </a:spcAft>
            </a:pPr>
            <a:r>
              <a:rPr lang="cs-CZ" altLang="cs-CZ" sz="2000" i="1">
                <a:latin typeface="Arial" panose="020B0604020202020204" pitchFamily="34" charset="0"/>
              </a:rPr>
              <a:t>	</a:t>
            </a:r>
            <a:r>
              <a:rPr lang="cs-CZ" altLang="cs-CZ" sz="1600" i="1">
                <a:latin typeface="Arial" panose="020B0604020202020204" pitchFamily="34" charset="0"/>
              </a:rPr>
              <a:t>[mm]	 [mm]</a:t>
            </a:r>
            <a:endParaRPr lang="cs-CZ" altLang="cs-CZ" sz="2000">
              <a:latin typeface="Arial" panose="020B0604020202020204" pitchFamily="34" charset="0"/>
            </a:endParaRPr>
          </a:p>
          <a:p>
            <a:pPr>
              <a:spcAft>
                <a:spcPts val="200"/>
              </a:spcAft>
            </a:pPr>
            <a:r>
              <a:rPr lang="cs-CZ" altLang="cs-CZ" sz="2000">
                <a:latin typeface="Arial" panose="020B0604020202020204" pitchFamily="34" charset="0"/>
              </a:rPr>
              <a:t>A0	841	1189</a:t>
            </a:r>
          </a:p>
          <a:p>
            <a:pPr>
              <a:spcAft>
                <a:spcPts val="200"/>
              </a:spcAft>
            </a:pPr>
            <a:r>
              <a:rPr lang="cs-CZ" altLang="cs-CZ" sz="2000">
                <a:latin typeface="Arial" panose="020B0604020202020204" pitchFamily="34" charset="0"/>
              </a:rPr>
              <a:t>A1	594	841</a:t>
            </a:r>
          </a:p>
          <a:p>
            <a:pPr>
              <a:spcAft>
                <a:spcPts val="200"/>
              </a:spcAft>
            </a:pPr>
            <a:r>
              <a:rPr lang="cs-CZ" altLang="cs-CZ" sz="2000">
                <a:latin typeface="Arial" panose="020B0604020202020204" pitchFamily="34" charset="0"/>
              </a:rPr>
              <a:t>A2	420	594</a:t>
            </a:r>
          </a:p>
          <a:p>
            <a:pPr>
              <a:spcAft>
                <a:spcPts val="200"/>
              </a:spcAft>
            </a:pPr>
            <a:r>
              <a:rPr lang="cs-CZ" altLang="cs-CZ" sz="2000">
                <a:latin typeface="Arial" panose="020B0604020202020204" pitchFamily="34" charset="0"/>
              </a:rPr>
              <a:t>A3	297	420</a:t>
            </a:r>
          </a:p>
          <a:p>
            <a:pPr>
              <a:spcAft>
                <a:spcPts val="200"/>
              </a:spcAft>
            </a:pPr>
            <a:r>
              <a:rPr lang="cs-CZ" altLang="cs-CZ" sz="2000">
                <a:latin typeface="Arial" panose="020B0604020202020204" pitchFamily="34" charset="0"/>
              </a:rPr>
              <a:t>A4	210	297</a:t>
            </a:r>
          </a:p>
          <a:p>
            <a:pPr>
              <a:spcAft>
                <a:spcPts val="200"/>
              </a:spcAft>
            </a:pPr>
            <a:r>
              <a:rPr lang="cs-CZ" altLang="cs-CZ" sz="2000">
                <a:latin typeface="Arial" panose="020B0604020202020204" pitchFamily="34" charset="0"/>
              </a:rPr>
              <a:t>A5	148	210</a:t>
            </a:r>
          </a:p>
          <a:p>
            <a:pPr>
              <a:spcAft>
                <a:spcPts val="200"/>
              </a:spcAft>
            </a:pPr>
            <a:r>
              <a:rPr lang="cs-CZ" altLang="cs-CZ" sz="2000">
                <a:latin typeface="Arial" panose="020B0604020202020204" pitchFamily="34" charset="0"/>
              </a:rPr>
              <a:t>A6 	105	148</a:t>
            </a:r>
          </a:p>
          <a:p>
            <a:pPr>
              <a:spcAft>
                <a:spcPts val="200"/>
              </a:spcAft>
            </a:pPr>
            <a:r>
              <a:rPr lang="cs-CZ" altLang="cs-CZ" sz="2000">
                <a:latin typeface="Arial" panose="020B0604020202020204" pitchFamily="34" charset="0"/>
              </a:rPr>
              <a:t>A7	74	105</a:t>
            </a:r>
          </a:p>
          <a:p>
            <a:pPr>
              <a:spcAft>
                <a:spcPts val="200"/>
              </a:spcAft>
            </a:pPr>
            <a:r>
              <a:rPr lang="cs-CZ" altLang="cs-CZ" sz="2000">
                <a:latin typeface="Arial" panose="020B0604020202020204" pitchFamily="34" charset="0"/>
              </a:rPr>
              <a:t>A8	52	74</a:t>
            </a:r>
          </a:p>
          <a:p>
            <a:pPr>
              <a:spcAft>
                <a:spcPts val="200"/>
              </a:spcAft>
            </a:pPr>
            <a:r>
              <a:rPr lang="cs-CZ" altLang="cs-CZ" sz="2000">
                <a:latin typeface="Arial" panose="020B0604020202020204" pitchFamily="34" charset="0"/>
              </a:rPr>
              <a:t>A9	37	52</a:t>
            </a:r>
          </a:p>
          <a:p>
            <a:pPr>
              <a:spcAft>
                <a:spcPts val="200"/>
              </a:spcAft>
            </a:pPr>
            <a:r>
              <a:rPr lang="cs-CZ" altLang="cs-CZ" sz="2000">
                <a:latin typeface="Arial" panose="020B0604020202020204" pitchFamily="34" charset="0"/>
              </a:rPr>
              <a:t>A10	26	37</a:t>
            </a:r>
            <a:endParaRPr lang="cs-CZ" altLang="cs-CZ">
              <a:latin typeface="Arial" panose="020B0604020202020204" pitchFamily="34" charset="0"/>
            </a:endParaRPr>
          </a:p>
        </p:txBody>
      </p:sp>
      <p:sp>
        <p:nvSpPr>
          <p:cNvPr id="62468" name="Text Box 4">
            <a:extLst>
              <a:ext uri="{FF2B5EF4-FFF2-40B4-BE49-F238E27FC236}">
                <a16:creationId xmlns:a16="http://schemas.microsoft.com/office/drawing/2014/main" id="{FA090B26-EFA0-4143-B994-C4477A718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1289050"/>
            <a:ext cx="3581400" cy="1397000"/>
          </a:xfrm>
          <a:prstGeom prst="rect">
            <a:avLst/>
          </a:prstGeom>
          <a:solidFill>
            <a:srgbClr val="F3E8BF"/>
          </a:solidFill>
          <a:ln w="9525">
            <a:solidFill>
              <a:srgbClr val="006600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defTabSz="13335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13335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13335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13335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13335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defTabSz="1333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defTabSz="1333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defTabSz="1333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defTabSz="1333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cs-CZ" altLang="cs-CZ" sz="2000" i="1">
                <a:latin typeface="Arial" panose="020B0604020202020204" pitchFamily="34" charset="0"/>
              </a:rPr>
              <a:t>formát 	šířka 	výška</a:t>
            </a:r>
            <a:endParaRPr lang="cs-CZ" altLang="cs-CZ" sz="2000">
              <a:latin typeface="Arial" panose="020B0604020202020204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cs-CZ" altLang="cs-CZ" sz="2000" b="1">
                <a:latin typeface="Arial" panose="020B0604020202020204" pitchFamily="34" charset="0"/>
              </a:rPr>
              <a:t>letter</a:t>
            </a:r>
            <a:r>
              <a:rPr lang="cs-CZ" altLang="cs-CZ" sz="2000">
                <a:latin typeface="Arial" panose="020B0604020202020204" pitchFamily="34" charset="0"/>
              </a:rPr>
              <a:t>	216 	279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cs-CZ" altLang="cs-CZ" sz="2000">
                <a:latin typeface="Arial" panose="020B0604020202020204" pitchFamily="34" charset="0"/>
              </a:rPr>
              <a:t> </a:t>
            </a:r>
            <a:r>
              <a:rPr lang="cs-CZ" altLang="cs-CZ" sz="2000" b="1">
                <a:latin typeface="Arial" panose="020B0604020202020204" pitchFamily="34" charset="0"/>
              </a:rPr>
              <a:t>Folio</a:t>
            </a:r>
            <a:r>
              <a:rPr lang="cs-CZ" altLang="cs-CZ" sz="2000">
                <a:latin typeface="Arial" panose="020B0604020202020204" pitchFamily="34" charset="0"/>
              </a:rPr>
              <a:t> 	216 	330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cs-CZ" altLang="cs-CZ" sz="2000" b="1">
                <a:latin typeface="Arial" panose="020B0604020202020204" pitchFamily="34" charset="0"/>
              </a:rPr>
              <a:t>Quarto</a:t>
            </a:r>
            <a:r>
              <a:rPr lang="cs-CZ" altLang="cs-CZ" sz="2000">
                <a:latin typeface="Arial" panose="020B0604020202020204" pitchFamily="34" charset="0"/>
              </a:rPr>
              <a:t> 	215 	275</a:t>
            </a:r>
          </a:p>
        </p:txBody>
      </p:sp>
      <p:grpSp>
        <p:nvGrpSpPr>
          <p:cNvPr id="62469" name="Group 5">
            <a:extLst>
              <a:ext uri="{FF2B5EF4-FFF2-40B4-BE49-F238E27FC236}">
                <a16:creationId xmlns:a16="http://schemas.microsoft.com/office/drawing/2014/main" id="{4D3A0C90-C50D-412A-A51E-401D6DA6B757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3054350"/>
            <a:ext cx="5638800" cy="2859088"/>
            <a:chOff x="2016" y="1924"/>
            <a:chExt cx="3552" cy="1801"/>
          </a:xfrm>
        </p:grpSpPr>
        <p:sp>
          <p:nvSpPr>
            <p:cNvPr id="62470" name="Text Box 6">
              <a:extLst>
                <a:ext uri="{FF2B5EF4-FFF2-40B4-BE49-F238E27FC236}">
                  <a16:creationId xmlns:a16="http://schemas.microsoft.com/office/drawing/2014/main" id="{34E4C3DD-91A0-4BA0-B9B9-6638AB33B9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936"/>
              <a:ext cx="3552" cy="1789"/>
            </a:xfrm>
            <a:prstGeom prst="rect">
              <a:avLst/>
            </a:prstGeom>
            <a:solidFill>
              <a:srgbClr val="F3E8BF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>
              <a:outerShdw dist="107763" dir="18900000" algn="ctr" rotWithShape="0">
                <a:schemeClr val="bg2"/>
              </a:outerShdw>
            </a:effectLst>
          </p:spPr>
          <p:txBody>
            <a:bodyPr>
              <a:spAutoFit/>
            </a:bodyPr>
            <a:lstStyle>
              <a:lvl1pPr defTabSz="9525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defTabSz="9525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defTabSz="9525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defTabSz="9525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defTabSz="9525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defTabSz="9525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defTabSz="9525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defTabSz="9525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defTabSz="9525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ts val="500"/>
                </a:spcBef>
                <a:spcAft>
                  <a:spcPts val="500"/>
                </a:spcAft>
              </a:pPr>
              <a:r>
                <a:rPr lang="cs-CZ" altLang="cs-CZ" sz="1800" i="1">
                  <a:latin typeface="Arial" panose="020B0604020202020204" pitchFamily="34" charset="0"/>
                </a:rPr>
                <a:t>formát 	šířka 	výška 	formát 	šířka 	výška</a:t>
              </a:r>
              <a:r>
                <a:rPr lang="cs-CZ" altLang="cs-CZ" sz="1800">
                  <a:latin typeface="Arial" panose="020B0604020202020204" pitchFamily="34" charset="0"/>
                </a:rPr>
                <a:t> </a:t>
              </a:r>
            </a:p>
            <a:p>
              <a:pPr>
                <a:spcAft>
                  <a:spcPts val="300"/>
                </a:spcAft>
              </a:pPr>
              <a:r>
                <a:rPr lang="cs-CZ" altLang="cs-CZ" sz="2000" b="1">
                  <a:latin typeface="Arial" panose="020B0604020202020204" pitchFamily="34" charset="0"/>
                </a:rPr>
                <a:t>B0</a:t>
              </a:r>
              <a:r>
                <a:rPr lang="cs-CZ" altLang="cs-CZ" sz="2000">
                  <a:latin typeface="Arial" panose="020B0604020202020204" pitchFamily="34" charset="0"/>
                </a:rPr>
                <a:t> 	1000 	1414 	</a:t>
              </a:r>
              <a:r>
                <a:rPr lang="cs-CZ" altLang="cs-CZ" sz="2000" b="1">
                  <a:latin typeface="Arial" panose="020B0604020202020204" pitchFamily="34" charset="0"/>
                </a:rPr>
                <a:t>C0</a:t>
              </a:r>
              <a:r>
                <a:rPr lang="cs-CZ" altLang="cs-CZ" sz="2000">
                  <a:latin typeface="Arial" panose="020B0604020202020204" pitchFamily="34" charset="0"/>
                </a:rPr>
                <a:t> 	917 	1297 </a:t>
              </a:r>
            </a:p>
            <a:p>
              <a:pPr>
                <a:spcAft>
                  <a:spcPts val="300"/>
                </a:spcAft>
              </a:pPr>
              <a:r>
                <a:rPr lang="cs-CZ" altLang="cs-CZ" sz="2000" b="1">
                  <a:latin typeface="Arial" panose="020B0604020202020204" pitchFamily="34" charset="0"/>
                </a:rPr>
                <a:t>B1</a:t>
              </a:r>
              <a:r>
                <a:rPr lang="cs-CZ" altLang="cs-CZ" sz="2000">
                  <a:latin typeface="Arial" panose="020B0604020202020204" pitchFamily="34" charset="0"/>
                </a:rPr>
                <a:t> 	707 	1000 	</a:t>
              </a:r>
              <a:r>
                <a:rPr lang="cs-CZ" altLang="cs-CZ" sz="2000" b="1">
                  <a:latin typeface="Arial" panose="020B0604020202020204" pitchFamily="34" charset="0"/>
                </a:rPr>
                <a:t>C1</a:t>
              </a:r>
              <a:r>
                <a:rPr lang="cs-CZ" altLang="cs-CZ" sz="2000">
                  <a:latin typeface="Arial" panose="020B0604020202020204" pitchFamily="34" charset="0"/>
                </a:rPr>
                <a:t> 	648 	917 </a:t>
              </a:r>
            </a:p>
            <a:p>
              <a:pPr>
                <a:spcAft>
                  <a:spcPts val="300"/>
                </a:spcAft>
              </a:pPr>
              <a:r>
                <a:rPr lang="cs-CZ" altLang="cs-CZ" sz="2000" b="1">
                  <a:latin typeface="Arial" panose="020B0604020202020204" pitchFamily="34" charset="0"/>
                </a:rPr>
                <a:t>B2</a:t>
              </a:r>
              <a:r>
                <a:rPr lang="cs-CZ" altLang="cs-CZ" sz="2000">
                  <a:latin typeface="Arial" panose="020B0604020202020204" pitchFamily="34" charset="0"/>
                </a:rPr>
                <a:t> 	500 	707 	</a:t>
              </a:r>
              <a:r>
                <a:rPr lang="cs-CZ" altLang="cs-CZ" sz="2000" b="1">
                  <a:latin typeface="Arial" panose="020B0604020202020204" pitchFamily="34" charset="0"/>
                </a:rPr>
                <a:t>C2</a:t>
              </a:r>
              <a:r>
                <a:rPr lang="cs-CZ" altLang="cs-CZ" sz="2000">
                  <a:latin typeface="Arial" panose="020B0604020202020204" pitchFamily="34" charset="0"/>
                </a:rPr>
                <a:t> 	458 	648 </a:t>
              </a:r>
            </a:p>
            <a:p>
              <a:pPr>
                <a:spcAft>
                  <a:spcPts val="300"/>
                </a:spcAft>
              </a:pPr>
              <a:r>
                <a:rPr lang="cs-CZ" altLang="cs-CZ" sz="2000" b="1">
                  <a:latin typeface="Arial" panose="020B0604020202020204" pitchFamily="34" charset="0"/>
                </a:rPr>
                <a:t>B3</a:t>
              </a:r>
              <a:r>
                <a:rPr lang="cs-CZ" altLang="cs-CZ" sz="2000">
                  <a:latin typeface="Arial" panose="020B0604020202020204" pitchFamily="34" charset="0"/>
                </a:rPr>
                <a:t> 	353 	500 	</a:t>
              </a:r>
              <a:r>
                <a:rPr lang="cs-CZ" altLang="cs-CZ" sz="2000" b="1">
                  <a:latin typeface="Arial" panose="020B0604020202020204" pitchFamily="34" charset="0"/>
                </a:rPr>
                <a:t>C3</a:t>
              </a:r>
              <a:r>
                <a:rPr lang="cs-CZ" altLang="cs-CZ" sz="2000">
                  <a:latin typeface="Arial" panose="020B0604020202020204" pitchFamily="34" charset="0"/>
                </a:rPr>
                <a:t> 	324 	458 </a:t>
              </a:r>
            </a:p>
            <a:p>
              <a:pPr>
                <a:spcAft>
                  <a:spcPts val="300"/>
                </a:spcAft>
              </a:pPr>
              <a:r>
                <a:rPr lang="cs-CZ" altLang="cs-CZ" sz="2000" b="1">
                  <a:latin typeface="Arial" panose="020B0604020202020204" pitchFamily="34" charset="0"/>
                </a:rPr>
                <a:t>B4</a:t>
              </a:r>
              <a:r>
                <a:rPr lang="cs-CZ" altLang="cs-CZ" sz="2000">
                  <a:latin typeface="Arial" panose="020B0604020202020204" pitchFamily="34" charset="0"/>
                </a:rPr>
                <a:t> 	250 	353 	</a:t>
              </a:r>
              <a:r>
                <a:rPr lang="cs-CZ" altLang="cs-CZ" sz="2000" b="1">
                  <a:latin typeface="Arial" panose="020B0604020202020204" pitchFamily="34" charset="0"/>
                </a:rPr>
                <a:t>C4</a:t>
              </a:r>
              <a:r>
                <a:rPr lang="cs-CZ" altLang="cs-CZ" sz="2000">
                  <a:latin typeface="Arial" panose="020B0604020202020204" pitchFamily="34" charset="0"/>
                </a:rPr>
                <a:t> 	229 	324 </a:t>
              </a:r>
            </a:p>
            <a:p>
              <a:pPr>
                <a:spcAft>
                  <a:spcPts val="300"/>
                </a:spcAft>
              </a:pPr>
              <a:r>
                <a:rPr lang="cs-CZ" altLang="cs-CZ" sz="2000" b="1">
                  <a:latin typeface="Arial" panose="020B0604020202020204" pitchFamily="34" charset="0"/>
                </a:rPr>
                <a:t>B5</a:t>
              </a:r>
              <a:r>
                <a:rPr lang="cs-CZ" altLang="cs-CZ" sz="2000">
                  <a:latin typeface="Arial" panose="020B0604020202020204" pitchFamily="34" charset="0"/>
                </a:rPr>
                <a:t> 	176 	250 	</a:t>
              </a:r>
              <a:r>
                <a:rPr lang="cs-CZ" altLang="cs-CZ" sz="2000" b="1">
                  <a:latin typeface="Arial" panose="020B0604020202020204" pitchFamily="34" charset="0"/>
                </a:rPr>
                <a:t>C5</a:t>
              </a:r>
              <a:r>
                <a:rPr lang="cs-CZ" altLang="cs-CZ" sz="2000">
                  <a:latin typeface="Arial" panose="020B0604020202020204" pitchFamily="34" charset="0"/>
                </a:rPr>
                <a:t> 	162 	229 </a:t>
              </a:r>
            </a:p>
            <a:p>
              <a:pPr>
                <a:spcAft>
                  <a:spcPts val="300"/>
                </a:spcAft>
              </a:pPr>
              <a:r>
                <a:rPr lang="cs-CZ" altLang="cs-CZ" sz="2000" b="1">
                  <a:latin typeface="Arial" panose="020B0604020202020204" pitchFamily="34" charset="0"/>
                </a:rPr>
                <a:t>B6 	</a:t>
              </a:r>
              <a:r>
                <a:rPr lang="cs-CZ" altLang="cs-CZ" sz="2000">
                  <a:latin typeface="Arial" panose="020B0604020202020204" pitchFamily="34" charset="0"/>
                </a:rPr>
                <a:t>125 	176 	</a:t>
              </a:r>
              <a:r>
                <a:rPr lang="cs-CZ" altLang="cs-CZ" sz="2000" b="1">
                  <a:latin typeface="Arial" panose="020B0604020202020204" pitchFamily="34" charset="0"/>
                </a:rPr>
                <a:t>C6 	</a:t>
              </a:r>
              <a:r>
                <a:rPr lang="cs-CZ" altLang="cs-CZ" sz="2000">
                  <a:latin typeface="Arial" panose="020B0604020202020204" pitchFamily="34" charset="0"/>
                </a:rPr>
                <a:t>114 	162</a:t>
              </a:r>
              <a:endParaRPr lang="cs-CZ" altLang="cs-CZ">
                <a:latin typeface="Arial" panose="020B0604020202020204" pitchFamily="34" charset="0"/>
              </a:endParaRPr>
            </a:p>
          </p:txBody>
        </p:sp>
        <p:sp>
          <p:nvSpPr>
            <p:cNvPr id="62471" name="Line 7">
              <a:extLst>
                <a:ext uri="{FF2B5EF4-FFF2-40B4-BE49-F238E27FC236}">
                  <a16:creationId xmlns:a16="http://schemas.microsoft.com/office/drawing/2014/main" id="{1FFBCE09-BC95-41E6-A1D8-A02CAC1AC7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924"/>
              <a:ext cx="0" cy="1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A7E843F5-B0A3-4D64-AC24-EC1EEC56D2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66713"/>
            <a:ext cx="8534400" cy="641350"/>
          </a:xfrm>
        </p:spPr>
        <p:txBody>
          <a:bodyPr/>
          <a:lstStyle/>
          <a:p>
            <a:r>
              <a:rPr lang="cs-CZ" altLang="cs-CZ"/>
              <a:t>Rozvržení stránky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290E322A-AF51-4D98-8F30-1EDFDBCCE0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74750"/>
            <a:ext cx="8458200" cy="1260475"/>
          </a:xfrm>
        </p:spPr>
        <p:txBody>
          <a:bodyPr/>
          <a:lstStyle/>
          <a:p>
            <a:r>
              <a:rPr lang="cs-CZ" altLang="cs-CZ"/>
              <a:t>základní rozvržení stránky </a:t>
            </a:r>
            <a:r>
              <a:rPr lang="cs-CZ" altLang="cs-CZ">
                <a:sym typeface="Symbol" panose="05050102010706020507" pitchFamily="18" charset="2"/>
              </a:rPr>
              <a:t> sazební obrazec</a:t>
            </a:r>
          </a:p>
          <a:p>
            <a:r>
              <a:rPr lang="cs-CZ" altLang="cs-CZ">
                <a:sym typeface="Symbol" panose="05050102010706020507" pitchFamily="18" charset="2"/>
              </a:rPr>
              <a:t>přesný nákres rozvržení textů a obrázků  zrcadlo sazby</a:t>
            </a:r>
            <a:endParaRPr lang="cs-CZ" altLang="cs-CZ"/>
          </a:p>
          <a:p>
            <a:r>
              <a:rPr lang="cs-CZ" altLang="cs-CZ"/>
              <a:t>plochu pro sazbu určujeme přímo nebo velikostí okrajů</a:t>
            </a:r>
          </a:p>
        </p:txBody>
      </p:sp>
      <p:grpSp>
        <p:nvGrpSpPr>
          <p:cNvPr id="63492" name="Group 4">
            <a:extLst>
              <a:ext uri="{FF2B5EF4-FFF2-40B4-BE49-F238E27FC236}">
                <a16:creationId xmlns:a16="http://schemas.microsoft.com/office/drawing/2014/main" id="{C882BF27-F1EA-467A-8F60-FBA0532330A9}"/>
              </a:ext>
            </a:extLst>
          </p:cNvPr>
          <p:cNvGrpSpPr>
            <a:grpSpLocks/>
          </p:cNvGrpSpPr>
          <p:nvPr/>
        </p:nvGrpSpPr>
        <p:grpSpPr bwMode="auto">
          <a:xfrm>
            <a:off x="5745163" y="2622550"/>
            <a:ext cx="1676400" cy="1828800"/>
            <a:chOff x="3888" y="1152"/>
            <a:chExt cx="1056" cy="1152"/>
          </a:xfrm>
        </p:grpSpPr>
        <p:sp>
          <p:nvSpPr>
            <p:cNvPr id="63493" name="Rectangle 5">
              <a:extLst>
                <a:ext uri="{FF2B5EF4-FFF2-40B4-BE49-F238E27FC236}">
                  <a16:creationId xmlns:a16="http://schemas.microsoft.com/office/drawing/2014/main" id="{1F157374-7253-4C8A-B527-358A15C3A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152"/>
              <a:ext cx="1056" cy="1152"/>
            </a:xfrm>
            <a:prstGeom prst="rect">
              <a:avLst/>
            </a:prstGeom>
            <a:solidFill>
              <a:srgbClr val="F3E8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3494" name="Line 6">
              <a:extLst>
                <a:ext uri="{FF2B5EF4-FFF2-40B4-BE49-F238E27FC236}">
                  <a16:creationId xmlns:a16="http://schemas.microsoft.com/office/drawing/2014/main" id="{6E0C49D0-F0AF-41B6-B678-137053A83A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152"/>
              <a:ext cx="1056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3495" name="Line 7">
              <a:extLst>
                <a:ext uri="{FF2B5EF4-FFF2-40B4-BE49-F238E27FC236}">
                  <a16:creationId xmlns:a16="http://schemas.microsoft.com/office/drawing/2014/main" id="{DCFC4B06-B3FA-49F7-8073-5169AA3F74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1152"/>
              <a:ext cx="1056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3496" name="Line 8">
              <a:extLst>
                <a:ext uri="{FF2B5EF4-FFF2-40B4-BE49-F238E27FC236}">
                  <a16:creationId xmlns:a16="http://schemas.microsoft.com/office/drawing/2014/main" id="{6AE4CAA6-E43D-4789-9F5B-D5F228B6B7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1152"/>
              <a:ext cx="528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3497" name="Line 9">
              <a:extLst>
                <a:ext uri="{FF2B5EF4-FFF2-40B4-BE49-F238E27FC236}">
                  <a16:creationId xmlns:a16="http://schemas.microsoft.com/office/drawing/2014/main" id="{EBA0547B-8F07-46E4-BCA0-FF6D69DB9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152"/>
              <a:ext cx="528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3498" name="Line 10">
              <a:extLst>
                <a:ext uri="{FF2B5EF4-FFF2-40B4-BE49-F238E27FC236}">
                  <a16:creationId xmlns:a16="http://schemas.microsoft.com/office/drawing/2014/main" id="{40FBF94B-1454-4995-88FB-F945618351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536"/>
              <a:ext cx="480" cy="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</p:grpSp>
      <p:sp>
        <p:nvSpPr>
          <p:cNvPr id="63499" name="Text Box 11">
            <a:extLst>
              <a:ext uri="{FF2B5EF4-FFF2-40B4-BE49-F238E27FC236}">
                <a16:creationId xmlns:a16="http://schemas.microsoft.com/office/drawing/2014/main" id="{BBEE0213-D5E5-44F3-BA47-3F9EEA937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0" y="3048000"/>
            <a:ext cx="1692275" cy="7016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cs-CZ" altLang="cs-CZ" sz="2000" i="1">
                <a:latin typeface="Arial" panose="020B0604020202020204" pitchFamily="34" charset="0"/>
              </a:rPr>
              <a:t>optický střed stránky</a:t>
            </a:r>
          </a:p>
        </p:txBody>
      </p:sp>
      <p:grpSp>
        <p:nvGrpSpPr>
          <p:cNvPr id="63500" name="Group 12">
            <a:extLst>
              <a:ext uri="{FF2B5EF4-FFF2-40B4-BE49-F238E27FC236}">
                <a16:creationId xmlns:a16="http://schemas.microsoft.com/office/drawing/2014/main" id="{B1DBF857-7CC4-46C8-9AD2-3ED9AE369453}"/>
              </a:ext>
            </a:extLst>
          </p:cNvPr>
          <p:cNvGrpSpPr>
            <a:grpSpLocks/>
          </p:cNvGrpSpPr>
          <p:nvPr/>
        </p:nvGrpSpPr>
        <p:grpSpPr bwMode="auto">
          <a:xfrm>
            <a:off x="1138238" y="2438400"/>
            <a:ext cx="3352800" cy="2209800"/>
            <a:chOff x="637" y="2000"/>
            <a:chExt cx="2112" cy="1392"/>
          </a:xfrm>
        </p:grpSpPr>
        <p:sp>
          <p:nvSpPr>
            <p:cNvPr id="63501" name="Rectangle 13">
              <a:extLst>
                <a:ext uri="{FF2B5EF4-FFF2-40B4-BE49-F238E27FC236}">
                  <a16:creationId xmlns:a16="http://schemas.microsoft.com/office/drawing/2014/main" id="{23986486-AA8F-4958-A2D7-0B9FEFC52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" y="2000"/>
              <a:ext cx="1053" cy="1392"/>
            </a:xfrm>
            <a:prstGeom prst="rect">
              <a:avLst/>
            </a:prstGeom>
            <a:solidFill>
              <a:srgbClr val="ECDA9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cs-CZ" altLang="cs-CZ"/>
            </a:p>
          </p:txBody>
        </p:sp>
        <p:sp>
          <p:nvSpPr>
            <p:cNvPr id="63502" name="Rectangle 14">
              <a:extLst>
                <a:ext uri="{FF2B5EF4-FFF2-40B4-BE49-F238E27FC236}">
                  <a16:creationId xmlns:a16="http://schemas.microsoft.com/office/drawing/2014/main" id="{C1D67DB0-2F96-45BC-B254-A5BAD5A9F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0" y="2000"/>
              <a:ext cx="1059" cy="1392"/>
            </a:xfrm>
            <a:prstGeom prst="rect">
              <a:avLst/>
            </a:prstGeom>
            <a:solidFill>
              <a:srgbClr val="F3E8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cs-CZ" altLang="cs-CZ"/>
            </a:p>
          </p:txBody>
        </p:sp>
        <p:sp>
          <p:nvSpPr>
            <p:cNvPr id="63503" name="Line 15">
              <a:extLst>
                <a:ext uri="{FF2B5EF4-FFF2-40B4-BE49-F238E27FC236}">
                  <a16:creationId xmlns:a16="http://schemas.microsoft.com/office/drawing/2014/main" id="{FDDD69BC-42BA-4E29-A662-CA75A04050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" y="2000"/>
              <a:ext cx="2107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3504" name="Line 16">
              <a:extLst>
                <a:ext uri="{FF2B5EF4-FFF2-40B4-BE49-F238E27FC236}">
                  <a16:creationId xmlns:a16="http://schemas.microsoft.com/office/drawing/2014/main" id="{37CC057B-4A16-48A8-AB8A-FCAF1CDF28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7" y="2000"/>
              <a:ext cx="1053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3505" name="Line 17">
              <a:extLst>
                <a:ext uri="{FF2B5EF4-FFF2-40B4-BE49-F238E27FC236}">
                  <a16:creationId xmlns:a16="http://schemas.microsoft.com/office/drawing/2014/main" id="{C4E7F1B2-7C60-4344-B433-F11D4BD0FE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9" y="2000"/>
              <a:ext cx="703" cy="464"/>
            </a:xfrm>
            <a:prstGeom prst="line">
              <a:avLst/>
            </a:prstGeom>
            <a:noFill/>
            <a:ln w="15875">
              <a:solidFill>
                <a:srgbClr val="A5002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3506" name="Rectangle 18">
              <a:extLst>
                <a:ext uri="{FF2B5EF4-FFF2-40B4-BE49-F238E27FC236}">
                  <a16:creationId xmlns:a16="http://schemas.microsoft.com/office/drawing/2014/main" id="{79308613-F001-41DB-8B8A-B31BF90E9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6" y="2156"/>
              <a:ext cx="700" cy="92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A5002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3507" name="Line 19">
              <a:extLst>
                <a:ext uri="{FF2B5EF4-FFF2-40B4-BE49-F238E27FC236}">
                  <a16:creationId xmlns:a16="http://schemas.microsoft.com/office/drawing/2014/main" id="{CF4D61DB-0542-43E3-9762-9873B4CF21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7" y="2000"/>
              <a:ext cx="2107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3508" name="Line 20">
              <a:extLst>
                <a:ext uri="{FF2B5EF4-FFF2-40B4-BE49-F238E27FC236}">
                  <a16:creationId xmlns:a16="http://schemas.microsoft.com/office/drawing/2014/main" id="{5B63AC9F-0216-4180-B032-E2BED29ACF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90" y="2000"/>
              <a:ext cx="1054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3509" name="Line 21">
              <a:extLst>
                <a:ext uri="{FF2B5EF4-FFF2-40B4-BE49-F238E27FC236}">
                  <a16:creationId xmlns:a16="http://schemas.microsoft.com/office/drawing/2014/main" id="{ABF0137F-8D3E-4116-8118-F3EFA51E8D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2" y="2000"/>
              <a:ext cx="0" cy="464"/>
            </a:xfrm>
            <a:prstGeom prst="line">
              <a:avLst/>
            </a:prstGeom>
            <a:noFill/>
            <a:ln w="15875">
              <a:solidFill>
                <a:srgbClr val="A5002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</p:grpSp>
      <p:sp>
        <p:nvSpPr>
          <p:cNvPr id="63510" name="Rectangle 22">
            <a:extLst>
              <a:ext uri="{FF2B5EF4-FFF2-40B4-BE49-F238E27FC236}">
                <a16:creationId xmlns:a16="http://schemas.microsoft.com/office/drawing/2014/main" id="{A7B47FA0-7DAD-4072-98FE-C15E47D33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76800"/>
            <a:ext cx="8458200" cy="166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10000"/>
              </a:spcBef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10000"/>
              </a:spcBef>
              <a:buChar char="–"/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10000"/>
              </a:spcBef>
              <a:buChar char="–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10000"/>
              </a:spcBef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cs-CZ" altLang="cs-CZ"/>
              <a:t>v horním okraji záhlaví, v dolním pata</a:t>
            </a:r>
          </a:p>
          <a:p>
            <a:r>
              <a:rPr lang="cs-CZ" altLang="cs-CZ"/>
              <a:t>číslování stránek – záhlaví, pata, vnější okraj</a:t>
            </a:r>
          </a:p>
          <a:p>
            <a:r>
              <a:rPr lang="cs-CZ" altLang="cs-CZ"/>
              <a:t>pravá stránka je významnější a má liché číslo</a:t>
            </a:r>
          </a:p>
          <a:p>
            <a:r>
              <a:rPr lang="cs-CZ" altLang="cs-CZ"/>
              <a:t>optický střed stránky je výše než geometrický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3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3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3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3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3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3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3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3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3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3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3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3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3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3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3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3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3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3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  <p:bldP spid="63499" grpId="0" animBg="1" autoUpdateAnimBg="0"/>
      <p:bldP spid="63510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DDE73ACC-E00A-4595-9522-556B99BF1B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6225"/>
            <a:ext cx="8534400" cy="641350"/>
          </a:xfrm>
        </p:spPr>
        <p:txBody>
          <a:bodyPr/>
          <a:lstStyle/>
          <a:p>
            <a:r>
              <a:rPr lang="cs-CZ" altLang="cs-CZ"/>
              <a:t>Okraje na stránce</a:t>
            </a:r>
          </a:p>
        </p:txBody>
      </p:sp>
      <p:grpSp>
        <p:nvGrpSpPr>
          <p:cNvPr id="64515" name="Group 3">
            <a:extLst>
              <a:ext uri="{FF2B5EF4-FFF2-40B4-BE49-F238E27FC236}">
                <a16:creationId xmlns:a16="http://schemas.microsoft.com/office/drawing/2014/main" id="{7D426A37-5E00-457C-9AA0-8F0BFA7151F5}"/>
              </a:ext>
            </a:extLst>
          </p:cNvPr>
          <p:cNvGrpSpPr>
            <a:grpSpLocks/>
          </p:cNvGrpSpPr>
          <p:nvPr/>
        </p:nvGrpSpPr>
        <p:grpSpPr bwMode="auto">
          <a:xfrm>
            <a:off x="155575" y="1255713"/>
            <a:ext cx="8797925" cy="5273675"/>
            <a:chOff x="98" y="791"/>
            <a:chExt cx="5542" cy="3322"/>
          </a:xfrm>
        </p:grpSpPr>
        <p:sp>
          <p:nvSpPr>
            <p:cNvPr id="64516" name="Line 4">
              <a:extLst>
                <a:ext uri="{FF2B5EF4-FFF2-40B4-BE49-F238E27FC236}">
                  <a16:creationId xmlns:a16="http://schemas.microsoft.com/office/drawing/2014/main" id="{38C25E87-C421-405B-8732-AD65D5BE11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" y="934"/>
              <a:ext cx="57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17" name="Line 5">
              <a:extLst>
                <a:ext uri="{FF2B5EF4-FFF2-40B4-BE49-F238E27FC236}">
                  <a16:creationId xmlns:a16="http://schemas.microsoft.com/office/drawing/2014/main" id="{42C596B6-92F1-458D-BB14-96F66D98C4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" y="2854"/>
              <a:ext cx="57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18" name="Line 6">
              <a:extLst>
                <a:ext uri="{FF2B5EF4-FFF2-40B4-BE49-F238E27FC236}">
                  <a16:creationId xmlns:a16="http://schemas.microsoft.com/office/drawing/2014/main" id="{7A607960-E5A9-4D9E-A23E-24873B70A5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2854"/>
              <a:ext cx="1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19" name="Text Box 7">
              <a:extLst>
                <a:ext uri="{FF2B5EF4-FFF2-40B4-BE49-F238E27FC236}">
                  <a16:creationId xmlns:a16="http://schemas.microsoft.com/office/drawing/2014/main" id="{8AEF9CD5-6ECF-4FC8-BDD2-341A676B7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" y="791"/>
              <a:ext cx="758" cy="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cs-CZ" altLang="cs-CZ"/>
                <a:t>od hrany k záhlaví</a:t>
              </a:r>
            </a:p>
          </p:txBody>
        </p:sp>
        <p:sp>
          <p:nvSpPr>
            <p:cNvPr id="64520" name="Text Box 8">
              <a:extLst>
                <a:ext uri="{FF2B5EF4-FFF2-40B4-BE49-F238E27FC236}">
                  <a16:creationId xmlns:a16="http://schemas.microsoft.com/office/drawing/2014/main" id="{8259AF58-31BE-46FF-B0A9-0C45CEA6D6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" y="3883"/>
              <a:ext cx="921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/>
                <a:t>u</a:t>
              </a:r>
              <a:r>
                <a:rPr lang="cs-CZ" altLang="cs-CZ" sz="2000"/>
                <a:t> </a:t>
              </a:r>
              <a:r>
                <a:rPr lang="cs-CZ" altLang="cs-CZ"/>
                <a:t>hřbetu</a:t>
              </a:r>
            </a:p>
          </p:txBody>
        </p:sp>
        <p:sp>
          <p:nvSpPr>
            <p:cNvPr id="64521" name="Text Box 9">
              <a:extLst>
                <a:ext uri="{FF2B5EF4-FFF2-40B4-BE49-F238E27FC236}">
                  <a16:creationId xmlns:a16="http://schemas.microsoft.com/office/drawing/2014/main" id="{9DFD71C1-D8AC-4781-BB2A-F90776046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8" y="3379"/>
              <a:ext cx="696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/>
                <a:t>vnější</a:t>
              </a:r>
            </a:p>
          </p:txBody>
        </p:sp>
        <p:sp>
          <p:nvSpPr>
            <p:cNvPr id="64522" name="Text Box 10">
              <a:extLst>
                <a:ext uri="{FF2B5EF4-FFF2-40B4-BE49-F238E27FC236}">
                  <a16:creationId xmlns:a16="http://schemas.microsoft.com/office/drawing/2014/main" id="{E93315CC-5379-454F-B5AA-10DC46991E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7" y="3366"/>
              <a:ext cx="528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cs-CZ" altLang="cs-CZ"/>
                <a:t>vnější</a:t>
              </a:r>
            </a:p>
          </p:txBody>
        </p:sp>
        <p:sp>
          <p:nvSpPr>
            <p:cNvPr id="64523" name="Line 11">
              <a:extLst>
                <a:ext uri="{FF2B5EF4-FFF2-40B4-BE49-F238E27FC236}">
                  <a16:creationId xmlns:a16="http://schemas.microsoft.com/office/drawing/2014/main" id="{85C5390E-A00C-40E3-94A1-3F90D3B9D0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7" y="3161"/>
              <a:ext cx="1" cy="2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grpSp>
          <p:nvGrpSpPr>
            <p:cNvPr id="64524" name="Group 12">
              <a:extLst>
                <a:ext uri="{FF2B5EF4-FFF2-40B4-BE49-F238E27FC236}">
                  <a16:creationId xmlns:a16="http://schemas.microsoft.com/office/drawing/2014/main" id="{8183A3DC-234A-4E89-9AA3-9EF5608AEC63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4320" y="3300"/>
              <a:ext cx="696" cy="80"/>
              <a:chOff x="3800" y="2947"/>
              <a:chExt cx="368" cy="0"/>
            </a:xfrm>
          </p:grpSpPr>
          <p:sp>
            <p:nvSpPr>
              <p:cNvPr id="64525" name="Line 13">
                <a:extLst>
                  <a:ext uri="{FF2B5EF4-FFF2-40B4-BE49-F238E27FC236}">
                    <a16:creationId xmlns:a16="http://schemas.microsoft.com/office/drawing/2014/main" id="{AAF2B981-3EF1-41CD-AC96-0700CE1AC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32" y="2947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cs-CZ"/>
              </a:p>
            </p:txBody>
          </p:sp>
          <p:sp>
            <p:nvSpPr>
              <p:cNvPr id="64526" name="Line 14">
                <a:extLst>
                  <a:ext uri="{FF2B5EF4-FFF2-40B4-BE49-F238E27FC236}">
                    <a16:creationId xmlns:a16="http://schemas.microsoft.com/office/drawing/2014/main" id="{CB0E0B9B-B101-46D8-BEA3-2A45003BD3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0" y="2947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cs-CZ"/>
              </a:p>
            </p:txBody>
          </p:sp>
        </p:grpSp>
        <p:sp>
          <p:nvSpPr>
            <p:cNvPr id="64527" name="Line 15">
              <a:extLst>
                <a:ext uri="{FF2B5EF4-FFF2-40B4-BE49-F238E27FC236}">
                  <a16:creationId xmlns:a16="http://schemas.microsoft.com/office/drawing/2014/main" id="{F2D5DF43-ADFE-4BBB-A8FB-2B02F1C61C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1" y="867"/>
              <a:ext cx="72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28" name="Line 16">
              <a:extLst>
                <a:ext uri="{FF2B5EF4-FFF2-40B4-BE49-F238E27FC236}">
                  <a16:creationId xmlns:a16="http://schemas.microsoft.com/office/drawing/2014/main" id="{BA1D55AE-14B0-4949-985F-EE56F2C23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0" y="3170"/>
              <a:ext cx="96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29" name="Line 17">
              <a:extLst>
                <a:ext uri="{FF2B5EF4-FFF2-40B4-BE49-F238E27FC236}">
                  <a16:creationId xmlns:a16="http://schemas.microsoft.com/office/drawing/2014/main" id="{958BD93D-A9E6-4399-B1C7-8E44381BCE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7" y="867"/>
              <a:ext cx="1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30" name="Line 18">
              <a:extLst>
                <a:ext uri="{FF2B5EF4-FFF2-40B4-BE49-F238E27FC236}">
                  <a16:creationId xmlns:a16="http://schemas.microsoft.com/office/drawing/2014/main" id="{8FC8E755-188E-421F-80FD-04557F746E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2691"/>
              <a:ext cx="1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31" name="Text Box 19">
              <a:extLst>
                <a:ext uri="{FF2B5EF4-FFF2-40B4-BE49-F238E27FC236}">
                  <a16:creationId xmlns:a16="http://schemas.microsoft.com/office/drawing/2014/main" id="{45CC4F10-BAF2-44B7-8E22-D639FCBA1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4" y="935"/>
              <a:ext cx="576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/>
                <a:t>horní</a:t>
              </a:r>
            </a:p>
          </p:txBody>
        </p:sp>
        <p:sp>
          <p:nvSpPr>
            <p:cNvPr id="64532" name="Text Box 20">
              <a:extLst>
                <a:ext uri="{FF2B5EF4-FFF2-40B4-BE49-F238E27FC236}">
                  <a16:creationId xmlns:a16="http://schemas.microsoft.com/office/drawing/2014/main" id="{6ABBFF72-BB4C-4A22-82C6-FDC587593A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1" y="2826"/>
              <a:ext cx="509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/>
                <a:t>dolní</a:t>
              </a:r>
            </a:p>
          </p:txBody>
        </p:sp>
        <p:grpSp>
          <p:nvGrpSpPr>
            <p:cNvPr id="64533" name="Group 21">
              <a:extLst>
                <a:ext uri="{FF2B5EF4-FFF2-40B4-BE49-F238E27FC236}">
                  <a16:creationId xmlns:a16="http://schemas.microsoft.com/office/drawing/2014/main" id="{A700BDE1-C7D2-475F-99EE-275C03E380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1" y="867"/>
              <a:ext cx="3456" cy="2304"/>
              <a:chOff x="720" y="404"/>
              <a:chExt cx="3456" cy="2304"/>
            </a:xfrm>
          </p:grpSpPr>
          <p:grpSp>
            <p:nvGrpSpPr>
              <p:cNvPr id="64534" name="Group 22">
                <a:extLst>
                  <a:ext uri="{FF2B5EF4-FFF2-40B4-BE49-F238E27FC236}">
                    <a16:creationId xmlns:a16="http://schemas.microsoft.com/office/drawing/2014/main" id="{D0F7B783-EDB4-49DD-B7D7-2ED9117926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720" y="404"/>
                <a:ext cx="1728" cy="2304"/>
                <a:chOff x="2304" y="487"/>
                <a:chExt cx="1728" cy="2304"/>
              </a:xfrm>
            </p:grpSpPr>
            <p:sp>
              <p:nvSpPr>
                <p:cNvPr id="64535" name="Rectangle 23">
                  <a:extLst>
                    <a:ext uri="{FF2B5EF4-FFF2-40B4-BE49-F238E27FC236}">
                      <a16:creationId xmlns:a16="http://schemas.microsoft.com/office/drawing/2014/main" id="{0903B7B9-038E-41DB-AAC7-FA8EB430F9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487"/>
                  <a:ext cx="144" cy="2304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cs-CZ"/>
                </a:p>
              </p:txBody>
            </p:sp>
            <p:sp>
              <p:nvSpPr>
                <p:cNvPr id="64536" name="Rectangle 24">
                  <a:extLst>
                    <a:ext uri="{FF2B5EF4-FFF2-40B4-BE49-F238E27FC236}">
                      <a16:creationId xmlns:a16="http://schemas.microsoft.com/office/drawing/2014/main" id="{9B390A2B-C723-46AE-A460-26E5E325E3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487"/>
                  <a:ext cx="1584" cy="230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cs-CZ"/>
                </a:p>
              </p:txBody>
            </p:sp>
            <p:sp>
              <p:nvSpPr>
                <p:cNvPr id="64537" name="Rectangle 25">
                  <a:extLst>
                    <a:ext uri="{FF2B5EF4-FFF2-40B4-BE49-F238E27FC236}">
                      <a16:creationId xmlns:a16="http://schemas.microsoft.com/office/drawing/2014/main" id="{2BF6E82F-F161-4A12-BD52-F2F16A65CA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6" y="631"/>
                  <a:ext cx="1344" cy="144"/>
                </a:xfrm>
                <a:prstGeom prst="rect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cs-CZ" altLang="cs-CZ" sz="2000" b="1" i="1"/>
                    <a:t>záhlaví</a:t>
                  </a:r>
                  <a:endParaRPr lang="cs-CZ" altLang="cs-CZ"/>
                </a:p>
              </p:txBody>
            </p:sp>
            <p:sp>
              <p:nvSpPr>
                <p:cNvPr id="64538" name="Rectangle 26">
                  <a:extLst>
                    <a:ext uri="{FF2B5EF4-FFF2-40B4-BE49-F238E27FC236}">
                      <a16:creationId xmlns:a16="http://schemas.microsoft.com/office/drawing/2014/main" id="{DAF0C92B-6C84-4CF9-B929-68B329EA4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6" y="871"/>
                  <a:ext cx="1344" cy="1440"/>
                </a:xfrm>
                <a:prstGeom prst="rect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cs-CZ"/>
                </a:p>
              </p:txBody>
            </p:sp>
            <p:sp>
              <p:nvSpPr>
                <p:cNvPr id="64539" name="Rectangle 27">
                  <a:extLst>
                    <a:ext uri="{FF2B5EF4-FFF2-40B4-BE49-F238E27FC236}">
                      <a16:creationId xmlns:a16="http://schemas.microsoft.com/office/drawing/2014/main" id="{7E8F1290-E728-46FF-9B44-4D639CAD23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6" y="2407"/>
                  <a:ext cx="1344" cy="144"/>
                </a:xfrm>
                <a:prstGeom prst="rect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cs-CZ" altLang="cs-CZ" sz="2000" b="1" i="1"/>
                    <a:t>pata</a:t>
                  </a:r>
                  <a:r>
                    <a:rPr lang="cs-CZ" altLang="cs-CZ" sz="2000" i="1"/>
                    <a:t> (</a:t>
                  </a:r>
                  <a:r>
                    <a:rPr lang="cs-CZ" altLang="cs-CZ" sz="2000" b="1" i="1"/>
                    <a:t>zápatí</a:t>
                  </a:r>
                  <a:r>
                    <a:rPr lang="cs-CZ" altLang="cs-CZ" sz="2000" i="1"/>
                    <a:t>)</a:t>
                  </a:r>
                </a:p>
              </p:txBody>
            </p:sp>
          </p:grpSp>
          <p:grpSp>
            <p:nvGrpSpPr>
              <p:cNvPr id="64540" name="Group 28">
                <a:extLst>
                  <a:ext uri="{FF2B5EF4-FFF2-40B4-BE49-F238E27FC236}">
                    <a16:creationId xmlns:a16="http://schemas.microsoft.com/office/drawing/2014/main" id="{4835D977-70AD-4A16-A095-8454AC7B5C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8" y="404"/>
                <a:ext cx="1728" cy="2304"/>
                <a:chOff x="2304" y="487"/>
                <a:chExt cx="1728" cy="2304"/>
              </a:xfrm>
            </p:grpSpPr>
            <p:sp>
              <p:nvSpPr>
                <p:cNvPr id="64541" name="Rectangle 29">
                  <a:extLst>
                    <a:ext uri="{FF2B5EF4-FFF2-40B4-BE49-F238E27FC236}">
                      <a16:creationId xmlns:a16="http://schemas.microsoft.com/office/drawing/2014/main" id="{490195F0-9A09-498D-B147-19AB33002C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487"/>
                  <a:ext cx="144" cy="2304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cs-CZ"/>
                </a:p>
              </p:txBody>
            </p:sp>
            <p:sp>
              <p:nvSpPr>
                <p:cNvPr id="64542" name="Rectangle 30">
                  <a:extLst>
                    <a:ext uri="{FF2B5EF4-FFF2-40B4-BE49-F238E27FC236}">
                      <a16:creationId xmlns:a16="http://schemas.microsoft.com/office/drawing/2014/main" id="{5EA173BD-9626-40AC-B6E2-2821FAFE4B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487"/>
                  <a:ext cx="1584" cy="230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cs-CZ"/>
                </a:p>
              </p:txBody>
            </p:sp>
            <p:sp>
              <p:nvSpPr>
                <p:cNvPr id="64543" name="Rectangle 31">
                  <a:extLst>
                    <a:ext uri="{FF2B5EF4-FFF2-40B4-BE49-F238E27FC236}">
                      <a16:creationId xmlns:a16="http://schemas.microsoft.com/office/drawing/2014/main" id="{CFA17ED8-8E9A-471A-B145-A62E69887D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6" y="631"/>
                  <a:ext cx="1344" cy="144"/>
                </a:xfrm>
                <a:prstGeom prst="rect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cs-CZ" altLang="cs-CZ" sz="2000" b="1" i="1"/>
                    <a:t>záhlaví</a:t>
                  </a:r>
                  <a:endParaRPr lang="cs-CZ" altLang="cs-CZ"/>
                </a:p>
              </p:txBody>
            </p:sp>
            <p:sp>
              <p:nvSpPr>
                <p:cNvPr id="64544" name="Rectangle 32">
                  <a:extLst>
                    <a:ext uri="{FF2B5EF4-FFF2-40B4-BE49-F238E27FC236}">
                      <a16:creationId xmlns:a16="http://schemas.microsoft.com/office/drawing/2014/main" id="{285B9E7E-83D6-4BA2-B780-7B4AEEF26B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6" y="871"/>
                  <a:ext cx="1344" cy="1440"/>
                </a:xfrm>
                <a:prstGeom prst="rect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cs-CZ"/>
                </a:p>
              </p:txBody>
            </p:sp>
            <p:sp>
              <p:nvSpPr>
                <p:cNvPr id="64545" name="Rectangle 33">
                  <a:extLst>
                    <a:ext uri="{FF2B5EF4-FFF2-40B4-BE49-F238E27FC236}">
                      <a16:creationId xmlns:a16="http://schemas.microsoft.com/office/drawing/2014/main" id="{7C70164E-84B1-4218-ADFB-6533342D92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6" y="2407"/>
                  <a:ext cx="1344" cy="144"/>
                </a:xfrm>
                <a:prstGeom prst="rect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cs-CZ" altLang="cs-CZ" sz="2000" b="1" i="1"/>
                    <a:t>pata</a:t>
                  </a:r>
                  <a:r>
                    <a:rPr lang="cs-CZ" altLang="cs-CZ" sz="2000" i="1"/>
                    <a:t> (</a:t>
                  </a:r>
                  <a:r>
                    <a:rPr lang="cs-CZ" altLang="cs-CZ" sz="2000" b="1" i="1"/>
                    <a:t>zápatí</a:t>
                  </a:r>
                  <a:r>
                    <a:rPr lang="cs-CZ" altLang="cs-CZ" sz="2000" i="1"/>
                    <a:t>)</a:t>
                  </a:r>
                </a:p>
              </p:txBody>
            </p:sp>
          </p:grpSp>
        </p:grpSp>
        <p:sp>
          <p:nvSpPr>
            <p:cNvPr id="64546" name="Line 34">
              <a:extLst>
                <a:ext uri="{FF2B5EF4-FFF2-40B4-BE49-F238E27FC236}">
                  <a16:creationId xmlns:a16="http://schemas.microsoft.com/office/drawing/2014/main" id="{DFA74D76-B171-4DE5-8242-EC044EED46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3" y="1251"/>
              <a:ext cx="7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47" name="Line 35">
              <a:extLst>
                <a:ext uri="{FF2B5EF4-FFF2-40B4-BE49-F238E27FC236}">
                  <a16:creationId xmlns:a16="http://schemas.microsoft.com/office/drawing/2014/main" id="{36A9F735-8235-4099-9314-8E2D6538B6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4" y="2690"/>
              <a:ext cx="105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48" name="Line 36">
              <a:extLst>
                <a:ext uri="{FF2B5EF4-FFF2-40B4-BE49-F238E27FC236}">
                  <a16:creationId xmlns:a16="http://schemas.microsoft.com/office/drawing/2014/main" id="{04E2B7D2-EF4C-473F-B5E2-4A929761F5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5" y="2928"/>
              <a:ext cx="1" cy="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49" name="Line 37">
              <a:extLst>
                <a:ext uri="{FF2B5EF4-FFF2-40B4-BE49-F238E27FC236}">
                  <a16:creationId xmlns:a16="http://schemas.microsoft.com/office/drawing/2014/main" id="{C5ADB85E-0533-4F9B-BBC5-12B34FDC53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63" y="3299"/>
              <a:ext cx="27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50" name="Line 38">
              <a:extLst>
                <a:ext uri="{FF2B5EF4-FFF2-40B4-BE49-F238E27FC236}">
                  <a16:creationId xmlns:a16="http://schemas.microsoft.com/office/drawing/2014/main" id="{3DF46781-6316-4F63-B39D-2B210AC1ED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38" y="3299"/>
              <a:ext cx="25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51" name="Line 39">
              <a:extLst>
                <a:ext uri="{FF2B5EF4-FFF2-40B4-BE49-F238E27FC236}">
                  <a16:creationId xmlns:a16="http://schemas.microsoft.com/office/drawing/2014/main" id="{CACCE452-04EF-41B1-8007-92C66F41ED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1" y="3151"/>
              <a:ext cx="1" cy="2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52" name="Line 40">
              <a:extLst>
                <a:ext uri="{FF2B5EF4-FFF2-40B4-BE49-F238E27FC236}">
                  <a16:creationId xmlns:a16="http://schemas.microsoft.com/office/drawing/2014/main" id="{BEEDEC39-DF61-4267-9F7B-761906CC78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3" y="2931"/>
              <a:ext cx="1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53" name="Line 41">
              <a:extLst>
                <a:ext uri="{FF2B5EF4-FFF2-40B4-BE49-F238E27FC236}">
                  <a16:creationId xmlns:a16="http://schemas.microsoft.com/office/drawing/2014/main" id="{02DAC317-9D04-4796-B294-2BC4E7B3A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0" y="3170"/>
              <a:ext cx="1" cy="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54" name="Line 42">
              <a:extLst>
                <a:ext uri="{FF2B5EF4-FFF2-40B4-BE49-F238E27FC236}">
                  <a16:creationId xmlns:a16="http://schemas.microsoft.com/office/drawing/2014/main" id="{D818FD2B-2371-4F5C-BFE3-7ADB51E013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5" y="3162"/>
              <a:ext cx="1" cy="7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55" name="Line 43">
              <a:extLst>
                <a:ext uri="{FF2B5EF4-FFF2-40B4-BE49-F238E27FC236}">
                  <a16:creationId xmlns:a16="http://schemas.microsoft.com/office/drawing/2014/main" id="{E2241CE8-109D-4E67-A8EC-03697651C2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3177"/>
              <a:ext cx="1" cy="7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56" name="Line 44">
              <a:extLst>
                <a:ext uri="{FF2B5EF4-FFF2-40B4-BE49-F238E27FC236}">
                  <a16:creationId xmlns:a16="http://schemas.microsoft.com/office/drawing/2014/main" id="{7860E0F8-86F9-46B6-A1D9-ECC4E0D686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7" y="2923"/>
              <a:ext cx="1" cy="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57" name="Line 45">
              <a:extLst>
                <a:ext uri="{FF2B5EF4-FFF2-40B4-BE49-F238E27FC236}">
                  <a16:creationId xmlns:a16="http://schemas.microsoft.com/office/drawing/2014/main" id="{80241BF9-10DF-4B21-B727-ED779D5FA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1" y="2933"/>
              <a:ext cx="1" cy="4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58" name="Text Box 46">
              <a:extLst>
                <a:ext uri="{FF2B5EF4-FFF2-40B4-BE49-F238E27FC236}">
                  <a16:creationId xmlns:a16="http://schemas.microsoft.com/office/drawing/2014/main" id="{160BC6F4-723F-46D4-BDDC-4301AD5A1D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1" y="3366"/>
              <a:ext cx="528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cs-CZ" altLang="cs-CZ"/>
                <a:t>vnitřní</a:t>
              </a:r>
            </a:p>
          </p:txBody>
        </p:sp>
        <p:sp>
          <p:nvSpPr>
            <p:cNvPr id="64559" name="Text Box 47">
              <a:extLst>
                <a:ext uri="{FF2B5EF4-FFF2-40B4-BE49-F238E27FC236}">
                  <a16:creationId xmlns:a16="http://schemas.microsoft.com/office/drawing/2014/main" id="{9BC8BF51-5383-45F3-A3D0-FACECB77A8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7" y="3372"/>
              <a:ext cx="528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cs-CZ" altLang="cs-CZ"/>
                <a:t>vnitřní</a:t>
              </a:r>
            </a:p>
          </p:txBody>
        </p:sp>
        <p:sp>
          <p:nvSpPr>
            <p:cNvPr id="64560" name="Line 48">
              <a:extLst>
                <a:ext uri="{FF2B5EF4-FFF2-40B4-BE49-F238E27FC236}">
                  <a16:creationId xmlns:a16="http://schemas.microsoft.com/office/drawing/2014/main" id="{8C976D85-91B1-4370-888A-BEF7298D0B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5" y="3759"/>
              <a:ext cx="14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61" name="Line 49">
              <a:extLst>
                <a:ext uri="{FF2B5EF4-FFF2-40B4-BE49-F238E27FC236}">
                  <a16:creationId xmlns:a16="http://schemas.microsoft.com/office/drawing/2014/main" id="{C287EB3B-B034-430F-A14F-3BC5233CB7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1" y="3759"/>
              <a:ext cx="14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62" name="Line 50">
              <a:extLst>
                <a:ext uri="{FF2B5EF4-FFF2-40B4-BE49-F238E27FC236}">
                  <a16:creationId xmlns:a16="http://schemas.microsoft.com/office/drawing/2014/main" id="{42251F2C-AA8C-49AC-AFC7-62065C0E7A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68" y="3300"/>
              <a:ext cx="10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63" name="Line 51">
              <a:extLst>
                <a:ext uri="{FF2B5EF4-FFF2-40B4-BE49-F238E27FC236}">
                  <a16:creationId xmlns:a16="http://schemas.microsoft.com/office/drawing/2014/main" id="{C33C351D-85CB-4238-AD76-9DC7F28516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35" y="3300"/>
              <a:ext cx="17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64" name="Line 52">
              <a:extLst>
                <a:ext uri="{FF2B5EF4-FFF2-40B4-BE49-F238E27FC236}">
                  <a16:creationId xmlns:a16="http://schemas.microsoft.com/office/drawing/2014/main" id="{E351F6F2-1EEB-4C03-B864-F4BBC3651B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31" y="3300"/>
              <a:ext cx="17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65" name="Line 53">
              <a:extLst>
                <a:ext uri="{FF2B5EF4-FFF2-40B4-BE49-F238E27FC236}">
                  <a16:creationId xmlns:a16="http://schemas.microsoft.com/office/drawing/2014/main" id="{359D0F2B-DF4C-4A5C-9977-8D33B229DE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0" y="3299"/>
              <a:ext cx="10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66" name="Line 54">
              <a:extLst>
                <a:ext uri="{FF2B5EF4-FFF2-40B4-BE49-F238E27FC236}">
                  <a16:creationId xmlns:a16="http://schemas.microsoft.com/office/drawing/2014/main" id="{97E1855B-22CD-4659-B23C-D6ADF94FE5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7" y="1155"/>
              <a:ext cx="58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67" name="Line 55">
              <a:extLst>
                <a:ext uri="{FF2B5EF4-FFF2-40B4-BE49-F238E27FC236}">
                  <a16:creationId xmlns:a16="http://schemas.microsoft.com/office/drawing/2014/main" id="{2F143F97-E1BD-47B3-B6B2-0BDE89F3A7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7" y="867"/>
              <a:ext cx="52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68" name="Line 56">
              <a:extLst>
                <a:ext uri="{FF2B5EF4-FFF2-40B4-BE49-F238E27FC236}">
                  <a16:creationId xmlns:a16="http://schemas.microsoft.com/office/drawing/2014/main" id="{42D30EAD-22C9-4A2D-AD0E-79609140A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8" y="867"/>
              <a:ext cx="1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69" name="Line 57">
              <a:extLst>
                <a:ext uri="{FF2B5EF4-FFF2-40B4-BE49-F238E27FC236}">
                  <a16:creationId xmlns:a16="http://schemas.microsoft.com/office/drawing/2014/main" id="{5C2E6F40-62F8-4A1C-885E-E0D59D898F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" y="3171"/>
              <a:ext cx="56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70" name="Line 58">
              <a:extLst>
                <a:ext uri="{FF2B5EF4-FFF2-40B4-BE49-F238E27FC236}">
                  <a16:creationId xmlns:a16="http://schemas.microsoft.com/office/drawing/2014/main" id="{D0D5B2C8-C850-4270-878D-ACA37EEFF3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7" y="2929"/>
              <a:ext cx="61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71" name="Line 59">
              <a:extLst>
                <a:ext uri="{FF2B5EF4-FFF2-40B4-BE49-F238E27FC236}">
                  <a16:creationId xmlns:a16="http://schemas.microsoft.com/office/drawing/2014/main" id="{E9CDCA66-960A-4993-8D29-DA9BE5FA3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" y="2928"/>
              <a:ext cx="1" cy="2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cs-CZ"/>
            </a:p>
          </p:txBody>
        </p:sp>
        <p:sp>
          <p:nvSpPr>
            <p:cNvPr id="64572" name="Text Box 60">
              <a:extLst>
                <a:ext uri="{FF2B5EF4-FFF2-40B4-BE49-F238E27FC236}">
                  <a16:creationId xmlns:a16="http://schemas.microsoft.com/office/drawing/2014/main" id="{0157475F-0CA3-439E-B53F-DF0FEEC985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" y="2807"/>
              <a:ext cx="784" cy="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cs-CZ" altLang="cs-CZ"/>
                <a:t>od hrany k zápatí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00969D8E-FC09-478B-BF3E-4CA581AEF2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Rozložení stran v knize</a:t>
            </a:r>
          </a:p>
        </p:txBody>
      </p:sp>
      <p:grpSp>
        <p:nvGrpSpPr>
          <p:cNvPr id="65539" name="Group 3">
            <a:extLst>
              <a:ext uri="{FF2B5EF4-FFF2-40B4-BE49-F238E27FC236}">
                <a16:creationId xmlns:a16="http://schemas.microsoft.com/office/drawing/2014/main" id="{F11D35B4-048F-4F17-BCFF-F31E8476489A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022350"/>
            <a:ext cx="7924800" cy="4845050"/>
            <a:chOff x="480" y="644"/>
            <a:chExt cx="4512" cy="3052"/>
          </a:xfrm>
        </p:grpSpPr>
        <p:sp>
          <p:nvSpPr>
            <p:cNvPr id="65540" name="Text Box 4">
              <a:extLst>
                <a:ext uri="{FF2B5EF4-FFF2-40B4-BE49-F238E27FC236}">
                  <a16:creationId xmlns:a16="http://schemas.microsoft.com/office/drawing/2014/main" id="{BACA4801-017A-4B0C-B7DD-06511C318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832" y="644"/>
              <a:ext cx="2160" cy="3052"/>
            </a:xfrm>
            <a:prstGeom prst="rect">
              <a:avLst/>
            </a:prstGeom>
            <a:noFill/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b"/>
            <a:lstStyle/>
            <a:p>
              <a:pPr algn="r">
                <a:spcBef>
                  <a:spcPct val="50000"/>
                </a:spcBef>
              </a:pPr>
              <a:r>
                <a:rPr lang="cs-CZ" altLang="cs-CZ"/>
                <a:t>P – lichá</a:t>
              </a:r>
            </a:p>
          </p:txBody>
        </p:sp>
        <p:sp>
          <p:nvSpPr>
            <p:cNvPr id="65541" name="Text Box 5">
              <a:extLst>
                <a:ext uri="{FF2B5EF4-FFF2-40B4-BE49-F238E27FC236}">
                  <a16:creationId xmlns:a16="http://schemas.microsoft.com/office/drawing/2014/main" id="{F09D8DA2-A9D2-44C3-969E-4325E9959A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80" y="644"/>
              <a:ext cx="2160" cy="3052"/>
            </a:xfrm>
            <a:prstGeom prst="rect">
              <a:avLst/>
            </a:prstGeom>
            <a:noFill/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b"/>
            <a:lstStyle/>
            <a:p>
              <a:pPr>
                <a:spcBef>
                  <a:spcPct val="50000"/>
                </a:spcBef>
              </a:pPr>
              <a:r>
                <a:rPr lang="cs-CZ" altLang="cs-CZ"/>
                <a:t>L – sudá</a:t>
              </a:r>
            </a:p>
          </p:txBody>
        </p:sp>
      </p:grpSp>
      <p:sp>
        <p:nvSpPr>
          <p:cNvPr id="65542" name="Text Box 6">
            <a:extLst>
              <a:ext uri="{FF2B5EF4-FFF2-40B4-BE49-F238E27FC236}">
                <a16:creationId xmlns:a16="http://schemas.microsoft.com/office/drawing/2014/main" id="{3F39CEF1-1A8C-4111-95FB-57E73A32D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371600"/>
            <a:ext cx="3429000" cy="650875"/>
          </a:xfrm>
          <a:prstGeom prst="rect">
            <a:avLst/>
          </a:prstGeom>
          <a:solidFill>
            <a:srgbClr val="FF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cs-CZ" altLang="cs-CZ" sz="3600" b="1" i="1">
                <a:latin typeface="Bookman Old Style" panose="02050604050505020204" pitchFamily="18" charset="0"/>
              </a:rPr>
              <a:t>Patitul</a:t>
            </a:r>
            <a:endParaRPr lang="cs-CZ" altLang="cs-CZ">
              <a:latin typeface="Bookman Old Style" panose="02050604050505020204" pitchFamily="18" charset="0"/>
            </a:endParaRPr>
          </a:p>
        </p:txBody>
      </p:sp>
      <p:sp>
        <p:nvSpPr>
          <p:cNvPr id="65543" name="Text Box 7">
            <a:extLst>
              <a:ext uri="{FF2B5EF4-FFF2-40B4-BE49-F238E27FC236}">
                <a16:creationId xmlns:a16="http://schemas.microsoft.com/office/drawing/2014/main" id="{C1584C8C-6F7C-4FF6-ACA9-F57B68103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371600"/>
            <a:ext cx="3429000" cy="650875"/>
          </a:xfrm>
          <a:prstGeom prst="rect">
            <a:avLst/>
          </a:prstGeom>
          <a:solidFill>
            <a:srgbClr val="FF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cs-CZ" altLang="cs-CZ" sz="3600" b="1" i="1">
                <a:latin typeface="Bookman Old Style" panose="02050604050505020204" pitchFamily="18" charset="0"/>
              </a:rPr>
              <a:t>Titul</a:t>
            </a:r>
            <a:endParaRPr lang="cs-CZ" altLang="cs-CZ">
              <a:latin typeface="Bookman Old Style" panose="02050604050505020204" pitchFamily="18" charset="0"/>
            </a:endParaRPr>
          </a:p>
        </p:txBody>
      </p:sp>
      <p:grpSp>
        <p:nvGrpSpPr>
          <p:cNvPr id="65544" name="Group 8">
            <a:extLst>
              <a:ext uri="{FF2B5EF4-FFF2-40B4-BE49-F238E27FC236}">
                <a16:creationId xmlns:a16="http://schemas.microsoft.com/office/drawing/2014/main" id="{9F6C05C7-25D5-4E3D-AA74-04FC15DF1D64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371600"/>
            <a:ext cx="7467600" cy="2847975"/>
            <a:chOff x="480" y="864"/>
            <a:chExt cx="4704" cy="1794"/>
          </a:xfrm>
        </p:grpSpPr>
        <p:sp>
          <p:nvSpPr>
            <p:cNvPr id="65545" name="Text Box 9">
              <a:extLst>
                <a:ext uri="{FF2B5EF4-FFF2-40B4-BE49-F238E27FC236}">
                  <a16:creationId xmlns:a16="http://schemas.microsoft.com/office/drawing/2014/main" id="{51F6734F-526A-469D-8C64-FE6EA6083E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056"/>
              <a:ext cx="2160" cy="92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3600" b="1" i="1">
                  <a:latin typeface="Bookman Old Style" panose="02050604050505020204" pitchFamily="18" charset="0"/>
                </a:rPr>
                <a:t>Věnování</a:t>
              </a:r>
            </a:p>
            <a:p>
              <a:pPr algn="ctr">
                <a:spcBef>
                  <a:spcPct val="50000"/>
                </a:spcBef>
              </a:pPr>
              <a:r>
                <a:rPr lang="cs-CZ" altLang="cs-CZ" sz="3600" b="1" i="1">
                  <a:latin typeface="Bookman Old Style" panose="02050604050505020204" pitchFamily="18" charset="0"/>
                </a:rPr>
                <a:t>motto</a:t>
              </a:r>
              <a:endParaRPr lang="cs-CZ" altLang="cs-CZ">
                <a:latin typeface="Bookman Old Style" panose="02050604050505020204" pitchFamily="18" charset="0"/>
              </a:endParaRPr>
            </a:p>
          </p:txBody>
        </p:sp>
        <p:sp>
          <p:nvSpPr>
            <p:cNvPr id="65546" name="Text Box 10">
              <a:extLst>
                <a:ext uri="{FF2B5EF4-FFF2-40B4-BE49-F238E27FC236}">
                  <a16:creationId xmlns:a16="http://schemas.microsoft.com/office/drawing/2014/main" id="{7AAD9835-7DD1-4D44-BBD0-E652F0B98A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864"/>
              <a:ext cx="2160" cy="179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3600" b="1" i="1">
                  <a:latin typeface="Bookman Old Style" panose="02050604050505020204" pitchFamily="18" charset="0"/>
                </a:rPr>
                <a:t>vydavatelský záznam</a:t>
              </a:r>
            </a:p>
            <a:p>
              <a:pPr algn="ctr">
                <a:spcBef>
                  <a:spcPct val="50000"/>
                </a:spcBef>
              </a:pPr>
              <a:r>
                <a:rPr lang="cs-CZ" altLang="cs-CZ" sz="3600" b="1" i="1">
                  <a:latin typeface="Bookman Old Style" panose="02050604050505020204" pitchFamily="18" charset="0"/>
                </a:rPr>
                <a:t>copyright</a:t>
              </a:r>
            </a:p>
            <a:p>
              <a:pPr algn="ctr">
                <a:spcBef>
                  <a:spcPct val="50000"/>
                </a:spcBef>
              </a:pPr>
              <a:r>
                <a:rPr lang="cs-CZ" altLang="cs-CZ" sz="3600" b="1" i="1">
                  <a:latin typeface="Bookman Old Style" panose="02050604050505020204" pitchFamily="18" charset="0"/>
                </a:rPr>
                <a:t>ISBN</a:t>
              </a:r>
              <a:endParaRPr lang="cs-CZ" altLang="cs-CZ">
                <a:latin typeface="Bookman Old Style" panose="02050604050505020204" pitchFamily="18" charset="0"/>
              </a:endParaRPr>
            </a:p>
          </p:txBody>
        </p:sp>
      </p:grpSp>
      <p:sp>
        <p:nvSpPr>
          <p:cNvPr id="65547" name="Text Box 11">
            <a:extLst>
              <a:ext uri="{FF2B5EF4-FFF2-40B4-BE49-F238E27FC236}">
                <a16:creationId xmlns:a16="http://schemas.microsoft.com/office/drawing/2014/main" id="{C5CE249D-2F47-4804-86A6-086E30118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371600"/>
            <a:ext cx="3429000" cy="650875"/>
          </a:xfrm>
          <a:prstGeom prst="rect">
            <a:avLst/>
          </a:prstGeom>
          <a:solidFill>
            <a:srgbClr val="FF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cs-CZ" altLang="cs-CZ" sz="3600" b="1" i="1">
                <a:latin typeface="Bookman Old Style" panose="02050604050505020204" pitchFamily="18" charset="0"/>
              </a:rPr>
              <a:t>Obsah</a:t>
            </a:r>
            <a:endParaRPr lang="cs-CZ" altLang="cs-CZ">
              <a:latin typeface="Bookman Old Style" panose="02050604050505020204" pitchFamily="18" charset="0"/>
            </a:endParaRPr>
          </a:p>
        </p:txBody>
      </p:sp>
      <p:sp>
        <p:nvSpPr>
          <p:cNvPr id="65548" name="Text Box 12">
            <a:extLst>
              <a:ext uri="{FF2B5EF4-FFF2-40B4-BE49-F238E27FC236}">
                <a16:creationId xmlns:a16="http://schemas.microsoft.com/office/drawing/2014/main" id="{0DAB5B79-7B07-4BDC-A40E-90A079CF6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371600"/>
            <a:ext cx="3429000" cy="650875"/>
          </a:xfrm>
          <a:prstGeom prst="rect">
            <a:avLst/>
          </a:prstGeom>
          <a:solidFill>
            <a:srgbClr val="FF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cs-CZ" altLang="cs-CZ" sz="3600" b="1" i="1">
                <a:latin typeface="Bookman Old Style" panose="02050604050505020204" pitchFamily="18" charset="0"/>
              </a:rPr>
              <a:t>Předmluva</a:t>
            </a:r>
            <a:endParaRPr lang="cs-CZ" altLang="cs-CZ">
              <a:latin typeface="Bookman Old Style" panose="02050604050505020204" pitchFamily="18" charset="0"/>
            </a:endParaRPr>
          </a:p>
        </p:txBody>
      </p:sp>
      <p:sp>
        <p:nvSpPr>
          <p:cNvPr id="65549" name="Text Box 13">
            <a:extLst>
              <a:ext uri="{FF2B5EF4-FFF2-40B4-BE49-F238E27FC236}">
                <a16:creationId xmlns:a16="http://schemas.microsoft.com/office/drawing/2014/main" id="{3B16C64D-BBC7-413B-A6B4-5EBD81BED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371600"/>
            <a:ext cx="3429000" cy="650875"/>
          </a:xfrm>
          <a:prstGeom prst="rect">
            <a:avLst/>
          </a:prstGeom>
          <a:solidFill>
            <a:srgbClr val="FF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cs-CZ" altLang="cs-CZ" sz="3600" b="1" i="1">
                <a:latin typeface="Bookman Old Style" panose="02050604050505020204" pitchFamily="18" charset="0"/>
              </a:rPr>
              <a:t>Úvod</a:t>
            </a:r>
            <a:endParaRPr lang="cs-CZ" altLang="cs-CZ">
              <a:latin typeface="Bookman Old Style" panose="02050604050505020204" pitchFamily="18" charset="0"/>
            </a:endParaRPr>
          </a:p>
        </p:txBody>
      </p:sp>
      <p:sp>
        <p:nvSpPr>
          <p:cNvPr id="65550" name="Text Box 14">
            <a:extLst>
              <a:ext uri="{FF2B5EF4-FFF2-40B4-BE49-F238E27FC236}">
                <a16:creationId xmlns:a16="http://schemas.microsoft.com/office/drawing/2014/main" id="{9C5B3FB7-955B-4967-930D-FB1E6375D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371600"/>
            <a:ext cx="3429000" cy="2298700"/>
          </a:xfrm>
          <a:prstGeom prst="rect">
            <a:avLst/>
          </a:prstGeom>
          <a:solidFill>
            <a:srgbClr val="FF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cs-CZ" altLang="cs-CZ" sz="3600" b="1" i="1">
                <a:latin typeface="Bookman Old Style" panose="02050604050505020204" pitchFamily="18" charset="0"/>
              </a:rPr>
              <a:t>Seznam zkratek, symbolů a vzorců</a:t>
            </a:r>
            <a:endParaRPr lang="cs-CZ" altLang="cs-CZ">
              <a:latin typeface="Bookman Old Style" panose="02050604050505020204" pitchFamily="18" charset="0"/>
            </a:endParaRPr>
          </a:p>
        </p:txBody>
      </p:sp>
      <p:sp>
        <p:nvSpPr>
          <p:cNvPr id="65551" name="Text Box 15">
            <a:extLst>
              <a:ext uri="{FF2B5EF4-FFF2-40B4-BE49-F238E27FC236}">
                <a16:creationId xmlns:a16="http://schemas.microsoft.com/office/drawing/2014/main" id="{8122CD01-1F42-4903-91DE-7D482CE76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371600"/>
            <a:ext cx="3429000" cy="1200150"/>
          </a:xfrm>
          <a:prstGeom prst="rect">
            <a:avLst/>
          </a:prstGeom>
          <a:solidFill>
            <a:srgbClr val="FF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cs-CZ" altLang="cs-CZ" sz="3600" b="1" i="1">
                <a:latin typeface="Bookman Old Style" panose="02050604050505020204" pitchFamily="18" charset="0"/>
              </a:rPr>
              <a:t>První kapitola</a:t>
            </a:r>
            <a:endParaRPr lang="cs-CZ" altLang="cs-CZ">
              <a:latin typeface="Bookman Old Style" panose="02050604050505020204" pitchFamily="18" charset="0"/>
            </a:endParaRPr>
          </a:p>
        </p:txBody>
      </p:sp>
      <p:grpSp>
        <p:nvGrpSpPr>
          <p:cNvPr id="65552" name="Group 16">
            <a:extLst>
              <a:ext uri="{FF2B5EF4-FFF2-40B4-BE49-F238E27FC236}">
                <a16:creationId xmlns:a16="http://schemas.microsoft.com/office/drawing/2014/main" id="{4D7F5AB1-1F23-49A8-950D-BF4264B023DD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371600"/>
            <a:ext cx="7467600" cy="955675"/>
            <a:chOff x="480" y="864"/>
            <a:chExt cx="4704" cy="602"/>
          </a:xfrm>
        </p:grpSpPr>
        <p:sp>
          <p:nvSpPr>
            <p:cNvPr id="65553" name="Text Box 17">
              <a:extLst>
                <a:ext uri="{FF2B5EF4-FFF2-40B4-BE49-F238E27FC236}">
                  <a16:creationId xmlns:a16="http://schemas.microsoft.com/office/drawing/2014/main" id="{E5B8BD05-14D4-494C-9922-EAC15F74DC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056"/>
              <a:ext cx="2160" cy="41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3600" b="1" i="1">
                  <a:latin typeface="Bookman Old Style" panose="02050604050505020204" pitchFamily="18" charset="0"/>
                </a:rPr>
                <a:t>Text knihy</a:t>
              </a:r>
              <a:endParaRPr lang="cs-CZ" altLang="cs-CZ">
                <a:latin typeface="Bookman Old Style" panose="02050604050505020204" pitchFamily="18" charset="0"/>
              </a:endParaRPr>
            </a:p>
          </p:txBody>
        </p:sp>
        <p:sp>
          <p:nvSpPr>
            <p:cNvPr id="65554" name="Text Box 18">
              <a:extLst>
                <a:ext uri="{FF2B5EF4-FFF2-40B4-BE49-F238E27FC236}">
                  <a16:creationId xmlns:a16="http://schemas.microsoft.com/office/drawing/2014/main" id="{54728581-1EF5-4186-915E-0FF24E258B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864"/>
              <a:ext cx="2160" cy="41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3600" b="1" i="1">
                  <a:latin typeface="Bookman Old Style" panose="02050604050505020204" pitchFamily="18" charset="0"/>
                </a:rPr>
                <a:t>Text knihy</a:t>
              </a:r>
              <a:endParaRPr lang="cs-CZ" altLang="cs-CZ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65555" name="Group 19">
            <a:extLst>
              <a:ext uri="{FF2B5EF4-FFF2-40B4-BE49-F238E27FC236}">
                <a16:creationId xmlns:a16="http://schemas.microsoft.com/office/drawing/2014/main" id="{341A9E5C-FA2E-4425-AC9E-A974F79D400A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371600"/>
            <a:ext cx="7467600" cy="1504950"/>
            <a:chOff x="480" y="864"/>
            <a:chExt cx="4704" cy="948"/>
          </a:xfrm>
        </p:grpSpPr>
        <p:sp>
          <p:nvSpPr>
            <p:cNvPr id="65556" name="Text Box 20">
              <a:extLst>
                <a:ext uri="{FF2B5EF4-FFF2-40B4-BE49-F238E27FC236}">
                  <a16:creationId xmlns:a16="http://schemas.microsoft.com/office/drawing/2014/main" id="{23851EF1-3F34-4468-B9DC-212CFC6522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056"/>
              <a:ext cx="2160" cy="75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3600" b="1" i="1">
                  <a:latin typeface="Bookman Old Style" panose="02050604050505020204" pitchFamily="18" charset="0"/>
                </a:rPr>
                <a:t>Seznam literatury</a:t>
              </a:r>
              <a:endParaRPr lang="cs-CZ" altLang="cs-CZ">
                <a:latin typeface="Bookman Old Style" panose="02050604050505020204" pitchFamily="18" charset="0"/>
              </a:endParaRPr>
            </a:p>
          </p:txBody>
        </p:sp>
        <p:sp>
          <p:nvSpPr>
            <p:cNvPr id="65557" name="Text Box 21">
              <a:extLst>
                <a:ext uri="{FF2B5EF4-FFF2-40B4-BE49-F238E27FC236}">
                  <a16:creationId xmlns:a16="http://schemas.microsoft.com/office/drawing/2014/main" id="{C16C0737-7A0E-41DE-A78D-2D55BED98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864"/>
              <a:ext cx="2160" cy="41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3600" b="1" i="1">
                  <a:latin typeface="Bookman Old Style" panose="02050604050505020204" pitchFamily="18" charset="0"/>
                </a:rPr>
                <a:t>Doslov</a:t>
              </a:r>
              <a:endParaRPr lang="cs-CZ" altLang="cs-CZ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65558" name="Group 22">
            <a:extLst>
              <a:ext uri="{FF2B5EF4-FFF2-40B4-BE49-F238E27FC236}">
                <a16:creationId xmlns:a16="http://schemas.microsoft.com/office/drawing/2014/main" id="{3D6353D1-7982-4EBB-B888-19C54BE6CC3A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371600"/>
            <a:ext cx="7467600" cy="1504950"/>
            <a:chOff x="480" y="864"/>
            <a:chExt cx="4704" cy="948"/>
          </a:xfrm>
        </p:grpSpPr>
        <p:sp>
          <p:nvSpPr>
            <p:cNvPr id="65559" name="Text Box 23">
              <a:extLst>
                <a:ext uri="{FF2B5EF4-FFF2-40B4-BE49-F238E27FC236}">
                  <a16:creationId xmlns:a16="http://schemas.microsoft.com/office/drawing/2014/main" id="{DED9BE98-5D72-409D-9105-03C9F58239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056"/>
              <a:ext cx="2160" cy="75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3600" b="1" i="1">
                  <a:latin typeface="Bookman Old Style" panose="02050604050505020204" pitchFamily="18" charset="0"/>
                </a:rPr>
                <a:t>Seznam vyobrazení</a:t>
              </a:r>
              <a:endParaRPr lang="cs-CZ" altLang="cs-CZ">
                <a:latin typeface="Bookman Old Style" panose="02050604050505020204" pitchFamily="18" charset="0"/>
              </a:endParaRPr>
            </a:p>
          </p:txBody>
        </p:sp>
        <p:sp>
          <p:nvSpPr>
            <p:cNvPr id="65560" name="Text Box 24">
              <a:extLst>
                <a:ext uri="{FF2B5EF4-FFF2-40B4-BE49-F238E27FC236}">
                  <a16:creationId xmlns:a16="http://schemas.microsoft.com/office/drawing/2014/main" id="{6BBF703F-02A6-42D2-B961-8698450E5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864"/>
              <a:ext cx="2160" cy="41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3600" b="1" i="1">
                  <a:latin typeface="Bookman Old Style" panose="02050604050505020204" pitchFamily="18" charset="0"/>
                </a:rPr>
                <a:t>Rejstřík</a:t>
              </a:r>
              <a:endParaRPr lang="cs-CZ" altLang="cs-CZ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65561" name="Group 25">
            <a:extLst>
              <a:ext uri="{FF2B5EF4-FFF2-40B4-BE49-F238E27FC236}">
                <a16:creationId xmlns:a16="http://schemas.microsoft.com/office/drawing/2014/main" id="{F77609A2-6819-4A7D-8326-461851ED3222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371600"/>
            <a:ext cx="7467600" cy="1474788"/>
            <a:chOff x="480" y="864"/>
            <a:chExt cx="4704" cy="929"/>
          </a:xfrm>
        </p:grpSpPr>
        <p:sp>
          <p:nvSpPr>
            <p:cNvPr id="65562" name="Text Box 26">
              <a:extLst>
                <a:ext uri="{FF2B5EF4-FFF2-40B4-BE49-F238E27FC236}">
                  <a16:creationId xmlns:a16="http://schemas.microsoft.com/office/drawing/2014/main" id="{B81F6527-4163-486A-8F7F-702894CB38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056"/>
              <a:ext cx="2160" cy="41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3600" b="1" i="1">
                  <a:latin typeface="Bookman Old Style" panose="02050604050505020204" pitchFamily="18" charset="0"/>
                </a:rPr>
                <a:t>Přílohy</a:t>
              </a:r>
              <a:endParaRPr lang="cs-CZ" altLang="cs-CZ">
                <a:latin typeface="Bookman Old Style" panose="02050604050505020204" pitchFamily="18" charset="0"/>
              </a:endParaRPr>
            </a:p>
          </p:txBody>
        </p:sp>
        <p:sp>
          <p:nvSpPr>
            <p:cNvPr id="65563" name="Text Box 27">
              <a:extLst>
                <a:ext uri="{FF2B5EF4-FFF2-40B4-BE49-F238E27FC236}">
                  <a16:creationId xmlns:a16="http://schemas.microsoft.com/office/drawing/2014/main" id="{0CA0EF50-6509-4772-A866-6360BB8F7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864"/>
              <a:ext cx="2160" cy="92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cs-CZ" altLang="cs-CZ" sz="3600" b="1" i="1">
                  <a:latin typeface="Bookman Old Style" panose="02050604050505020204" pitchFamily="18" charset="0"/>
                </a:rPr>
                <a:t>Resumé</a:t>
              </a:r>
            </a:p>
            <a:p>
              <a:pPr algn="ctr">
                <a:spcBef>
                  <a:spcPct val="50000"/>
                </a:spcBef>
              </a:pPr>
              <a:r>
                <a:rPr lang="cs-CZ" altLang="cs-CZ" sz="3600" b="1" i="1">
                  <a:latin typeface="Bookman Old Style" panose="02050604050505020204" pitchFamily="18" charset="0"/>
                </a:rPr>
                <a:t>(cizojazyčné)</a:t>
              </a:r>
              <a:endParaRPr lang="cs-CZ" altLang="cs-CZ">
                <a:latin typeface="Bookman Old Style" panose="020506040505050202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655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655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655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655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655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655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2" grpId="0" animBg="1" autoUpdateAnimBg="0"/>
      <p:bldP spid="65543" grpId="0" animBg="1" autoUpdateAnimBg="0"/>
      <p:bldP spid="65547" grpId="0" animBg="1" autoUpdateAnimBg="0"/>
      <p:bldP spid="65548" grpId="0" animBg="1" autoUpdateAnimBg="0"/>
      <p:bldP spid="65549" grpId="0" animBg="1" autoUpdateAnimBg="0"/>
      <p:bldP spid="65550" grpId="0" animBg="1" autoUpdateAnimBg="0"/>
      <p:bldP spid="65551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696286D5-D524-43D3-8229-2CDC69E792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Akcidenční tiskoviny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73499E2D-F59A-49D8-AC78-02958C6335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153400" cy="1625600"/>
          </a:xfrm>
        </p:spPr>
        <p:txBody>
          <a:bodyPr/>
          <a:lstStyle/>
          <a:p>
            <a:pPr marL="381000" indent="-381000">
              <a:buSzTx/>
              <a:buFont typeface="Symbol" panose="05050102010706020507" pitchFamily="18" charset="2"/>
              <a:buChar char="~"/>
            </a:pPr>
            <a:r>
              <a:rPr lang="cs-CZ" altLang="cs-CZ" sz="2000"/>
              <a:t>příležitostné osobní nebo firemní tiskoviny</a:t>
            </a:r>
          </a:p>
          <a:p>
            <a:pPr marL="381000" indent="-381000">
              <a:buFont typeface="Symbol" panose="05050102010706020507" pitchFamily="18" charset="2"/>
              <a:buNone/>
            </a:pPr>
            <a:r>
              <a:rPr lang="cs-CZ" altLang="cs-CZ" sz="2000"/>
              <a:t>	vizitky, dopisní papír a obálky, svatební, promoční oznámení,</a:t>
            </a:r>
          </a:p>
          <a:p>
            <a:pPr marL="381000" indent="-381000">
              <a:buFont typeface="Symbol" panose="05050102010706020507" pitchFamily="18" charset="2"/>
              <a:buNone/>
            </a:pPr>
            <a:r>
              <a:rPr lang="cs-CZ" altLang="cs-CZ" sz="2000"/>
              <a:t>	diplomy, pozvánky, novoročenky, programy, katalogy, propagační materiály</a:t>
            </a:r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47EFC7A6-2B15-4219-ADEF-324DC1F9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733800"/>
            <a:ext cx="8458200" cy="206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10000"/>
              </a:spcBef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60488" indent="-19050">
              <a:spcBef>
                <a:spcPct val="10000"/>
              </a:spcBef>
              <a:buChar char="–"/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79588" indent="-228600">
              <a:spcBef>
                <a:spcPct val="10000"/>
              </a:spcBef>
              <a:buChar char="–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98688" indent="-228600">
              <a:spcBef>
                <a:spcPct val="10000"/>
              </a:spcBef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55888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13088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70288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27488" indent="-22860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cs-CZ" altLang="cs-CZ"/>
              <a:t>formáty</a:t>
            </a:r>
            <a:endParaRPr lang="cs-CZ" altLang="cs-CZ">
              <a:sym typeface="Symbol" panose="05050102010706020507" pitchFamily="18" charset="2"/>
            </a:endParaRPr>
          </a:p>
          <a:p>
            <a:r>
              <a:rPr lang="cs-CZ" altLang="cs-CZ">
                <a:sym typeface="Symbol" panose="05050102010706020507" pitchFamily="18" charset="2"/>
              </a:rPr>
              <a:t>fonty</a:t>
            </a:r>
            <a:endParaRPr lang="cs-CZ" altLang="cs-CZ"/>
          </a:p>
          <a:p>
            <a:r>
              <a:rPr lang="cs-CZ" altLang="cs-CZ"/>
              <a:t>zásady: informační schopnost</a:t>
            </a:r>
          </a:p>
          <a:p>
            <a:pPr lvl="2">
              <a:buFontTx/>
              <a:buNone/>
            </a:pPr>
            <a:r>
              <a:rPr lang="cs-CZ" altLang="cs-CZ" sz="2400" i="0"/>
              <a:t>čitelnost</a:t>
            </a:r>
          </a:p>
          <a:p>
            <a:pPr lvl="2">
              <a:buFontTx/>
              <a:buNone/>
            </a:pPr>
            <a:r>
              <a:rPr lang="cs-CZ" altLang="cs-CZ" sz="2400" i="0"/>
              <a:t>estetická úroveň</a:t>
            </a:r>
            <a:endParaRPr lang="cs-CZ" alt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6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6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65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65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65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65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6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6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6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6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6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6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6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6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6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6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6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6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4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34164712-79B8-4C99-B2F6-40D20789E6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41325"/>
            <a:ext cx="8534400" cy="641350"/>
          </a:xfrm>
        </p:spPr>
        <p:txBody>
          <a:bodyPr/>
          <a:lstStyle/>
          <a:p>
            <a:r>
              <a:rPr lang="cs-CZ" altLang="cs-CZ"/>
              <a:t>Fonty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9D69634C-63C3-45BD-8B69-778F0EAB35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173163"/>
            <a:ext cx="8839200" cy="54800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cs-CZ" altLang="cs-CZ"/>
              <a:t>font </a:t>
            </a:r>
            <a:r>
              <a:rPr lang="cs-CZ" altLang="cs-CZ">
                <a:sym typeface="Symbol" panose="05050102010706020507" pitchFamily="18" charset="2"/>
              </a:rPr>
              <a:t> </a:t>
            </a:r>
            <a:r>
              <a:rPr lang="cs-CZ" altLang="cs-CZ"/>
              <a:t>soubor, který obsahuje přesný popis tvaru písmen</a:t>
            </a:r>
          </a:p>
          <a:p>
            <a:pPr>
              <a:lnSpc>
                <a:spcPct val="90000"/>
              </a:lnSpc>
            </a:pPr>
            <a:r>
              <a:rPr lang="cs-CZ" altLang="cs-CZ"/>
              <a:t>instalují se s programovým vybavením nebo kupují zvlášť</a:t>
            </a:r>
          </a:p>
          <a:p>
            <a:pPr>
              <a:lnSpc>
                <a:spcPct val="90000"/>
              </a:lnSpc>
            </a:pPr>
            <a:r>
              <a:rPr lang="cs-CZ" altLang="cs-CZ"/>
              <a:t>ne všechny fonty mají česká písmena</a:t>
            </a:r>
          </a:p>
          <a:p>
            <a:pPr>
              <a:lnSpc>
                <a:spcPct val="90000"/>
              </a:lnSpc>
            </a:pPr>
            <a:r>
              <a:rPr lang="cs-CZ" altLang="cs-CZ"/>
              <a:t>existují fonty se speciálními soubory znaků</a:t>
            </a:r>
          </a:p>
          <a:p>
            <a:pPr>
              <a:lnSpc>
                <a:spcPct val="90000"/>
              </a:lnSpc>
            </a:pPr>
            <a:r>
              <a:rPr lang="cs-CZ" altLang="cs-CZ" b="0">
                <a:solidFill>
                  <a:schemeClr val="accent2"/>
                </a:solidFill>
              </a:rPr>
              <a:t>bitmapové fonty</a:t>
            </a:r>
            <a:endParaRPr lang="cs-CZ" altLang="cs-CZ"/>
          </a:p>
          <a:p>
            <a:pPr lvl="1">
              <a:lnSpc>
                <a:spcPct val="90000"/>
              </a:lnSpc>
            </a:pPr>
            <a:r>
              <a:rPr lang="cs-CZ" altLang="cs-CZ"/>
              <a:t>tvar písmen určen body v matici</a:t>
            </a:r>
          </a:p>
          <a:p>
            <a:pPr lvl="1">
              <a:lnSpc>
                <a:spcPct val="90000"/>
              </a:lnSpc>
            </a:pPr>
            <a:r>
              <a:rPr lang="cs-CZ" altLang="cs-CZ"/>
              <a:t>pro každou velikost , řez a rozlišení samostatný popis</a:t>
            </a:r>
          </a:p>
          <a:p>
            <a:pPr lvl="1">
              <a:lnSpc>
                <a:spcPct val="90000"/>
              </a:lnSpc>
            </a:pPr>
            <a:r>
              <a:rPr lang="cs-CZ" altLang="cs-CZ"/>
              <a:t>dnes jen jako systémové písmo pro obrazovku (menu)</a:t>
            </a:r>
          </a:p>
          <a:p>
            <a:pPr>
              <a:lnSpc>
                <a:spcPct val="90000"/>
              </a:lnSpc>
            </a:pPr>
            <a:r>
              <a:rPr lang="cs-CZ" altLang="cs-CZ" b="0">
                <a:solidFill>
                  <a:schemeClr val="accent2"/>
                </a:solidFill>
              </a:rPr>
              <a:t>vektorové fonty</a:t>
            </a:r>
            <a:endParaRPr lang="cs-CZ" altLang="cs-CZ">
              <a:solidFill>
                <a:schemeClr val="accent2"/>
              </a:solidFill>
            </a:endParaRPr>
          </a:p>
          <a:p>
            <a:pPr lvl="1">
              <a:lnSpc>
                <a:spcPct val="90000"/>
              </a:lnSpc>
            </a:pPr>
            <a:r>
              <a:rPr lang="cs-CZ" altLang="cs-CZ"/>
              <a:t>tvar písmen popsán matematickým popisem křivek</a:t>
            </a:r>
          </a:p>
          <a:p>
            <a:pPr lvl="1">
              <a:lnSpc>
                <a:spcPct val="90000"/>
              </a:lnSpc>
            </a:pPr>
            <a:r>
              <a:rPr lang="cs-CZ" altLang="cs-CZ"/>
              <a:t>lze měnit velikost i jiné transformace</a:t>
            </a:r>
          </a:p>
          <a:p>
            <a:pPr lvl="1">
              <a:lnSpc>
                <a:spcPct val="90000"/>
              </a:lnSpc>
            </a:pPr>
            <a:r>
              <a:rPr lang="cs-CZ" altLang="cs-CZ"/>
              <a:t>další údaje v souboru: hinting (nápověda pro rastrování), kerningové dvojice</a:t>
            </a:r>
          </a:p>
          <a:p>
            <a:pPr lvl="1">
              <a:lnSpc>
                <a:spcPct val="90000"/>
              </a:lnSpc>
            </a:pPr>
            <a:r>
              <a:rPr lang="cs-CZ" altLang="cs-CZ"/>
              <a:t>nejrozšířenější:</a:t>
            </a:r>
          </a:p>
          <a:p>
            <a:pPr lvl="2">
              <a:lnSpc>
                <a:spcPct val="90000"/>
              </a:lnSpc>
            </a:pPr>
            <a:r>
              <a:rPr lang="cs-CZ" altLang="cs-CZ" b="0"/>
              <a:t>True Type fonty</a:t>
            </a:r>
            <a:r>
              <a:rPr lang="cs-CZ" altLang="cs-CZ"/>
              <a:t> (Microsoft+Apple, součást OS)</a:t>
            </a:r>
          </a:p>
          <a:p>
            <a:pPr lvl="2">
              <a:lnSpc>
                <a:spcPct val="90000"/>
              </a:lnSpc>
            </a:pPr>
            <a:r>
              <a:rPr lang="cs-CZ" altLang="cs-CZ" b="0"/>
              <a:t>Adobe Postscript Type 1</a:t>
            </a:r>
            <a:r>
              <a:rPr lang="cs-CZ" altLang="cs-CZ"/>
              <a:t> (Adobe System, kvalitní)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5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5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5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5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757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57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57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57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57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57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57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57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757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57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57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57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757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57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57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757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 bldLvl="2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95B2BA76-E40D-46C2-B714-C2DE037E4A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501650"/>
            <a:ext cx="8534400" cy="641350"/>
          </a:xfrm>
        </p:spPr>
        <p:txBody>
          <a:bodyPr/>
          <a:lstStyle/>
          <a:p>
            <a:r>
              <a:rPr lang="cs-CZ" altLang="cs-CZ"/>
              <a:t>Tisk dokumentu</a:t>
            </a:r>
            <a:endParaRPr lang="cs-CZ" altLang="cs-CZ" sz="2400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8577530F-5079-417E-829F-D83C4D3A14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458200" cy="4371975"/>
          </a:xfrm>
        </p:spPr>
        <p:txBody>
          <a:bodyPr/>
          <a:lstStyle/>
          <a:p>
            <a:r>
              <a:rPr lang="cs-CZ" altLang="cs-CZ"/>
              <a:t>formátování pro nastavenou tiskárnu</a:t>
            </a:r>
          </a:p>
          <a:p>
            <a:r>
              <a:rPr lang="cs-CZ" altLang="cs-CZ"/>
              <a:t>jazyk pro popis stránky</a:t>
            </a:r>
            <a:br>
              <a:rPr lang="cs-CZ" altLang="cs-CZ"/>
            </a:br>
            <a:r>
              <a:rPr lang="cs-CZ" altLang="cs-CZ">
                <a:sym typeface="Symbol" panose="05050102010706020507" pitchFamily="18" charset="2"/>
              </a:rPr>
              <a:t></a:t>
            </a:r>
            <a:r>
              <a:rPr lang="cs-CZ" altLang="cs-CZ" sz="2000"/>
              <a:t> soubor příkazů pro zobrazení dat tiskárnou</a:t>
            </a:r>
            <a:endParaRPr lang="cs-CZ" altLang="cs-CZ"/>
          </a:p>
          <a:p>
            <a:r>
              <a:rPr lang="cs-CZ" altLang="cs-CZ" b="0"/>
              <a:t>HP PCL (Hewlett Packard Printer Control Language)</a:t>
            </a:r>
            <a:endParaRPr lang="cs-CZ" altLang="cs-CZ" b="0">
              <a:solidFill>
                <a:srgbClr val="A50021"/>
              </a:solidFill>
            </a:endParaRPr>
          </a:p>
          <a:p>
            <a:pPr lvl="1"/>
            <a:r>
              <a:rPr lang="cs-CZ" altLang="cs-CZ"/>
              <a:t>standard laserových tiskáren</a:t>
            </a:r>
          </a:p>
          <a:p>
            <a:pPr lvl="1"/>
            <a:r>
              <a:rPr lang="cs-CZ" altLang="cs-CZ"/>
              <a:t>při běžném zobrazení nečitelný</a:t>
            </a:r>
          </a:p>
          <a:p>
            <a:pPr lvl="1"/>
            <a:r>
              <a:rPr lang="cs-CZ" altLang="cs-CZ"/>
              <a:t>hardwarově závislý (pro určitý typ tiskárny)</a:t>
            </a:r>
          </a:p>
          <a:p>
            <a:pPr lvl="1"/>
            <a:r>
              <a:rPr lang="cs-CZ" altLang="cs-CZ"/>
              <a:t>poslední verze zahrnuje HPGL</a:t>
            </a:r>
            <a:r>
              <a:rPr lang="en-US" altLang="cs-CZ"/>
              <a:t>/2</a:t>
            </a:r>
            <a:endParaRPr lang="cs-CZ" altLang="cs-CZ"/>
          </a:p>
          <a:p>
            <a:r>
              <a:rPr lang="cs-CZ" altLang="cs-CZ" b="0"/>
              <a:t>PostScript</a:t>
            </a:r>
          </a:p>
          <a:p>
            <a:pPr lvl="1"/>
            <a:r>
              <a:rPr lang="cs-CZ" altLang="cs-CZ"/>
              <a:t>textový soubor</a:t>
            </a:r>
          </a:p>
          <a:p>
            <a:pPr lvl="1"/>
            <a:r>
              <a:rPr lang="cs-CZ" altLang="cs-CZ"/>
              <a:t>nezávislé rozhraní mezi počítačem a tiskárnou</a:t>
            </a:r>
          </a:p>
          <a:p>
            <a:pPr lvl="1"/>
            <a:r>
              <a:rPr lang="cs-CZ" altLang="cs-CZ"/>
              <a:t>tiskárny, které zvládnou postscript jsou dražší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6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6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6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6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6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6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6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6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6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6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6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6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6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6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6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6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68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68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68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68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1C065270-745C-4969-B5C3-DC70535FFA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46075"/>
            <a:ext cx="8534400" cy="641350"/>
          </a:xfrm>
        </p:spPr>
        <p:txBody>
          <a:bodyPr/>
          <a:lstStyle/>
          <a:p>
            <a:r>
              <a:rPr lang="cs-CZ" altLang="cs-CZ"/>
              <a:t>Přenositelnost formátovaných dokumentů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4412D04D-1F94-4A93-8298-017CA52E65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9220200" cy="1676400"/>
          </a:xfrm>
        </p:spPr>
        <p:txBody>
          <a:bodyPr/>
          <a:lstStyle/>
          <a:p>
            <a:pPr defTabSz="2190750">
              <a:spcBef>
                <a:spcPct val="0"/>
              </a:spcBef>
              <a:tabLst>
                <a:tab pos="2563813" algn="l"/>
                <a:tab pos="4387850" algn="l"/>
                <a:tab pos="6280150" algn="l"/>
              </a:tabLst>
            </a:pPr>
            <a:r>
              <a:rPr lang="cs-CZ" altLang="cs-CZ">
                <a:solidFill>
                  <a:schemeClr val="accent2"/>
                </a:solidFill>
              </a:rPr>
              <a:t>Kódování češtiny</a:t>
            </a:r>
            <a:br>
              <a:rPr lang="cs-CZ" altLang="cs-CZ">
                <a:solidFill>
                  <a:srgbClr val="A50021"/>
                </a:solidFill>
              </a:rPr>
            </a:br>
            <a:r>
              <a:rPr lang="cs-CZ" altLang="cs-CZ" sz="2000"/>
              <a:t>různé kódování </a:t>
            </a:r>
            <a:r>
              <a:rPr lang="cs-CZ" altLang="cs-CZ" sz="2000">
                <a:sym typeface="Symbol" panose="05050102010706020507" pitchFamily="18" charset="2"/>
              </a:rPr>
              <a:t> různé pozice českých znaků v kódové tabulce</a:t>
            </a:r>
            <a:br>
              <a:rPr lang="cs-CZ" altLang="cs-CZ" sz="2000">
                <a:sym typeface="Symbol" panose="05050102010706020507" pitchFamily="18" charset="2"/>
              </a:rPr>
            </a:br>
            <a:r>
              <a:rPr lang="cs-CZ" altLang="cs-CZ" sz="2000" u="sng">
                <a:sym typeface="Symbol" panose="05050102010706020507" pitchFamily="18" charset="2"/>
              </a:rPr>
              <a:t>DOS	MS Windows	WindowsNT	Unix</a:t>
            </a:r>
          </a:p>
          <a:p>
            <a:pPr defTabSz="2190750">
              <a:spcBef>
                <a:spcPct val="0"/>
              </a:spcBef>
              <a:buFont typeface="Symbol" panose="05050102010706020507" pitchFamily="18" charset="2"/>
              <a:buNone/>
              <a:tabLst>
                <a:tab pos="2563813" algn="l"/>
                <a:tab pos="4387850" algn="l"/>
                <a:tab pos="6280150" algn="l"/>
              </a:tabLst>
            </a:pPr>
            <a:r>
              <a:rPr lang="cs-CZ" altLang="cs-CZ" sz="2000">
                <a:sym typeface="Symbol" panose="05050102010706020507" pitchFamily="18" charset="2"/>
              </a:rPr>
              <a:t>	CP 852 </a:t>
            </a:r>
            <a:r>
              <a:rPr lang="cs-CZ" altLang="cs-CZ" sz="2000" i="1">
                <a:sym typeface="Symbol" panose="05050102010706020507" pitchFamily="18" charset="2"/>
              </a:rPr>
              <a:t>(PC Latin2)</a:t>
            </a:r>
            <a:r>
              <a:rPr lang="cs-CZ" altLang="cs-CZ" sz="2000">
                <a:sym typeface="Symbol" panose="05050102010706020507" pitchFamily="18" charset="2"/>
              </a:rPr>
              <a:t> 	CP 1250	Unicode	CP 8859 </a:t>
            </a:r>
            <a:r>
              <a:rPr lang="cs-CZ" altLang="cs-CZ" sz="2000" i="1">
                <a:sym typeface="Symbol" panose="05050102010706020507" pitchFamily="18" charset="2"/>
              </a:rPr>
              <a:t>(ISO Latin2)</a:t>
            </a:r>
            <a:endParaRPr lang="cs-CZ" altLang="cs-CZ" sz="2000">
              <a:sym typeface="Symbol" panose="05050102010706020507" pitchFamily="18" charset="2"/>
            </a:endParaRPr>
          </a:p>
          <a:p>
            <a:pPr defTabSz="2190750">
              <a:spcBef>
                <a:spcPct val="0"/>
              </a:spcBef>
              <a:buFont typeface="Symbol" panose="05050102010706020507" pitchFamily="18" charset="2"/>
              <a:buNone/>
              <a:tabLst>
                <a:tab pos="2563813" algn="l"/>
                <a:tab pos="4387850" algn="l"/>
                <a:tab pos="6280150" algn="l"/>
              </a:tabLst>
            </a:pPr>
            <a:r>
              <a:rPr lang="cs-CZ" altLang="cs-CZ" sz="2000">
                <a:sym typeface="Symbol" panose="05050102010706020507" pitchFamily="18" charset="2"/>
              </a:rPr>
              <a:t>	kód Kamenických			</a:t>
            </a:r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83A668AC-05F7-4353-B78D-9DC3F2AFE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95600"/>
            <a:ext cx="84582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defTabSz="2190750">
              <a:spcBef>
                <a:spcPct val="10000"/>
              </a:spcBef>
              <a:buClr>
                <a:schemeClr val="tx1"/>
              </a:buClr>
              <a:buSzPct val="80000"/>
              <a:buFont typeface="Symbol" panose="05050102010706020507" pitchFamily="18" charset="2"/>
              <a:buChar char="·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2190750">
              <a:spcBef>
                <a:spcPct val="10000"/>
              </a:spcBef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2190750">
              <a:spcBef>
                <a:spcPct val="10000"/>
              </a:spcBef>
              <a:buChar char="–"/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2190750">
              <a:spcBef>
                <a:spcPct val="10000"/>
              </a:spcBef>
              <a:buChar char="–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2190750">
              <a:spcBef>
                <a:spcPct val="10000"/>
              </a:spcBef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219075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219075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219075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2190750" eaLnBrk="0" fontAlgn="base" hangingPunct="0">
              <a:spcBef>
                <a:spcPct val="1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cs-CZ" altLang="cs-CZ">
                <a:solidFill>
                  <a:schemeClr val="accent2"/>
                </a:solidFill>
                <a:sym typeface="Symbol" panose="05050102010706020507" pitchFamily="18" charset="2"/>
              </a:rPr>
              <a:t>Fonty</a:t>
            </a:r>
          </a:p>
          <a:p>
            <a:pPr lvl="1">
              <a:spcBef>
                <a:spcPct val="0"/>
              </a:spcBef>
            </a:pPr>
            <a:r>
              <a:rPr lang="cs-CZ" altLang="cs-CZ">
                <a:sym typeface="Symbol" panose="05050102010706020507" pitchFamily="18" charset="2"/>
              </a:rPr>
              <a:t>použité fonty nemusí být po přenesení k dispozici</a:t>
            </a:r>
          </a:p>
          <a:p>
            <a:pPr lvl="1">
              <a:spcBef>
                <a:spcPct val="0"/>
              </a:spcBef>
            </a:pPr>
            <a:r>
              <a:rPr lang="cs-CZ" altLang="cs-CZ">
                <a:sym typeface="Symbol" panose="05050102010706020507" pitchFamily="18" charset="2"/>
              </a:rPr>
              <a:t>software nabídne záměnu. </a:t>
            </a:r>
          </a:p>
          <a:p>
            <a:pPr lvl="1">
              <a:spcBef>
                <a:spcPct val="0"/>
              </a:spcBef>
            </a:pPr>
            <a:r>
              <a:rPr lang="cs-CZ" altLang="cs-CZ">
                <a:sym typeface="Symbol" panose="05050102010706020507" pitchFamily="18" charset="2"/>
              </a:rPr>
              <a:t>dokument lze ukládat s fonty.</a:t>
            </a:r>
          </a:p>
          <a:p>
            <a:r>
              <a:rPr lang="cs-CZ" altLang="cs-CZ">
                <a:solidFill>
                  <a:schemeClr val="accent2"/>
                </a:solidFill>
                <a:sym typeface="Symbol" panose="05050102010706020507" pitchFamily="18" charset="2"/>
              </a:rPr>
              <a:t>Přenositelnost mezi programy</a:t>
            </a:r>
            <a:br>
              <a:rPr lang="cs-CZ" altLang="cs-CZ">
                <a:sym typeface="Symbol" panose="05050102010706020507" pitchFamily="18" charset="2"/>
              </a:rPr>
            </a:br>
            <a:r>
              <a:rPr lang="cs-CZ" altLang="cs-CZ" sz="2000">
                <a:sym typeface="Symbol" panose="05050102010706020507" pitchFamily="18" charset="2"/>
              </a:rPr>
              <a:t>závisí na schopnosti aplikace importovat a exportovat jiné formáty</a:t>
            </a:r>
          </a:p>
          <a:p>
            <a:r>
              <a:rPr lang="cs-CZ" altLang="cs-CZ">
                <a:solidFill>
                  <a:schemeClr val="accent2"/>
                </a:solidFill>
                <a:sym typeface="Symbol" panose="05050102010706020507" pitchFamily="18" charset="2"/>
              </a:rPr>
              <a:t>Přenositelnost mezi verzemi téhož programu</a:t>
            </a:r>
            <a:br>
              <a:rPr lang="cs-CZ" altLang="cs-CZ">
                <a:sym typeface="Symbol" panose="05050102010706020507" pitchFamily="18" charset="2"/>
              </a:rPr>
            </a:br>
            <a:r>
              <a:rPr lang="cs-CZ" altLang="cs-CZ" sz="2000">
                <a:sym typeface="Symbol" panose="05050102010706020507" pitchFamily="18" charset="2"/>
              </a:rPr>
              <a:t>Dokument ze starší verze lze přenést do novější.</a:t>
            </a:r>
          </a:p>
          <a:p>
            <a:r>
              <a:rPr lang="cs-CZ" altLang="cs-CZ">
                <a:solidFill>
                  <a:schemeClr val="accent2"/>
                </a:solidFill>
                <a:sym typeface="Symbol" panose="05050102010706020507" pitchFamily="18" charset="2"/>
              </a:rPr>
              <a:t>Formáty určené pro přenos formátovaných dokumentů</a:t>
            </a:r>
            <a:br>
              <a:rPr lang="cs-CZ" altLang="cs-CZ">
                <a:solidFill>
                  <a:srgbClr val="A50021"/>
                </a:solidFill>
                <a:sym typeface="Symbol" panose="05050102010706020507" pitchFamily="18" charset="2"/>
              </a:rPr>
            </a:br>
            <a:r>
              <a:rPr lang="cs-CZ" altLang="cs-CZ" sz="2000">
                <a:sym typeface="Symbol" panose="05050102010706020507" pitchFamily="18" charset="2"/>
              </a:rPr>
              <a:t>RTF (Ritch Text Format) – Microsoft</a:t>
            </a:r>
            <a:br>
              <a:rPr lang="cs-CZ" altLang="cs-CZ" sz="2000">
                <a:sym typeface="Symbol" panose="05050102010706020507" pitchFamily="18" charset="2"/>
              </a:rPr>
            </a:br>
            <a:r>
              <a:rPr lang="cs-CZ" altLang="cs-CZ" sz="2000">
                <a:sym typeface="Symbol" panose="05050102010706020507" pitchFamily="18" charset="2"/>
              </a:rPr>
              <a:t>PDF (Portable Document Format) – Adobe Systems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78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78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78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78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7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7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7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7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78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78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78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78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78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78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78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78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78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78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78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78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autoUpdateAnimBg="0"/>
      <p:bldP spid="77828" grpId="0" build="p" bldLvl="2" autoUpdateAnimBg="0"/>
    </p:bld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FF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cs-CZ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cs-CZ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76BCBCC236BB4C94696D763E194CD8" ma:contentTypeVersion="2" ma:contentTypeDescription="Vytvoří nový dokument" ma:contentTypeScope="" ma:versionID="5180eba63b2b5df1a03d6c682f87556b">
  <xsd:schema xmlns:xsd="http://www.w3.org/2001/XMLSchema" xmlns:xs="http://www.w3.org/2001/XMLSchema" xmlns:p="http://schemas.microsoft.com/office/2006/metadata/properties" xmlns:ns2="8f27706d-c4d1-4dfe-afe8-ba09dfe5c6ea" targetNamespace="http://schemas.microsoft.com/office/2006/metadata/properties" ma:root="true" ma:fieldsID="da7fb64407ec70569ceb986c0fa07668" ns2:_="">
    <xsd:import namespace="8f27706d-c4d1-4dfe-afe8-ba09dfe5c6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27706d-c4d1-4dfe-afe8-ba09dfe5c6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1A3D7A8-AC9D-4D99-92C0-740DB8C06EDA}"/>
</file>

<file path=customXml/itemProps2.xml><?xml version="1.0" encoding="utf-8"?>
<ds:datastoreItem xmlns:ds="http://schemas.openxmlformats.org/officeDocument/2006/customXml" ds:itemID="{CB96383A-2991-4FCC-9C83-2FB4F99F695D}"/>
</file>

<file path=customXml/itemProps3.xml><?xml version="1.0" encoding="utf-8"?>
<ds:datastoreItem xmlns:ds="http://schemas.openxmlformats.org/officeDocument/2006/customXml" ds:itemID="{E38F1983-6EF8-416E-9170-370C0348970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2132</TotalTime>
  <Words>2385</Words>
  <Application>Microsoft Office PowerPoint</Application>
  <PresentationFormat>Předvádění na obrazovce (4:3)</PresentationFormat>
  <Paragraphs>421</Paragraphs>
  <Slides>34</Slides>
  <Notes>1</Notes>
  <HiddenSlides>0</HiddenSlides>
  <MMClips>0</MMClips>
  <ScaleCrop>false</ScaleCrop>
  <HeadingPairs>
    <vt:vector size="10" baseType="variant">
      <vt:variant>
        <vt:lpstr>Použitá písma</vt:lpstr>
      </vt:variant>
      <vt:variant>
        <vt:i4>13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1</vt:i4>
      </vt:variant>
      <vt:variant>
        <vt:lpstr>Nadpisy snímků</vt:lpstr>
      </vt:variant>
      <vt:variant>
        <vt:i4>34</vt:i4>
      </vt:variant>
      <vt:variant>
        <vt:lpstr>Vlastní prezentace</vt:lpstr>
      </vt:variant>
      <vt:variant>
        <vt:i4>2</vt:i4>
      </vt:variant>
    </vt:vector>
  </HeadingPairs>
  <TitlesOfParts>
    <vt:vector size="51" baseType="lpstr">
      <vt:lpstr>Comic Sans MS</vt:lpstr>
      <vt:lpstr>Courier New CE</vt:lpstr>
      <vt:lpstr>TechnicLite</vt:lpstr>
      <vt:lpstr>Zurich Ex BT</vt:lpstr>
      <vt:lpstr>TechnicBold</vt:lpstr>
      <vt:lpstr>AmerType Md BT</vt:lpstr>
      <vt:lpstr>Times New Roman CE</vt:lpstr>
      <vt:lpstr>Bookman Old Style</vt:lpstr>
      <vt:lpstr>Symbol</vt:lpstr>
      <vt:lpstr>Arial</vt:lpstr>
      <vt:lpstr>Verdana</vt:lpstr>
      <vt:lpstr>Times New Roman</vt:lpstr>
      <vt:lpstr>CommercialScript BT</vt:lpstr>
      <vt:lpstr>Default Design</vt:lpstr>
      <vt:lpstr>Microsoft Clip Gallery</vt:lpstr>
      <vt:lpstr>Prezentace aplikace PowerPoint</vt:lpstr>
      <vt:lpstr>Typografie</vt:lpstr>
      <vt:lpstr>Prezentace aplikace PowerPoint</vt:lpstr>
      <vt:lpstr>Vývoj písma</vt:lpstr>
      <vt:lpstr>Prezentace aplikace PowerPoint</vt:lpstr>
      <vt:lpstr>Historie písma v Evropě </vt:lpstr>
      <vt:lpstr>Vývoj číslic</vt:lpstr>
      <vt:lpstr>Vlastnosti písma – soubor znaků</vt:lpstr>
      <vt:lpstr>Vlastnosti písma – písmová osnova</vt:lpstr>
      <vt:lpstr>Vlastnosti písma – kresba písmového znaku</vt:lpstr>
      <vt:lpstr>Typy písma I.</vt:lpstr>
      <vt:lpstr>Typy písma II.</vt:lpstr>
      <vt:lpstr>Klasifikace písem</vt:lpstr>
      <vt:lpstr>Typografické míry</vt:lpstr>
      <vt:lpstr>Stupeň písma (velikost písma)</vt:lpstr>
      <vt:lpstr>Použití stupňů písma</vt:lpstr>
      <vt:lpstr>Relativní typografické míry</vt:lpstr>
      <vt:lpstr>Sazba – mezery</vt:lpstr>
      <vt:lpstr>Sazba – odstavec</vt:lpstr>
      <vt:lpstr>Sazba – řádkování, zarovnání</vt:lpstr>
      <vt:lpstr>Pravidla  sazby I.</vt:lpstr>
      <vt:lpstr>Pravidla  sazby II.</vt:lpstr>
      <vt:lpstr>Pravidla  sazby III.</vt:lpstr>
      <vt:lpstr>Pravidla  sazby – čísla</vt:lpstr>
      <vt:lpstr>Pravidla  sazby IV. </vt:lpstr>
      <vt:lpstr>Formát tiskovin</vt:lpstr>
      <vt:lpstr>Formáty papíru</vt:lpstr>
      <vt:lpstr>Rozvržení stránky</vt:lpstr>
      <vt:lpstr>Okraje na stránce</vt:lpstr>
      <vt:lpstr>Rozložení stran v knize</vt:lpstr>
      <vt:lpstr>Akcidenční tiskoviny</vt:lpstr>
      <vt:lpstr>Fonty</vt:lpstr>
      <vt:lpstr>Tisk dokumentu</vt:lpstr>
      <vt:lpstr>Přenositelnost formátovaných dokumentů</vt:lpstr>
      <vt:lpstr>první přednáška</vt:lpstr>
      <vt:lpstr>Vlastní prezentace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Bez nadpisu</dc:title>
  <dc:creator/>
  <cp:lastModifiedBy>Ján Šedo</cp:lastModifiedBy>
  <cp:revision>56</cp:revision>
  <cp:lastPrinted>1999-11-18T11:31:19Z</cp:lastPrinted>
  <dcterms:created xsi:type="dcterms:W3CDTF">1601-01-01T00:00:00Z</dcterms:created>
  <dcterms:modified xsi:type="dcterms:W3CDTF">2020-11-30T10:49:25Z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0x0101000E76BCBCC236BB4C94696D763E194CD8</vt:lpwstr>
  </property>
</Properties>
</file>